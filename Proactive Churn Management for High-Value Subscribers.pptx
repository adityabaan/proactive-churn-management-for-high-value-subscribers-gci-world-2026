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Liter"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13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6E4DB-1B8F-48EF-3766-0DC85F9E7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E2A21-A5F7-19A6-DF8B-21FE9F395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57D10-7211-1EA1-E21E-812C1783C4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2D76C-E49E-2C60-F44F-94C88F6EEF1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24203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a:effectLst/>
      </p:bgPr>
    </p:bg>
    <p:spTree>
      <p:nvGrpSpPr>
        <p:cNvPr id="1" name=""/>
        <p:cNvGrpSpPr/>
        <p:nvPr/>
      </p:nvGrpSpPr>
      <p:grpSpPr>
        <a:xfrm>
          <a:off x="0" y="0"/>
          <a:ext cx="0" cy="0"/>
          <a:chOff x="0" y="0"/>
          <a:chExt cx="0" cy="0"/>
        </a:xfrm>
      </p:grpSpPr>
      <p:sp>
        <p:nvSpPr>
          <p:cNvPr id="2" name="Shape 0"/>
          <p:cNvSpPr/>
          <p:nvPr/>
        </p:nvSpPr>
        <p:spPr>
          <a:xfrm>
            <a:off x="474133" y="381000"/>
            <a:ext cx="3541183" cy="381000"/>
          </a:xfrm>
          <a:prstGeom prst="roundRect">
            <a:avLst>
              <a:gd name="adj" fmla="val 0"/>
            </a:avLst>
          </a:prstGeom>
          <a:solidFill>
            <a:srgbClr val="20B2AA">
              <a:alpha val="20000"/>
            </a:srgbClr>
          </a:solidFill>
          <a:ln/>
        </p:spPr>
      </p:sp>
      <p:sp>
        <p:nvSpPr>
          <p:cNvPr id="3" name="Shape 1"/>
          <p:cNvSpPr/>
          <p:nvPr/>
        </p:nvSpPr>
        <p:spPr>
          <a:xfrm>
            <a:off x="474133" y="381000"/>
            <a:ext cx="33867" cy="381000"/>
          </a:xfrm>
          <a:prstGeom prst="roundRect">
            <a:avLst>
              <a:gd name="adj" fmla="val 0"/>
            </a:avLst>
          </a:prstGeom>
          <a:solidFill>
            <a:srgbClr val="20B2AA"/>
          </a:solidFill>
          <a:ln/>
        </p:spPr>
      </p:sp>
      <p:sp>
        <p:nvSpPr>
          <p:cNvPr id="4" name="Text 2"/>
          <p:cNvSpPr/>
          <p:nvPr/>
        </p:nvSpPr>
        <p:spPr>
          <a:xfrm>
            <a:off x="681567" y="457200"/>
            <a:ext cx="3219450" cy="228600"/>
          </a:xfrm>
          <a:prstGeom prst="rect">
            <a:avLst/>
          </a:prstGeom>
          <a:noFill/>
          <a:ln/>
        </p:spPr>
        <p:txBody>
          <a:bodyPr wrap="square" lIns="0" tIns="0" rIns="0" bIns="0" rtlCol="0" anchor="ctr"/>
          <a:lstStyle/>
          <a:p>
            <a:pPr>
              <a:lnSpc>
                <a:spcPct val="130000"/>
              </a:lnSpc>
            </a:pPr>
            <a:r>
              <a:rPr lang="en-US" sz="1200" b="1" kern="0" spc="120" dirty="0">
                <a:solidFill>
                  <a:srgbClr val="20B2AA"/>
                </a:solidFill>
                <a:latin typeface="Liter" pitchFamily="34" charset="0"/>
                <a:ea typeface="Liter" pitchFamily="34" charset="-122"/>
                <a:cs typeface="Liter" pitchFamily="34" charset="-120"/>
              </a:rPr>
              <a:t>Corporate Strategy &amp; Analytics</a:t>
            </a:r>
            <a:endParaRPr lang="en-US" sz="1600" dirty="0"/>
          </a:p>
        </p:txBody>
      </p:sp>
      <p:sp>
        <p:nvSpPr>
          <p:cNvPr id="5" name="Text 3"/>
          <p:cNvSpPr/>
          <p:nvPr/>
        </p:nvSpPr>
        <p:spPr>
          <a:xfrm>
            <a:off x="457200" y="1066800"/>
            <a:ext cx="5905500" cy="1762125"/>
          </a:xfrm>
          <a:prstGeom prst="rect">
            <a:avLst/>
          </a:prstGeom>
          <a:noFill/>
          <a:ln/>
        </p:spPr>
        <p:txBody>
          <a:bodyPr wrap="square" lIns="0" tIns="0" rIns="0" bIns="0" rtlCol="0" anchor="ctr"/>
          <a:lstStyle/>
          <a:p>
            <a:pPr>
              <a:lnSpc>
                <a:spcPct val="90000"/>
              </a:lnSpc>
            </a:pPr>
            <a:r>
              <a:rPr lang="en-US" sz="4200" b="1" dirty="0">
                <a:solidFill>
                  <a:srgbClr val="FFFFFF"/>
                </a:solidFill>
                <a:latin typeface="Liter" pitchFamily="34" charset="0"/>
                <a:ea typeface="Liter" pitchFamily="34" charset="-122"/>
                <a:cs typeface="Liter" pitchFamily="34" charset="-120"/>
              </a:rPr>
              <a:t>Proactive Churn Management for High-Value Subscribers</a:t>
            </a:r>
            <a:endParaRPr lang="en-US" sz="1600" dirty="0"/>
          </a:p>
        </p:txBody>
      </p:sp>
      <p:sp>
        <p:nvSpPr>
          <p:cNvPr id="6" name="Shape 4"/>
          <p:cNvSpPr/>
          <p:nvPr/>
        </p:nvSpPr>
        <p:spPr>
          <a:xfrm>
            <a:off x="457200" y="3055541"/>
            <a:ext cx="914400" cy="57150"/>
          </a:xfrm>
          <a:prstGeom prst="roundRect">
            <a:avLst>
              <a:gd name="adj" fmla="val 0"/>
            </a:avLst>
          </a:prstGeom>
          <a:solidFill>
            <a:srgbClr val="20B2AA"/>
          </a:solidFill>
          <a:ln/>
        </p:spPr>
      </p:sp>
      <p:sp>
        <p:nvSpPr>
          <p:cNvPr id="7" name="Text 5"/>
          <p:cNvSpPr/>
          <p:nvPr/>
        </p:nvSpPr>
        <p:spPr>
          <a:xfrm>
            <a:off x="457200" y="3417491"/>
            <a:ext cx="5743575" cy="685800"/>
          </a:xfrm>
          <a:prstGeom prst="rect">
            <a:avLst/>
          </a:prstGeom>
          <a:noFill/>
          <a:ln/>
        </p:spPr>
        <p:txBody>
          <a:bodyPr wrap="square" lIns="0" tIns="0" rIns="0" bIns="0" rtlCol="0" anchor="ctr"/>
          <a:lstStyle/>
          <a:p>
            <a:pPr>
              <a:lnSpc>
                <a:spcPct val="140000"/>
              </a:lnSpc>
            </a:pPr>
            <a:r>
              <a:rPr lang="en-US" sz="1650" dirty="0">
                <a:solidFill>
                  <a:srgbClr val="FFFFFF">
                    <a:alpha val="90000"/>
                  </a:srgbClr>
                </a:solidFill>
                <a:latin typeface="Liter" pitchFamily="34" charset="0"/>
                <a:ea typeface="Liter" pitchFamily="34" charset="-122"/>
                <a:cs typeface="Liter" pitchFamily="34" charset="-120"/>
              </a:rPr>
              <a:t>A Data-Driven Proof of Concept (PoC) Proposal for Indian Telecom Companies</a:t>
            </a:r>
            <a:endParaRPr lang="en-US" sz="1600" dirty="0"/>
          </a:p>
        </p:txBody>
      </p:sp>
      <p:sp>
        <p:nvSpPr>
          <p:cNvPr id="8" name="Shape 6"/>
          <p:cNvSpPr/>
          <p:nvPr/>
        </p:nvSpPr>
        <p:spPr>
          <a:xfrm>
            <a:off x="457200" y="4948899"/>
            <a:ext cx="5638800" cy="8467"/>
          </a:xfrm>
          <a:prstGeom prst="roundRect">
            <a:avLst>
              <a:gd name="adj" fmla="val 0"/>
            </a:avLst>
          </a:prstGeom>
          <a:solidFill>
            <a:srgbClr val="FFFFFF">
              <a:alpha val="20000"/>
            </a:srgbClr>
          </a:solidFill>
          <a:ln/>
        </p:spPr>
      </p:sp>
      <p:sp>
        <p:nvSpPr>
          <p:cNvPr id="9" name="Text 7"/>
          <p:cNvSpPr/>
          <p:nvPr/>
        </p:nvSpPr>
        <p:spPr>
          <a:xfrm>
            <a:off x="457200" y="5257933"/>
            <a:ext cx="5724525" cy="266700"/>
          </a:xfrm>
          <a:prstGeom prst="rect">
            <a:avLst/>
          </a:prstGeom>
          <a:noFill/>
          <a:ln/>
        </p:spPr>
        <p:txBody>
          <a:bodyPr wrap="square" lIns="0" tIns="0" rIns="0" bIns="0" rtlCol="0" anchor="ctr"/>
          <a:lstStyle/>
          <a:p>
            <a:pPr>
              <a:lnSpc>
                <a:spcPct val="130000"/>
              </a:lnSpc>
            </a:pPr>
            <a:r>
              <a:rPr lang="en-US" sz="1350" dirty="0">
                <a:solidFill>
                  <a:srgbClr val="FFFFFF">
                    <a:alpha val="80000"/>
                  </a:srgbClr>
                </a:solidFill>
                <a:latin typeface="Liter" pitchFamily="34" charset="0"/>
                <a:ea typeface="Liter" pitchFamily="34" charset="-122"/>
                <a:cs typeface="Liter" pitchFamily="34" charset="-120"/>
              </a:rPr>
              <a:t>Presented by</a:t>
            </a:r>
            <a:endParaRPr lang="en-US" sz="1600" dirty="0"/>
          </a:p>
        </p:txBody>
      </p:sp>
      <p:sp>
        <p:nvSpPr>
          <p:cNvPr id="10" name="Text 8"/>
          <p:cNvSpPr/>
          <p:nvPr/>
        </p:nvSpPr>
        <p:spPr>
          <a:xfrm>
            <a:off x="457200" y="5562733"/>
            <a:ext cx="57531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Liter" pitchFamily="34" charset="0"/>
                <a:ea typeface="Liter" pitchFamily="34" charset="-122"/>
                <a:cs typeface="Liter" pitchFamily="34" charset="-120"/>
              </a:rPr>
              <a:t>Adityabaan Tripathy</a:t>
            </a:r>
            <a:endParaRPr lang="en-US" sz="1600" dirty="0"/>
          </a:p>
        </p:txBody>
      </p:sp>
      <p:sp>
        <p:nvSpPr>
          <p:cNvPr id="11" name="Text 9"/>
          <p:cNvSpPr/>
          <p:nvPr/>
        </p:nvSpPr>
        <p:spPr>
          <a:xfrm>
            <a:off x="457200" y="5905500"/>
            <a:ext cx="5715000" cy="228600"/>
          </a:xfrm>
          <a:prstGeom prst="rect">
            <a:avLst/>
          </a:prstGeom>
          <a:noFill/>
          <a:ln/>
        </p:spPr>
        <p:txBody>
          <a:bodyPr wrap="square" lIns="0" tIns="0" rIns="0" bIns="0" rtlCol="0" anchor="ctr"/>
          <a:lstStyle/>
          <a:p>
            <a:pPr>
              <a:lnSpc>
                <a:spcPct val="130000"/>
              </a:lnSpc>
            </a:pPr>
            <a:r>
              <a:rPr lang="en-US" sz="1200" b="1" dirty="0">
                <a:solidFill>
                  <a:srgbClr val="20B2AA"/>
                </a:solidFill>
                <a:latin typeface="Liter" pitchFamily="34" charset="0"/>
                <a:ea typeface="Liter" pitchFamily="34" charset="-122"/>
                <a:cs typeface="Liter" pitchFamily="34" charset="-120"/>
              </a:rPr>
              <a:t>SRM Institute of Science and Technology, India</a:t>
            </a:r>
            <a:endParaRPr lang="en-US" sz="1600" dirty="0"/>
          </a:p>
        </p:txBody>
      </p:sp>
      <p:sp>
        <p:nvSpPr>
          <p:cNvPr id="13" name="Shape 10"/>
          <p:cNvSpPr/>
          <p:nvPr/>
        </p:nvSpPr>
        <p:spPr>
          <a:xfrm>
            <a:off x="6705600" y="685800"/>
            <a:ext cx="5486400" cy="6172200"/>
          </a:xfrm>
          <a:prstGeom prst="roundRect">
            <a:avLst>
              <a:gd name="adj" fmla="val 0"/>
            </a:avLst>
          </a:prstGeom>
          <a:gradFill flip="none" rotWithShape="1">
            <a:gsLst>
              <a:gs pos="0">
                <a:srgbClr val="1B365D"/>
              </a:gs>
              <a:gs pos="50000">
                <a:srgbClr val="1B365D">
                  <a:alpha val="40000"/>
                </a:srgbClr>
              </a:gs>
              <a:gs pos="100000">
                <a:srgbClr val="000000">
                  <a:alpha val="0"/>
                </a:srgbClr>
              </a:gs>
            </a:gsLst>
            <a:lin ang="0" scaled="1"/>
          </a:gradFill>
          <a:ln/>
        </p:spPr>
        <p:txBody>
          <a:bodyPr/>
          <a:lstStyle/>
          <a:p>
            <a:endParaRPr lang="en-IN" dirty="0"/>
          </a:p>
        </p:txBody>
      </p:sp>
      <p:pic>
        <p:nvPicPr>
          <p:cNvPr id="14" name="Image 1" descr="https://kimi-img.moonshot.cn/pub/slides/26-06-13-05:43:56-d8m7r72783mqbn4o5hk0.png"/>
          <p:cNvPicPr>
            <a:picLocks noChangeAspect="1"/>
          </p:cNvPicPr>
          <p:nvPr/>
        </p:nvPicPr>
        <p:blipFill>
          <a:blip r:embed="rId3"/>
          <a:stretch>
            <a:fillRect/>
          </a:stretch>
        </p:blipFill>
        <p:spPr>
          <a:xfrm>
            <a:off x="6210300" y="1292380"/>
            <a:ext cx="5829451" cy="3889486"/>
          </a:xfrm>
          <a:prstGeom prst="rect">
            <a:avLst/>
          </a:prstGeom>
        </p:spPr>
      </p:pic>
      <p:sp>
        <p:nvSpPr>
          <p:cNvPr id="15" name="Text 8">
            <a:extLst>
              <a:ext uri="{FF2B5EF4-FFF2-40B4-BE49-F238E27FC236}">
                <a16:creationId xmlns:a16="http://schemas.microsoft.com/office/drawing/2014/main" id="{3B530778-F45C-36C2-D640-C7F91E414CE2}"/>
              </a:ext>
            </a:extLst>
          </p:cNvPr>
          <p:cNvSpPr/>
          <p:nvPr/>
        </p:nvSpPr>
        <p:spPr>
          <a:xfrm>
            <a:off x="428624" y="6248400"/>
            <a:ext cx="8808681" cy="304800"/>
          </a:xfrm>
          <a:prstGeom prst="rect">
            <a:avLst/>
          </a:prstGeom>
          <a:noFill/>
          <a:ln/>
        </p:spPr>
        <p:txBody>
          <a:bodyPr wrap="square" lIns="0" tIns="0" rIns="0" bIns="0" rtlCol="0" anchor="ctr"/>
          <a:lstStyle/>
          <a:p>
            <a:pPr>
              <a:lnSpc>
                <a:spcPct val="110000"/>
              </a:lnSpc>
            </a:pPr>
            <a:r>
              <a:rPr lang="en-US" b="1" dirty="0">
                <a:solidFill>
                  <a:srgbClr val="FFFFFF"/>
                </a:solidFill>
                <a:latin typeface="Liter" pitchFamily="34" charset="0"/>
              </a:rPr>
              <a:t>Program : GCI World 2026, </a:t>
            </a:r>
            <a:r>
              <a:rPr lang="en-IN" b="1" dirty="0">
                <a:solidFill>
                  <a:schemeClr val="bg1"/>
                </a:solidFill>
                <a:latin typeface="Liter" panose="020B0604020202020204" charset="0"/>
              </a:rPr>
              <a:t>Matsuo-Iwasawa Laboratory at the University of Tokyo</a:t>
            </a:r>
            <a:endParaRPr lang="en-US" b="1" dirty="0">
              <a:solidFill>
                <a:schemeClr val="bg1"/>
              </a:solidFill>
              <a:latin typeface="Liter" panose="020B060402020202020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20B2AA"/>
                </a:solidFill>
                <a:latin typeface="Liter" pitchFamily="34" charset="0"/>
                <a:ea typeface="Liter" pitchFamily="34" charset="-122"/>
                <a:cs typeface="Liter" pitchFamily="34" charset="-120"/>
              </a:rPr>
              <a:t>Agenda</a:t>
            </a:r>
            <a:endParaRPr lang="en-US" sz="1600" dirty="0"/>
          </a:p>
        </p:txBody>
      </p:sp>
      <p:sp>
        <p:nvSpPr>
          <p:cNvPr id="3" name="Text 1"/>
          <p:cNvSpPr/>
          <p:nvPr/>
        </p:nvSpPr>
        <p:spPr>
          <a:xfrm>
            <a:off x="381000" y="723900"/>
            <a:ext cx="11630025" cy="1000125"/>
          </a:xfrm>
          <a:prstGeom prst="rect">
            <a:avLst/>
          </a:prstGeom>
          <a:noFill/>
          <a:ln/>
        </p:spPr>
        <p:txBody>
          <a:bodyPr wrap="square" lIns="0" tIns="0" rIns="0" bIns="0" rtlCol="0" anchor="ctr"/>
          <a:lstStyle/>
          <a:p>
            <a:pPr>
              <a:lnSpc>
                <a:spcPct val="100000"/>
              </a:lnSpc>
            </a:pPr>
            <a:r>
              <a:rPr lang="en-US" sz="3150" b="1" dirty="0">
                <a:solidFill>
                  <a:srgbClr val="1B365D"/>
                </a:solidFill>
                <a:latin typeface="Liter" pitchFamily="34" charset="0"/>
                <a:ea typeface="Liter" pitchFamily="34" charset="-122"/>
                <a:cs typeface="Liter" pitchFamily="34" charset="-120"/>
              </a:rPr>
              <a:t>Navigating Our Path from Raw Historical Data to Quantifiable Revenue Protection</a:t>
            </a:r>
            <a:endParaRPr lang="en-US" sz="1600" dirty="0"/>
          </a:p>
        </p:txBody>
      </p:sp>
      <p:sp>
        <p:nvSpPr>
          <p:cNvPr id="4" name="Shape 2"/>
          <p:cNvSpPr/>
          <p:nvPr/>
        </p:nvSpPr>
        <p:spPr>
          <a:xfrm>
            <a:off x="381000" y="1876425"/>
            <a:ext cx="762000" cy="57150"/>
          </a:xfrm>
          <a:prstGeom prst="roundRect">
            <a:avLst>
              <a:gd name="adj" fmla="val 0"/>
            </a:avLst>
          </a:prstGeom>
          <a:solidFill>
            <a:srgbClr val="20B2AA"/>
          </a:solidFill>
          <a:ln/>
        </p:spPr>
      </p:sp>
      <p:sp>
        <p:nvSpPr>
          <p:cNvPr id="5" name="Shape 3"/>
          <p:cNvSpPr/>
          <p:nvPr/>
        </p:nvSpPr>
        <p:spPr>
          <a:xfrm>
            <a:off x="397933" y="2854986"/>
            <a:ext cx="33867" cy="2609850"/>
          </a:xfrm>
          <a:prstGeom prst="roundRect">
            <a:avLst>
              <a:gd name="adj" fmla="val 0"/>
            </a:avLst>
          </a:prstGeom>
          <a:solidFill>
            <a:srgbClr val="1B365D"/>
          </a:solidFill>
          <a:ln/>
        </p:spPr>
      </p:sp>
      <p:sp>
        <p:nvSpPr>
          <p:cNvPr id="6" name="Shape 4"/>
          <p:cNvSpPr/>
          <p:nvPr/>
        </p:nvSpPr>
        <p:spPr>
          <a:xfrm>
            <a:off x="110067" y="2854986"/>
            <a:ext cx="609600" cy="609600"/>
          </a:xfrm>
          <a:prstGeom prst="roundRect">
            <a:avLst>
              <a:gd name="adj" fmla="val 0"/>
            </a:avLst>
          </a:prstGeom>
          <a:solidFill>
            <a:srgbClr val="1B365D"/>
          </a:solidFill>
          <a:ln/>
        </p:spPr>
      </p:sp>
      <p:sp>
        <p:nvSpPr>
          <p:cNvPr id="7" name="Text 5"/>
          <p:cNvSpPr/>
          <p:nvPr/>
        </p:nvSpPr>
        <p:spPr>
          <a:xfrm>
            <a:off x="266435" y="2988336"/>
            <a:ext cx="438150"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719667" y="3616986"/>
            <a:ext cx="3381375" cy="571500"/>
          </a:xfrm>
          <a:prstGeom prst="rect">
            <a:avLst/>
          </a:prstGeom>
          <a:noFill/>
          <a:ln/>
        </p:spPr>
        <p:txBody>
          <a:bodyPr wrap="square" lIns="0" tIns="0" rIns="0" bIns="0" rtlCol="0" anchor="ctr"/>
          <a:lstStyle/>
          <a:p>
            <a:pPr>
              <a:lnSpc>
                <a:spcPct val="100000"/>
              </a:lnSpc>
            </a:pPr>
            <a:r>
              <a:rPr lang="en-US" sz="1800" b="1" dirty="0">
                <a:solidFill>
                  <a:srgbClr val="1B365D"/>
                </a:solidFill>
                <a:latin typeface="Liter" pitchFamily="34" charset="0"/>
                <a:ea typeface="Liter" pitchFamily="34" charset="-122"/>
                <a:cs typeface="Liter" pitchFamily="34" charset="-120"/>
              </a:rPr>
              <a:t>The Market Challenge &amp; Our Business Idea</a:t>
            </a:r>
            <a:endParaRPr lang="en-US" sz="1600" dirty="0"/>
          </a:p>
        </p:txBody>
      </p:sp>
      <p:sp>
        <p:nvSpPr>
          <p:cNvPr id="9" name="Text 7"/>
          <p:cNvSpPr/>
          <p:nvPr/>
        </p:nvSpPr>
        <p:spPr>
          <a:xfrm>
            <a:off x="719667" y="4340886"/>
            <a:ext cx="3352800" cy="838200"/>
          </a:xfrm>
          <a:prstGeom prst="rect">
            <a:avLst/>
          </a:prstGeom>
          <a:noFill/>
          <a:ln/>
        </p:spPr>
        <p:txBody>
          <a:bodyPr wrap="square" lIns="0" tIns="0" rIns="0" bIns="0" rtlCol="0" anchor="ctr"/>
          <a:lstStyle/>
          <a:p>
            <a:pPr>
              <a:lnSpc>
                <a:spcPct val="140000"/>
              </a:lnSpc>
            </a:pPr>
            <a:r>
              <a:rPr lang="en-US" sz="1350" dirty="0">
                <a:solidFill>
                  <a:srgbClr val="1B365D">
                    <a:alpha val="70000"/>
                  </a:srgbClr>
                </a:solidFill>
                <a:latin typeface="Liter" pitchFamily="34" charset="0"/>
                <a:ea typeface="Liter" pitchFamily="34" charset="-122"/>
                <a:cs typeface="Liter" pitchFamily="34" charset="-120"/>
              </a:rPr>
              <a:t>Evaluate economic and behavioral forces driving subscriber attrition, and outline our strategic business solution</a:t>
            </a:r>
            <a:endParaRPr lang="en-US" sz="1600" dirty="0"/>
          </a:p>
        </p:txBody>
      </p:sp>
      <p:sp>
        <p:nvSpPr>
          <p:cNvPr id="10" name="Shape 8"/>
          <p:cNvSpPr/>
          <p:nvPr/>
        </p:nvSpPr>
        <p:spPr>
          <a:xfrm>
            <a:off x="4309533" y="2854986"/>
            <a:ext cx="33867" cy="2609850"/>
          </a:xfrm>
          <a:prstGeom prst="roundRect">
            <a:avLst>
              <a:gd name="adj" fmla="val 0"/>
            </a:avLst>
          </a:prstGeom>
          <a:solidFill>
            <a:srgbClr val="20B2AA"/>
          </a:solidFill>
          <a:ln/>
        </p:spPr>
      </p:sp>
      <p:sp>
        <p:nvSpPr>
          <p:cNvPr id="11" name="Shape 9"/>
          <p:cNvSpPr/>
          <p:nvPr/>
        </p:nvSpPr>
        <p:spPr>
          <a:xfrm>
            <a:off x="4021667" y="2854986"/>
            <a:ext cx="609600" cy="609600"/>
          </a:xfrm>
          <a:prstGeom prst="roundRect">
            <a:avLst>
              <a:gd name="adj" fmla="val 0"/>
            </a:avLst>
          </a:prstGeom>
          <a:solidFill>
            <a:srgbClr val="20B2AA"/>
          </a:solidFill>
          <a:ln/>
        </p:spPr>
      </p:sp>
      <p:sp>
        <p:nvSpPr>
          <p:cNvPr id="12" name="Text 10"/>
          <p:cNvSpPr/>
          <p:nvPr/>
        </p:nvSpPr>
        <p:spPr>
          <a:xfrm>
            <a:off x="4152239" y="2988336"/>
            <a:ext cx="495300"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Liter" pitchFamily="34" charset="0"/>
                <a:ea typeface="Liter" pitchFamily="34" charset="-122"/>
                <a:cs typeface="Liter" pitchFamily="34" charset="-120"/>
              </a:rPr>
              <a:t>02</a:t>
            </a:r>
            <a:endParaRPr lang="en-US" sz="1600" dirty="0"/>
          </a:p>
        </p:txBody>
      </p:sp>
      <p:sp>
        <p:nvSpPr>
          <p:cNvPr id="13" name="Text 11"/>
          <p:cNvSpPr/>
          <p:nvPr/>
        </p:nvSpPr>
        <p:spPr>
          <a:xfrm>
            <a:off x="4631267" y="3616986"/>
            <a:ext cx="3381375" cy="857250"/>
          </a:xfrm>
          <a:prstGeom prst="rect">
            <a:avLst/>
          </a:prstGeom>
          <a:noFill/>
          <a:ln/>
        </p:spPr>
        <p:txBody>
          <a:bodyPr wrap="square" lIns="0" tIns="0" rIns="0" bIns="0" rtlCol="0" anchor="ctr"/>
          <a:lstStyle/>
          <a:p>
            <a:pPr>
              <a:lnSpc>
                <a:spcPct val="100000"/>
              </a:lnSpc>
            </a:pPr>
            <a:r>
              <a:rPr lang="en-US" sz="1800" b="1" dirty="0">
                <a:solidFill>
                  <a:srgbClr val="1B365D"/>
                </a:solidFill>
                <a:latin typeface="Liter" pitchFamily="34" charset="0"/>
                <a:ea typeface="Liter" pitchFamily="34" charset="-122"/>
                <a:cs typeface="Liter" pitchFamily="34" charset="-120"/>
              </a:rPr>
              <a:t>Translating Behavior into Predictive Machine Learning Models</a:t>
            </a:r>
            <a:endParaRPr lang="en-US" sz="1600" dirty="0"/>
          </a:p>
        </p:txBody>
      </p:sp>
      <p:sp>
        <p:nvSpPr>
          <p:cNvPr id="14" name="Text 12"/>
          <p:cNvSpPr/>
          <p:nvPr/>
        </p:nvSpPr>
        <p:spPr>
          <a:xfrm>
            <a:off x="4631267" y="4626636"/>
            <a:ext cx="3352800" cy="838200"/>
          </a:xfrm>
          <a:prstGeom prst="rect">
            <a:avLst/>
          </a:prstGeom>
          <a:noFill/>
          <a:ln/>
        </p:spPr>
        <p:txBody>
          <a:bodyPr wrap="square" lIns="0" tIns="0" rIns="0" bIns="0" rtlCol="0" anchor="ctr"/>
          <a:lstStyle/>
          <a:p>
            <a:pPr>
              <a:lnSpc>
                <a:spcPct val="140000"/>
              </a:lnSpc>
            </a:pPr>
            <a:r>
              <a:rPr lang="en-US" sz="1350" dirty="0">
                <a:solidFill>
                  <a:srgbClr val="1B365D">
                    <a:alpha val="70000"/>
                  </a:srgbClr>
                </a:solidFill>
                <a:latin typeface="Liter" pitchFamily="34" charset="0"/>
                <a:ea typeface="Liter" pitchFamily="34" charset="-122"/>
                <a:cs typeface="Liter" pitchFamily="34" charset="-120"/>
              </a:rPr>
              <a:t>Examine how our predictive engine decodes raw data into clear early-warning signals for proactive intervention</a:t>
            </a:r>
            <a:endParaRPr lang="en-US" sz="1600" dirty="0"/>
          </a:p>
        </p:txBody>
      </p:sp>
      <p:sp>
        <p:nvSpPr>
          <p:cNvPr id="15" name="Shape 13"/>
          <p:cNvSpPr/>
          <p:nvPr/>
        </p:nvSpPr>
        <p:spPr>
          <a:xfrm>
            <a:off x="8221133" y="2854986"/>
            <a:ext cx="33867" cy="2609850"/>
          </a:xfrm>
          <a:prstGeom prst="roundRect">
            <a:avLst>
              <a:gd name="adj" fmla="val 0"/>
            </a:avLst>
          </a:prstGeom>
          <a:solidFill>
            <a:srgbClr val="D9534F"/>
          </a:solidFill>
          <a:ln/>
        </p:spPr>
      </p:sp>
      <p:sp>
        <p:nvSpPr>
          <p:cNvPr id="16" name="Shape 14"/>
          <p:cNvSpPr/>
          <p:nvPr/>
        </p:nvSpPr>
        <p:spPr>
          <a:xfrm>
            <a:off x="7933267" y="2854986"/>
            <a:ext cx="609600" cy="609600"/>
          </a:xfrm>
          <a:prstGeom prst="roundRect">
            <a:avLst>
              <a:gd name="adj" fmla="val 0"/>
            </a:avLst>
          </a:prstGeom>
          <a:solidFill>
            <a:srgbClr val="D9534F"/>
          </a:solidFill>
          <a:ln/>
        </p:spPr>
      </p:sp>
      <p:sp>
        <p:nvSpPr>
          <p:cNvPr id="17" name="Text 15"/>
          <p:cNvSpPr/>
          <p:nvPr/>
        </p:nvSpPr>
        <p:spPr>
          <a:xfrm>
            <a:off x="8062515" y="2988336"/>
            <a:ext cx="495300"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Liter" pitchFamily="34" charset="0"/>
                <a:ea typeface="Liter" pitchFamily="34" charset="-122"/>
                <a:cs typeface="Liter" pitchFamily="34" charset="-120"/>
              </a:rPr>
              <a:t>03</a:t>
            </a:r>
            <a:endParaRPr lang="en-US" sz="1600" dirty="0"/>
          </a:p>
        </p:txBody>
      </p:sp>
      <p:sp>
        <p:nvSpPr>
          <p:cNvPr id="18" name="Text 16"/>
          <p:cNvSpPr/>
          <p:nvPr/>
        </p:nvSpPr>
        <p:spPr>
          <a:xfrm>
            <a:off x="8542867" y="3616986"/>
            <a:ext cx="3381375" cy="571500"/>
          </a:xfrm>
          <a:prstGeom prst="rect">
            <a:avLst/>
          </a:prstGeom>
          <a:noFill/>
          <a:ln/>
        </p:spPr>
        <p:txBody>
          <a:bodyPr wrap="square" lIns="0" tIns="0" rIns="0" bIns="0" rtlCol="0" anchor="ctr"/>
          <a:lstStyle/>
          <a:p>
            <a:pPr>
              <a:lnSpc>
                <a:spcPct val="100000"/>
              </a:lnSpc>
            </a:pPr>
            <a:r>
              <a:rPr lang="en-US" sz="1800" b="1" dirty="0">
                <a:solidFill>
                  <a:srgbClr val="1B365D"/>
                </a:solidFill>
                <a:latin typeface="Liter" pitchFamily="34" charset="0"/>
                <a:ea typeface="Liter" pitchFamily="34" charset="-122"/>
                <a:cs typeface="Liter" pitchFamily="34" charset="-120"/>
              </a:rPr>
              <a:t>Strategic Retention Proposals &amp; Projected Financial ROI</a:t>
            </a:r>
            <a:endParaRPr lang="en-US" sz="1600" dirty="0"/>
          </a:p>
        </p:txBody>
      </p:sp>
      <p:sp>
        <p:nvSpPr>
          <p:cNvPr id="19" name="Text 17"/>
          <p:cNvSpPr/>
          <p:nvPr/>
        </p:nvSpPr>
        <p:spPr>
          <a:xfrm>
            <a:off x="8542867" y="4340886"/>
            <a:ext cx="3352800" cy="838200"/>
          </a:xfrm>
          <a:prstGeom prst="rect">
            <a:avLst/>
          </a:prstGeom>
          <a:noFill/>
          <a:ln/>
        </p:spPr>
        <p:txBody>
          <a:bodyPr wrap="square" lIns="0" tIns="0" rIns="0" bIns="0" rtlCol="0" anchor="ctr"/>
          <a:lstStyle/>
          <a:p>
            <a:pPr>
              <a:lnSpc>
                <a:spcPct val="140000"/>
              </a:lnSpc>
            </a:pPr>
            <a:r>
              <a:rPr lang="en-US" sz="1350" dirty="0">
                <a:solidFill>
                  <a:srgbClr val="1B365D">
                    <a:alpha val="70000"/>
                  </a:srgbClr>
                </a:solidFill>
                <a:latin typeface="Liter" pitchFamily="34" charset="0"/>
                <a:ea typeface="Liter" pitchFamily="34" charset="-122"/>
                <a:cs typeface="Liter" pitchFamily="34" charset="-120"/>
              </a:rPr>
              <a:t>Outline targeted business interventions and their direct, simulated impact on our bottom line</a:t>
            </a:r>
            <a:endParaRPr lang="en-US" sz="1600" dirty="0"/>
          </a:p>
        </p:txBody>
      </p:sp>
      <p:sp>
        <p:nvSpPr>
          <p:cNvPr id="20" name="Shape 18"/>
          <p:cNvSpPr/>
          <p:nvPr/>
        </p:nvSpPr>
        <p:spPr>
          <a:xfrm>
            <a:off x="381000" y="6011334"/>
            <a:ext cx="11430000" cy="16933"/>
          </a:xfrm>
          <a:prstGeom prst="roundRect">
            <a:avLst>
              <a:gd name="adj" fmla="val 0"/>
            </a:avLst>
          </a:prstGeom>
          <a:solidFill>
            <a:srgbClr val="1B365D">
              <a:alpha val="10196"/>
            </a:srgbClr>
          </a:solidFill>
          <a:ln/>
        </p:spPr>
      </p:sp>
      <p:sp>
        <p:nvSpPr>
          <p:cNvPr id="21" name="Text 19"/>
          <p:cNvSpPr/>
          <p:nvPr/>
        </p:nvSpPr>
        <p:spPr>
          <a:xfrm>
            <a:off x="381000" y="6248400"/>
            <a:ext cx="11506200" cy="228600"/>
          </a:xfrm>
          <a:prstGeom prst="rect">
            <a:avLst/>
          </a:prstGeom>
          <a:noFill/>
          <a:ln/>
        </p:spPr>
        <p:txBody>
          <a:bodyPr wrap="square" lIns="0" tIns="0" rIns="0" bIns="0" rtlCol="0" anchor="ctr"/>
          <a:lstStyle/>
          <a:p>
            <a:pPr>
              <a:lnSpc>
                <a:spcPct val="130000"/>
              </a:lnSpc>
            </a:pPr>
            <a:r>
              <a:rPr lang="en-US" sz="1200" dirty="0">
                <a:solidFill>
                  <a:srgbClr val="1B365D">
                    <a:alpha val="60000"/>
                  </a:srgbClr>
                </a:solidFill>
                <a:latin typeface="Liter" pitchFamily="34" charset="0"/>
                <a:ea typeface="Liter" pitchFamily="34" charset="-122"/>
                <a:cs typeface="Liter" pitchFamily="34" charset="-120"/>
              </a:rPr>
              <a:t>This presentation demonstrates how advanced analytics transforms customer retention from a reactive cost center into a proactive revenue protection engine</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20B2AA"/>
                </a:solidFill>
                <a:latin typeface="Liter" pitchFamily="34" charset="0"/>
                <a:ea typeface="Liter" pitchFamily="34" charset="-122"/>
                <a:cs typeface="Liter" pitchFamily="34" charset="-120"/>
              </a:rPr>
              <a:t>Strategic Framework</a:t>
            </a:r>
            <a:endParaRPr lang="en-US" sz="1600" dirty="0"/>
          </a:p>
        </p:txBody>
      </p:sp>
      <p:sp>
        <p:nvSpPr>
          <p:cNvPr id="3" name="Text 1"/>
          <p:cNvSpPr/>
          <p:nvPr/>
        </p:nvSpPr>
        <p:spPr>
          <a:xfrm>
            <a:off x="381000" y="685800"/>
            <a:ext cx="11610975" cy="457200"/>
          </a:xfrm>
          <a:prstGeom prst="rect">
            <a:avLst/>
          </a:prstGeom>
          <a:noFill/>
          <a:ln/>
        </p:spPr>
        <p:txBody>
          <a:bodyPr wrap="square" lIns="0" tIns="0" rIns="0" bIns="0" rtlCol="0" anchor="ctr"/>
          <a:lstStyle/>
          <a:p>
            <a:pPr>
              <a:lnSpc>
                <a:spcPct val="100000"/>
              </a:lnSpc>
            </a:pPr>
            <a:r>
              <a:rPr lang="en-US" sz="2850" b="1" dirty="0">
                <a:solidFill>
                  <a:srgbClr val="1B365D"/>
                </a:solidFill>
                <a:latin typeface="Liter" pitchFamily="34" charset="0"/>
                <a:ea typeface="Liter" pitchFamily="34" charset="-122"/>
                <a:cs typeface="Liter" pitchFamily="34" charset="-120"/>
              </a:rPr>
              <a:t>Shifting from Reactive Marketing to Proactive, ROI-Driven Retention</a:t>
            </a:r>
            <a:endParaRPr lang="en-US" sz="1600" dirty="0"/>
          </a:p>
        </p:txBody>
      </p:sp>
      <p:sp>
        <p:nvSpPr>
          <p:cNvPr id="4" name="Shape 2"/>
          <p:cNvSpPr/>
          <p:nvPr/>
        </p:nvSpPr>
        <p:spPr>
          <a:xfrm>
            <a:off x="381000" y="1252538"/>
            <a:ext cx="762000" cy="38100"/>
          </a:xfrm>
          <a:prstGeom prst="roundRect">
            <a:avLst>
              <a:gd name="adj" fmla="val 0"/>
            </a:avLst>
          </a:prstGeom>
          <a:solidFill>
            <a:srgbClr val="20B2AA"/>
          </a:solidFill>
          <a:ln/>
        </p:spPr>
      </p:sp>
      <p:sp>
        <p:nvSpPr>
          <p:cNvPr id="5" name="Shape 3"/>
          <p:cNvSpPr/>
          <p:nvPr/>
        </p:nvSpPr>
        <p:spPr>
          <a:xfrm>
            <a:off x="381000" y="1536171"/>
            <a:ext cx="3657600" cy="4312708"/>
          </a:xfrm>
          <a:prstGeom prst="roundRect">
            <a:avLst>
              <a:gd name="adj" fmla="val 0"/>
            </a:avLst>
          </a:prstGeom>
          <a:solidFill>
            <a:srgbClr val="1B365D">
              <a:alpha val="5098"/>
            </a:srgbClr>
          </a:solidFill>
          <a:ln/>
        </p:spPr>
      </p:sp>
      <p:sp>
        <p:nvSpPr>
          <p:cNvPr id="6" name="Shape 4"/>
          <p:cNvSpPr/>
          <p:nvPr/>
        </p:nvSpPr>
        <p:spPr>
          <a:xfrm>
            <a:off x="381000" y="1536171"/>
            <a:ext cx="3657600" cy="33867"/>
          </a:xfrm>
          <a:prstGeom prst="roundRect">
            <a:avLst>
              <a:gd name="adj" fmla="val 0"/>
            </a:avLst>
          </a:prstGeom>
          <a:solidFill>
            <a:srgbClr val="1B365D"/>
          </a:solidFill>
          <a:ln/>
        </p:spPr>
      </p:sp>
      <p:sp>
        <p:nvSpPr>
          <p:cNvPr id="7" name="Shape 5"/>
          <p:cNvSpPr/>
          <p:nvPr/>
        </p:nvSpPr>
        <p:spPr>
          <a:xfrm>
            <a:off x="609600" y="1781704"/>
            <a:ext cx="457200" cy="457200"/>
          </a:xfrm>
          <a:prstGeom prst="roundRect">
            <a:avLst>
              <a:gd name="adj" fmla="val 0"/>
            </a:avLst>
          </a:prstGeom>
          <a:solidFill>
            <a:srgbClr val="1B365D"/>
          </a:solidFill>
          <a:ln/>
        </p:spPr>
      </p:sp>
      <p:sp>
        <p:nvSpPr>
          <p:cNvPr id="8" name="Shape 6"/>
          <p:cNvSpPr/>
          <p:nvPr/>
        </p:nvSpPr>
        <p:spPr>
          <a:xfrm>
            <a:off x="742950" y="1915054"/>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p:spPr>
      </p:sp>
      <p:sp>
        <p:nvSpPr>
          <p:cNvPr id="9" name="Text 7"/>
          <p:cNvSpPr/>
          <p:nvPr/>
        </p:nvSpPr>
        <p:spPr>
          <a:xfrm>
            <a:off x="1181100" y="1857904"/>
            <a:ext cx="1009650" cy="304800"/>
          </a:xfrm>
          <a:prstGeom prst="rect">
            <a:avLst/>
          </a:prstGeom>
          <a:noFill/>
          <a:ln/>
        </p:spPr>
        <p:txBody>
          <a:bodyPr wrap="square" lIns="0" tIns="0" rIns="0" bIns="0" rtlCol="0" anchor="ctr"/>
          <a:lstStyle/>
          <a:p>
            <a:pPr>
              <a:lnSpc>
                <a:spcPct val="110000"/>
              </a:lnSpc>
            </a:pPr>
            <a:r>
              <a:rPr lang="en-US" sz="1800" b="1" dirty="0">
                <a:solidFill>
                  <a:srgbClr val="1B365D"/>
                </a:solidFill>
                <a:latin typeface="Liter" pitchFamily="34" charset="0"/>
                <a:ea typeface="Liter" pitchFamily="34" charset="-122"/>
                <a:cs typeface="Liter" pitchFamily="34" charset="-120"/>
              </a:rPr>
              <a:t>Situation</a:t>
            </a:r>
            <a:endParaRPr lang="en-US" sz="1600" dirty="0"/>
          </a:p>
        </p:txBody>
      </p:sp>
      <p:sp>
        <p:nvSpPr>
          <p:cNvPr id="10" name="Text 8"/>
          <p:cNvSpPr/>
          <p:nvPr/>
        </p:nvSpPr>
        <p:spPr>
          <a:xfrm>
            <a:off x="609600" y="2391304"/>
            <a:ext cx="3276600" cy="742950"/>
          </a:xfrm>
          <a:prstGeom prst="rect">
            <a:avLst/>
          </a:prstGeom>
          <a:noFill/>
          <a:ln/>
        </p:spPr>
        <p:txBody>
          <a:bodyPr wrap="square" lIns="0" tIns="0" rIns="0" bIns="0" rtlCol="0" anchor="ctr"/>
          <a:lstStyle/>
          <a:p>
            <a:pPr>
              <a:lnSpc>
                <a:spcPct val="140000"/>
              </a:lnSpc>
            </a:pPr>
            <a:r>
              <a:rPr lang="en-US" sz="1200" b="1" dirty="0">
                <a:solidFill>
                  <a:srgbClr val="D9534F"/>
                </a:solidFill>
                <a:latin typeface="Liter" pitchFamily="34" charset="0"/>
                <a:ea typeface="Liter" pitchFamily="34" charset="-122"/>
                <a:cs typeface="Liter" pitchFamily="34" charset="-120"/>
              </a:rPr>
              <a:t>Intense price war</a:t>
            </a:r>
            <a:r>
              <a:rPr lang="en-US" sz="1200" dirty="0">
                <a:solidFill>
                  <a:srgbClr val="1B365D"/>
                </a:solidFill>
                <a:latin typeface="Liter" pitchFamily="34" charset="0"/>
                <a:ea typeface="Liter" pitchFamily="34" charset="-122"/>
                <a:cs typeface="Liter" pitchFamily="34" charset="-120"/>
              </a:rPr>
              <a:t> in Indian telecom landscape with Mobile Number Portability (MNP) being completely frictionless</a:t>
            </a:r>
            <a:endParaRPr lang="en-US" sz="1600" dirty="0"/>
          </a:p>
        </p:txBody>
      </p:sp>
      <p:sp>
        <p:nvSpPr>
          <p:cNvPr id="11" name="Text 9"/>
          <p:cNvSpPr/>
          <p:nvPr/>
        </p:nvSpPr>
        <p:spPr>
          <a:xfrm>
            <a:off x="609600" y="3286654"/>
            <a:ext cx="3276600" cy="742950"/>
          </a:xfrm>
          <a:prstGeom prst="rect">
            <a:avLst/>
          </a:prstGeom>
          <a:noFill/>
          <a:ln/>
        </p:spPr>
        <p:txBody>
          <a:bodyPr wrap="square" lIns="0" tIns="0" rIns="0" bIns="0" rtlCol="0" anchor="ctr"/>
          <a:lstStyle/>
          <a:p>
            <a:pPr>
              <a:lnSpc>
                <a:spcPct val="140000"/>
              </a:lnSpc>
            </a:pPr>
            <a:r>
              <a:rPr lang="en-US" sz="1200" dirty="0">
                <a:solidFill>
                  <a:srgbClr val="1B365D"/>
                </a:solidFill>
                <a:latin typeface="Liter" pitchFamily="34" charset="0"/>
                <a:ea typeface="Liter" pitchFamily="34" charset="-122"/>
                <a:cs typeface="Liter" pitchFamily="34" charset="-120"/>
              </a:rPr>
              <a:t>Data consumption is massive, yet </a:t>
            </a:r>
            <a:r>
              <a:rPr lang="en-US" sz="1200" b="1" dirty="0">
                <a:solidFill>
                  <a:srgbClr val="D9534F"/>
                </a:solidFill>
                <a:latin typeface="Liter" pitchFamily="34" charset="0"/>
                <a:ea typeface="Liter" pitchFamily="34" charset="-122"/>
                <a:cs typeface="Liter" pitchFamily="34" charset="-120"/>
              </a:rPr>
              <a:t>Average Revenue Per User (ARPU) remains severely compressed</a:t>
            </a:r>
            <a:endParaRPr lang="en-US" sz="1600" dirty="0"/>
          </a:p>
        </p:txBody>
      </p:sp>
      <p:sp>
        <p:nvSpPr>
          <p:cNvPr id="12" name="Text 10"/>
          <p:cNvSpPr/>
          <p:nvPr/>
        </p:nvSpPr>
        <p:spPr>
          <a:xfrm>
            <a:off x="609600" y="4182004"/>
            <a:ext cx="3276600" cy="495300"/>
          </a:xfrm>
          <a:prstGeom prst="rect">
            <a:avLst/>
          </a:prstGeom>
          <a:noFill/>
          <a:ln/>
        </p:spPr>
        <p:txBody>
          <a:bodyPr wrap="square" lIns="0" tIns="0" rIns="0" bIns="0" rtlCol="0" anchor="ctr"/>
          <a:lstStyle/>
          <a:p>
            <a:pPr>
              <a:lnSpc>
                <a:spcPct val="140000"/>
              </a:lnSpc>
            </a:pPr>
            <a:r>
              <a:rPr lang="en-US" sz="1200" dirty="0">
                <a:solidFill>
                  <a:srgbClr val="1B365D"/>
                </a:solidFill>
                <a:latin typeface="Liter" pitchFamily="34" charset="0"/>
                <a:ea typeface="Liter" pitchFamily="34" charset="-122"/>
                <a:cs typeface="Liter" pitchFamily="34" charset="-120"/>
              </a:rPr>
              <a:t>Market saturation forces operators to compete primarily on price, eroding operating margins</a:t>
            </a:r>
            <a:endParaRPr lang="en-US" sz="1600" dirty="0"/>
          </a:p>
        </p:txBody>
      </p:sp>
      <p:sp>
        <p:nvSpPr>
          <p:cNvPr id="13" name="Shape 11"/>
          <p:cNvSpPr/>
          <p:nvPr/>
        </p:nvSpPr>
        <p:spPr>
          <a:xfrm>
            <a:off x="609600" y="5081589"/>
            <a:ext cx="3200400" cy="8467"/>
          </a:xfrm>
          <a:prstGeom prst="roundRect">
            <a:avLst>
              <a:gd name="adj" fmla="val 0"/>
            </a:avLst>
          </a:prstGeom>
          <a:solidFill>
            <a:srgbClr val="1B365D">
              <a:alpha val="20000"/>
            </a:srgbClr>
          </a:solidFill>
          <a:ln/>
        </p:spPr>
      </p:sp>
      <p:sp>
        <p:nvSpPr>
          <p:cNvPr id="14" name="Shape 12"/>
          <p:cNvSpPr/>
          <p:nvPr/>
        </p:nvSpPr>
        <p:spPr>
          <a:xfrm>
            <a:off x="628650" y="5263621"/>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20B2AA"/>
          </a:solidFill>
          <a:ln/>
        </p:spPr>
      </p:sp>
      <p:sp>
        <p:nvSpPr>
          <p:cNvPr id="15" name="Text 13"/>
          <p:cNvSpPr/>
          <p:nvPr/>
        </p:nvSpPr>
        <p:spPr>
          <a:xfrm>
            <a:off x="838200" y="5238222"/>
            <a:ext cx="3038475" cy="381000"/>
          </a:xfrm>
          <a:prstGeom prst="rect">
            <a:avLst/>
          </a:prstGeom>
          <a:noFill/>
          <a:ln/>
        </p:spPr>
        <p:txBody>
          <a:bodyPr wrap="square" lIns="0" tIns="0" rIns="0" bIns="0" rtlCol="0" anchor="ctr"/>
          <a:lstStyle/>
          <a:p>
            <a:pPr>
              <a:lnSpc>
                <a:spcPct val="120000"/>
              </a:lnSpc>
            </a:pPr>
            <a:r>
              <a:rPr lang="en-US" sz="1050" dirty="0">
                <a:solidFill>
                  <a:srgbClr val="1B365D">
                    <a:alpha val="70000"/>
                  </a:srgbClr>
                </a:solidFill>
                <a:latin typeface="Liter" pitchFamily="34" charset="0"/>
                <a:ea typeface="Liter" pitchFamily="34" charset="-122"/>
                <a:cs typeface="Liter" pitchFamily="34" charset="-120"/>
              </a:rPr>
              <a:t>Customers can switch providers seamlessly with zero friction</a:t>
            </a:r>
            <a:endParaRPr lang="en-US" sz="1600" dirty="0"/>
          </a:p>
        </p:txBody>
      </p:sp>
      <p:sp>
        <p:nvSpPr>
          <p:cNvPr id="16" name="Shape 14"/>
          <p:cNvSpPr/>
          <p:nvPr/>
        </p:nvSpPr>
        <p:spPr>
          <a:xfrm>
            <a:off x="4267200" y="1536171"/>
            <a:ext cx="3657600" cy="4312708"/>
          </a:xfrm>
          <a:prstGeom prst="roundRect">
            <a:avLst>
              <a:gd name="adj" fmla="val 0"/>
            </a:avLst>
          </a:prstGeom>
          <a:solidFill>
            <a:srgbClr val="D9534F">
              <a:alpha val="5098"/>
            </a:srgbClr>
          </a:solidFill>
          <a:ln/>
        </p:spPr>
      </p:sp>
      <p:sp>
        <p:nvSpPr>
          <p:cNvPr id="17" name="Shape 15"/>
          <p:cNvSpPr/>
          <p:nvPr/>
        </p:nvSpPr>
        <p:spPr>
          <a:xfrm>
            <a:off x="4267200" y="1536171"/>
            <a:ext cx="3657600" cy="33867"/>
          </a:xfrm>
          <a:prstGeom prst="roundRect">
            <a:avLst>
              <a:gd name="adj" fmla="val 0"/>
            </a:avLst>
          </a:prstGeom>
          <a:solidFill>
            <a:srgbClr val="D9534F"/>
          </a:solidFill>
          <a:ln/>
        </p:spPr>
      </p:sp>
      <p:sp>
        <p:nvSpPr>
          <p:cNvPr id="18" name="Shape 16"/>
          <p:cNvSpPr/>
          <p:nvPr/>
        </p:nvSpPr>
        <p:spPr>
          <a:xfrm>
            <a:off x="4495800" y="1781704"/>
            <a:ext cx="457200" cy="457200"/>
          </a:xfrm>
          <a:prstGeom prst="roundRect">
            <a:avLst>
              <a:gd name="adj" fmla="val 0"/>
            </a:avLst>
          </a:prstGeom>
          <a:solidFill>
            <a:srgbClr val="D9534F"/>
          </a:solidFill>
          <a:ln/>
        </p:spPr>
      </p:sp>
      <p:sp>
        <p:nvSpPr>
          <p:cNvPr id="19" name="Shape 17"/>
          <p:cNvSpPr/>
          <p:nvPr/>
        </p:nvSpPr>
        <p:spPr>
          <a:xfrm>
            <a:off x="4629150" y="1915054"/>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FFFFF"/>
          </a:solidFill>
          <a:ln/>
        </p:spPr>
      </p:sp>
      <p:sp>
        <p:nvSpPr>
          <p:cNvPr id="20" name="Text 18"/>
          <p:cNvSpPr/>
          <p:nvPr/>
        </p:nvSpPr>
        <p:spPr>
          <a:xfrm>
            <a:off x="5067300" y="1857904"/>
            <a:ext cx="962025" cy="304800"/>
          </a:xfrm>
          <a:prstGeom prst="rect">
            <a:avLst/>
          </a:prstGeom>
          <a:noFill/>
          <a:ln/>
        </p:spPr>
        <p:txBody>
          <a:bodyPr wrap="square" lIns="0" tIns="0" rIns="0" bIns="0" rtlCol="0" anchor="ctr"/>
          <a:lstStyle/>
          <a:p>
            <a:pPr>
              <a:lnSpc>
                <a:spcPct val="110000"/>
              </a:lnSpc>
            </a:pPr>
            <a:r>
              <a:rPr lang="en-US" sz="1800" b="1" dirty="0">
                <a:solidFill>
                  <a:srgbClr val="1B365D"/>
                </a:solidFill>
                <a:latin typeface="Liter" pitchFamily="34" charset="0"/>
                <a:ea typeface="Liter" pitchFamily="34" charset="-122"/>
                <a:cs typeface="Liter" pitchFamily="34" charset="-120"/>
              </a:rPr>
              <a:t>Problem</a:t>
            </a:r>
            <a:endParaRPr lang="en-US" sz="1600" dirty="0"/>
          </a:p>
        </p:txBody>
      </p:sp>
      <p:sp>
        <p:nvSpPr>
          <p:cNvPr id="21" name="Text 19"/>
          <p:cNvSpPr/>
          <p:nvPr/>
        </p:nvSpPr>
        <p:spPr>
          <a:xfrm>
            <a:off x="4495800" y="2391304"/>
            <a:ext cx="3276600" cy="742950"/>
          </a:xfrm>
          <a:prstGeom prst="rect">
            <a:avLst/>
          </a:prstGeom>
          <a:noFill/>
          <a:ln/>
        </p:spPr>
        <p:txBody>
          <a:bodyPr wrap="square" lIns="0" tIns="0" rIns="0" bIns="0" rtlCol="0" anchor="ctr"/>
          <a:lstStyle/>
          <a:p>
            <a:pPr>
              <a:lnSpc>
                <a:spcPct val="140000"/>
              </a:lnSpc>
            </a:pPr>
            <a:r>
              <a:rPr lang="en-US" sz="1200" b="1" dirty="0">
                <a:solidFill>
                  <a:srgbClr val="D9534F"/>
                </a:solidFill>
                <a:latin typeface="Liter" pitchFamily="34" charset="0"/>
                <a:ea typeface="Liter" pitchFamily="34" charset="-122"/>
                <a:cs typeface="Liter" pitchFamily="34" charset="-120"/>
              </a:rPr>
              <a:t>Customer Acquisition Cost (CAC) is 5-25x higher</a:t>
            </a:r>
            <a:r>
              <a:rPr lang="en-US" sz="1200" dirty="0">
                <a:solidFill>
                  <a:srgbClr val="1B365D"/>
                </a:solidFill>
                <a:latin typeface="Liter" pitchFamily="34" charset="0"/>
                <a:ea typeface="Liter" pitchFamily="34" charset="-122"/>
                <a:cs typeface="Liter" pitchFamily="34" charset="-120"/>
              </a:rPr>
              <a:t> than retention costs, making churn extraordinarily expensive</a:t>
            </a:r>
            <a:endParaRPr lang="en-US" sz="1600" dirty="0"/>
          </a:p>
        </p:txBody>
      </p:sp>
      <p:sp>
        <p:nvSpPr>
          <p:cNvPr id="22" name="Text 20"/>
          <p:cNvSpPr/>
          <p:nvPr/>
        </p:nvSpPr>
        <p:spPr>
          <a:xfrm>
            <a:off x="4495800" y="3286654"/>
            <a:ext cx="3276600" cy="495300"/>
          </a:xfrm>
          <a:prstGeom prst="rect">
            <a:avLst/>
          </a:prstGeom>
          <a:noFill/>
          <a:ln/>
        </p:spPr>
        <p:txBody>
          <a:bodyPr wrap="square" lIns="0" tIns="0" rIns="0" bIns="0" rtlCol="0" anchor="ctr"/>
          <a:lstStyle/>
          <a:p>
            <a:pPr>
              <a:lnSpc>
                <a:spcPct val="140000"/>
              </a:lnSpc>
            </a:pPr>
            <a:r>
              <a:rPr lang="en-US" sz="1200" dirty="0">
                <a:solidFill>
                  <a:srgbClr val="1B365D"/>
                </a:solidFill>
                <a:latin typeface="Liter" pitchFamily="34" charset="0"/>
                <a:ea typeface="Liter" pitchFamily="34" charset="-122"/>
                <a:cs typeface="Liter" pitchFamily="34" charset="-120"/>
              </a:rPr>
              <a:t>Silent customer churn is </a:t>
            </a:r>
            <a:r>
              <a:rPr lang="en-US" sz="1200" b="1" dirty="0">
                <a:solidFill>
                  <a:srgbClr val="D9534F"/>
                </a:solidFill>
                <a:latin typeface="Liter" pitchFamily="34" charset="0"/>
                <a:ea typeface="Liter" pitchFamily="34" charset="-122"/>
                <a:cs typeface="Liter" pitchFamily="34" charset="-120"/>
              </a:rPr>
              <a:t>aggressively draining operating margins</a:t>
            </a:r>
            <a:r>
              <a:rPr lang="en-US" sz="1200" dirty="0">
                <a:solidFill>
                  <a:srgbClr val="1B365D"/>
                </a:solidFill>
                <a:latin typeface="Liter" pitchFamily="34" charset="0"/>
                <a:ea typeface="Liter" pitchFamily="34" charset="-122"/>
                <a:cs typeface="Liter" pitchFamily="34" charset="-120"/>
              </a:rPr>
              <a:t> without visible warning signs</a:t>
            </a:r>
            <a:endParaRPr lang="en-US" sz="1600" dirty="0"/>
          </a:p>
        </p:txBody>
      </p:sp>
      <p:sp>
        <p:nvSpPr>
          <p:cNvPr id="23" name="Text 21"/>
          <p:cNvSpPr/>
          <p:nvPr/>
        </p:nvSpPr>
        <p:spPr>
          <a:xfrm>
            <a:off x="4495800" y="3934354"/>
            <a:ext cx="3276600" cy="742950"/>
          </a:xfrm>
          <a:prstGeom prst="rect">
            <a:avLst/>
          </a:prstGeom>
          <a:noFill/>
          <a:ln/>
        </p:spPr>
        <p:txBody>
          <a:bodyPr wrap="square" lIns="0" tIns="0" rIns="0" bIns="0" rtlCol="0" anchor="ctr"/>
          <a:lstStyle/>
          <a:p>
            <a:pPr>
              <a:lnSpc>
                <a:spcPct val="140000"/>
              </a:lnSpc>
            </a:pPr>
            <a:r>
              <a:rPr lang="en-US" sz="1200" dirty="0">
                <a:solidFill>
                  <a:srgbClr val="1B365D"/>
                </a:solidFill>
                <a:latin typeface="Liter" pitchFamily="34" charset="0"/>
                <a:ea typeface="Liter" pitchFamily="34" charset="-122"/>
                <a:cs typeface="Liter" pitchFamily="34" charset="-120"/>
              </a:rPr>
              <a:t>Current reactive marketing blasts are too expensive, inefficient, and target the wrong subscribers</a:t>
            </a:r>
            <a:endParaRPr lang="en-US" sz="1600" dirty="0"/>
          </a:p>
        </p:txBody>
      </p:sp>
      <p:sp>
        <p:nvSpPr>
          <p:cNvPr id="24" name="Shape 22"/>
          <p:cNvSpPr/>
          <p:nvPr/>
        </p:nvSpPr>
        <p:spPr>
          <a:xfrm>
            <a:off x="4495800" y="5081589"/>
            <a:ext cx="3200400" cy="8467"/>
          </a:xfrm>
          <a:prstGeom prst="roundRect">
            <a:avLst>
              <a:gd name="adj" fmla="val 0"/>
            </a:avLst>
          </a:prstGeom>
          <a:solidFill>
            <a:srgbClr val="D9534F">
              <a:alpha val="20000"/>
            </a:srgbClr>
          </a:solidFill>
          <a:ln/>
        </p:spPr>
      </p:sp>
      <p:sp>
        <p:nvSpPr>
          <p:cNvPr id="25" name="Shape 23"/>
          <p:cNvSpPr/>
          <p:nvPr/>
        </p:nvSpPr>
        <p:spPr>
          <a:xfrm>
            <a:off x="4539853" y="5263621"/>
            <a:ext cx="83344" cy="133350"/>
          </a:xfrm>
          <a:custGeom>
            <a:avLst/>
            <a:gdLst/>
            <a:ahLst/>
            <a:cxnLst/>
            <a:rect l="l" t="t" r="r" b="b"/>
            <a:pathLst>
              <a:path w="83344" h="133350">
                <a:moveTo>
                  <a:pt x="35421" y="6251"/>
                </a:moveTo>
                <a:cubicBezTo>
                  <a:pt x="35421" y="2787"/>
                  <a:pt x="38208" y="0"/>
                  <a:pt x="41672" y="0"/>
                </a:cubicBezTo>
                <a:cubicBezTo>
                  <a:pt x="45136" y="0"/>
                  <a:pt x="47923" y="2787"/>
                  <a:pt x="47923" y="6251"/>
                </a:cubicBezTo>
                <a:lnTo>
                  <a:pt x="47923" y="16669"/>
                </a:lnTo>
                <a:lnTo>
                  <a:pt x="62508" y="16669"/>
                </a:lnTo>
                <a:cubicBezTo>
                  <a:pt x="67118" y="16669"/>
                  <a:pt x="70842" y="20393"/>
                  <a:pt x="70842" y="25003"/>
                </a:cubicBezTo>
                <a:cubicBezTo>
                  <a:pt x="70842" y="29613"/>
                  <a:pt x="67118" y="33337"/>
                  <a:pt x="62508" y="33337"/>
                </a:cubicBezTo>
                <a:lnTo>
                  <a:pt x="32582" y="33337"/>
                </a:lnTo>
                <a:cubicBezTo>
                  <a:pt x="26097" y="33337"/>
                  <a:pt x="20836" y="38599"/>
                  <a:pt x="20836" y="45084"/>
                </a:cubicBezTo>
                <a:cubicBezTo>
                  <a:pt x="20836" y="50944"/>
                  <a:pt x="25133" y="55892"/>
                  <a:pt x="30915" y="56726"/>
                </a:cubicBezTo>
                <a:lnTo>
                  <a:pt x="54772" y="60138"/>
                </a:lnTo>
                <a:cubicBezTo>
                  <a:pt x="68785" y="62143"/>
                  <a:pt x="79177" y="74124"/>
                  <a:pt x="79177" y="88266"/>
                </a:cubicBezTo>
                <a:cubicBezTo>
                  <a:pt x="79177" y="103971"/>
                  <a:pt x="66441" y="116681"/>
                  <a:pt x="50762" y="116681"/>
                </a:cubicBezTo>
                <a:lnTo>
                  <a:pt x="47923" y="116681"/>
                </a:lnTo>
                <a:lnTo>
                  <a:pt x="47923" y="127099"/>
                </a:lnTo>
                <a:cubicBezTo>
                  <a:pt x="47923" y="130563"/>
                  <a:pt x="45136" y="133350"/>
                  <a:pt x="41672" y="133350"/>
                </a:cubicBezTo>
                <a:cubicBezTo>
                  <a:pt x="38208" y="133350"/>
                  <a:pt x="35421" y="130563"/>
                  <a:pt x="35421" y="127099"/>
                </a:cubicBezTo>
                <a:lnTo>
                  <a:pt x="35421" y="116681"/>
                </a:lnTo>
                <a:lnTo>
                  <a:pt x="16669" y="116681"/>
                </a:lnTo>
                <a:cubicBezTo>
                  <a:pt x="12059" y="116681"/>
                  <a:pt x="8334" y="112957"/>
                  <a:pt x="8334" y="108347"/>
                </a:cubicBezTo>
                <a:cubicBezTo>
                  <a:pt x="8334" y="103737"/>
                  <a:pt x="12059" y="100013"/>
                  <a:pt x="16669" y="100013"/>
                </a:cubicBezTo>
                <a:lnTo>
                  <a:pt x="50762" y="100013"/>
                </a:lnTo>
                <a:cubicBezTo>
                  <a:pt x="57247" y="100013"/>
                  <a:pt x="62508" y="94751"/>
                  <a:pt x="62508" y="88266"/>
                </a:cubicBezTo>
                <a:cubicBezTo>
                  <a:pt x="62508" y="82406"/>
                  <a:pt x="58210" y="77458"/>
                  <a:pt x="52428" y="76624"/>
                </a:cubicBezTo>
                <a:lnTo>
                  <a:pt x="28571" y="73212"/>
                </a:lnTo>
                <a:cubicBezTo>
                  <a:pt x="14559" y="71233"/>
                  <a:pt x="4167" y="59226"/>
                  <a:pt x="4167" y="45084"/>
                </a:cubicBezTo>
                <a:cubicBezTo>
                  <a:pt x="4167" y="29405"/>
                  <a:pt x="16903" y="16669"/>
                  <a:pt x="32582" y="16669"/>
                </a:cubicBezTo>
                <a:lnTo>
                  <a:pt x="35421" y="16669"/>
                </a:lnTo>
                <a:lnTo>
                  <a:pt x="35421" y="6251"/>
                </a:lnTo>
                <a:close/>
              </a:path>
            </a:pathLst>
          </a:custGeom>
          <a:solidFill>
            <a:srgbClr val="D9534F"/>
          </a:solidFill>
          <a:ln/>
        </p:spPr>
      </p:sp>
      <p:sp>
        <p:nvSpPr>
          <p:cNvPr id="26" name="Text 24"/>
          <p:cNvSpPr/>
          <p:nvPr/>
        </p:nvSpPr>
        <p:spPr>
          <a:xfrm>
            <a:off x="4724400" y="5238222"/>
            <a:ext cx="3038475" cy="381000"/>
          </a:xfrm>
          <a:prstGeom prst="rect">
            <a:avLst/>
          </a:prstGeom>
          <a:noFill/>
          <a:ln/>
        </p:spPr>
        <p:txBody>
          <a:bodyPr wrap="square" lIns="0" tIns="0" rIns="0" bIns="0" rtlCol="0" anchor="ctr"/>
          <a:lstStyle/>
          <a:p>
            <a:pPr>
              <a:lnSpc>
                <a:spcPct val="120000"/>
              </a:lnSpc>
            </a:pPr>
            <a:r>
              <a:rPr lang="en-US" sz="1050" dirty="0">
                <a:solidFill>
                  <a:srgbClr val="1B365D">
                    <a:alpha val="70000"/>
                  </a:srgbClr>
                </a:solidFill>
                <a:latin typeface="Liter" pitchFamily="34" charset="0"/>
                <a:ea typeface="Liter" pitchFamily="34" charset="-122"/>
                <a:cs typeface="Liter" pitchFamily="34" charset="-120"/>
              </a:rPr>
              <a:t>Each lost high-value subscriber costs 5-25x more to replace</a:t>
            </a:r>
            <a:endParaRPr lang="en-US" sz="1600" dirty="0"/>
          </a:p>
        </p:txBody>
      </p:sp>
      <p:sp>
        <p:nvSpPr>
          <p:cNvPr id="27" name="Shape 25"/>
          <p:cNvSpPr/>
          <p:nvPr/>
        </p:nvSpPr>
        <p:spPr>
          <a:xfrm>
            <a:off x="8153400" y="1536171"/>
            <a:ext cx="3657600" cy="4312708"/>
          </a:xfrm>
          <a:prstGeom prst="roundRect">
            <a:avLst>
              <a:gd name="adj" fmla="val 0"/>
            </a:avLst>
          </a:prstGeom>
          <a:solidFill>
            <a:srgbClr val="20B2AA"/>
          </a:solidFill>
          <a:ln/>
          <a:effectLst>
            <a:outerShdw blurRad="238125" dist="190500" dir="5400000" algn="bl" rotWithShape="0">
              <a:srgbClr val="000000">
                <a:alpha val="10196"/>
              </a:srgbClr>
            </a:outerShdw>
          </a:effectLst>
        </p:spPr>
      </p:sp>
      <p:sp>
        <p:nvSpPr>
          <p:cNvPr id="28" name="Shape 26"/>
          <p:cNvSpPr/>
          <p:nvPr/>
        </p:nvSpPr>
        <p:spPr>
          <a:xfrm>
            <a:off x="8153400" y="1536171"/>
            <a:ext cx="3657600" cy="33867"/>
          </a:xfrm>
          <a:prstGeom prst="roundRect">
            <a:avLst>
              <a:gd name="adj" fmla="val 0"/>
            </a:avLst>
          </a:prstGeom>
          <a:solidFill>
            <a:srgbClr val="20B2AA"/>
          </a:solidFill>
          <a:ln/>
        </p:spPr>
      </p:sp>
      <p:sp>
        <p:nvSpPr>
          <p:cNvPr id="29" name="Shape 27"/>
          <p:cNvSpPr/>
          <p:nvPr/>
        </p:nvSpPr>
        <p:spPr>
          <a:xfrm>
            <a:off x="8382000" y="1781704"/>
            <a:ext cx="457200" cy="457200"/>
          </a:xfrm>
          <a:prstGeom prst="roundRect">
            <a:avLst>
              <a:gd name="adj" fmla="val 0"/>
            </a:avLst>
          </a:prstGeom>
          <a:solidFill>
            <a:srgbClr val="FFFFFF"/>
          </a:solidFill>
          <a:ln/>
        </p:spPr>
      </p:sp>
      <p:sp>
        <p:nvSpPr>
          <p:cNvPr id="30" name="Shape 28"/>
          <p:cNvSpPr/>
          <p:nvPr/>
        </p:nvSpPr>
        <p:spPr>
          <a:xfrm>
            <a:off x="8539163" y="1915054"/>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20B2AA"/>
          </a:solidFill>
          <a:ln/>
        </p:spPr>
      </p:sp>
      <p:sp>
        <p:nvSpPr>
          <p:cNvPr id="31" name="Text 29"/>
          <p:cNvSpPr/>
          <p:nvPr/>
        </p:nvSpPr>
        <p:spPr>
          <a:xfrm>
            <a:off x="8953500" y="1857904"/>
            <a:ext cx="14954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Liter" pitchFamily="34" charset="0"/>
                <a:ea typeface="Liter" pitchFamily="34" charset="-122"/>
                <a:cs typeface="Liter" pitchFamily="34" charset="-120"/>
              </a:rPr>
              <a:t>Business Idea</a:t>
            </a:r>
            <a:endParaRPr lang="en-US" sz="1600" dirty="0"/>
          </a:p>
        </p:txBody>
      </p:sp>
      <p:sp>
        <p:nvSpPr>
          <p:cNvPr id="32" name="Text 30"/>
          <p:cNvSpPr/>
          <p:nvPr/>
        </p:nvSpPr>
        <p:spPr>
          <a:xfrm>
            <a:off x="8382000" y="2391304"/>
            <a:ext cx="3276600" cy="742950"/>
          </a:xfrm>
          <a:prstGeom prst="rect">
            <a:avLst/>
          </a:prstGeom>
          <a:noFill/>
          <a:ln/>
        </p:spPr>
        <p:txBody>
          <a:bodyPr wrap="square" lIns="0" tIns="0" rIns="0" bIns="0" rtlCol="0" anchor="ctr"/>
          <a:lstStyle/>
          <a:p>
            <a:pPr>
              <a:lnSpc>
                <a:spcPct val="140000"/>
              </a:lnSpc>
            </a:pPr>
            <a:r>
              <a:rPr lang="en-US" sz="1200" dirty="0">
                <a:solidFill>
                  <a:srgbClr val="FFFFFF"/>
                </a:solidFill>
                <a:latin typeface="Liter" pitchFamily="34" charset="0"/>
                <a:ea typeface="Liter" pitchFamily="34" charset="-122"/>
                <a:cs typeface="Liter" pitchFamily="34" charset="-120"/>
              </a:rPr>
              <a:t>Deploy an </a:t>
            </a:r>
            <a:r>
              <a:rPr lang="en-US" sz="1200" b="1" dirty="0">
                <a:solidFill>
                  <a:srgbClr val="FFFFFF"/>
                </a:solidFill>
                <a:latin typeface="Liter" pitchFamily="34" charset="0"/>
                <a:ea typeface="Liter" pitchFamily="34" charset="-122"/>
                <a:cs typeface="Liter" pitchFamily="34" charset="-120"/>
              </a:rPr>
              <a:t>early-warning Machine Learning engine</a:t>
            </a:r>
            <a:r>
              <a:rPr lang="en-US" sz="1200" dirty="0">
                <a:solidFill>
                  <a:srgbClr val="FFFFFF"/>
                </a:solidFill>
                <a:latin typeface="Liter" pitchFamily="34" charset="0"/>
                <a:ea typeface="Liter" pitchFamily="34" charset="-122"/>
                <a:cs typeface="Liter" pitchFamily="34" charset="-120"/>
              </a:rPr>
              <a:t> to intercept flight-risk customers before they switch providers</a:t>
            </a:r>
            <a:endParaRPr lang="en-US" sz="1600" dirty="0"/>
          </a:p>
        </p:txBody>
      </p:sp>
      <p:sp>
        <p:nvSpPr>
          <p:cNvPr id="33" name="Text 31"/>
          <p:cNvSpPr/>
          <p:nvPr/>
        </p:nvSpPr>
        <p:spPr>
          <a:xfrm>
            <a:off x="8382000" y="3286654"/>
            <a:ext cx="3276600" cy="742950"/>
          </a:xfrm>
          <a:prstGeom prst="rect">
            <a:avLst/>
          </a:prstGeom>
          <a:noFill/>
          <a:ln/>
        </p:spPr>
        <p:txBody>
          <a:bodyPr wrap="square" lIns="0" tIns="0" rIns="0" bIns="0" rtlCol="0" anchor="ctr"/>
          <a:lstStyle/>
          <a:p>
            <a:pPr>
              <a:lnSpc>
                <a:spcPct val="140000"/>
              </a:lnSpc>
            </a:pPr>
            <a:r>
              <a:rPr lang="en-US" sz="1200" dirty="0">
                <a:solidFill>
                  <a:srgbClr val="FFFFFF"/>
                </a:solidFill>
                <a:latin typeface="Liter" pitchFamily="34" charset="0"/>
                <a:ea typeface="Liter" pitchFamily="34" charset="-122"/>
                <a:cs typeface="Liter" pitchFamily="34" charset="-120"/>
              </a:rPr>
              <a:t>Enable </a:t>
            </a:r>
            <a:r>
              <a:rPr lang="en-US" sz="1200" b="1" dirty="0">
                <a:solidFill>
                  <a:srgbClr val="FFFFFF"/>
                </a:solidFill>
                <a:latin typeface="Liter" pitchFamily="34" charset="0"/>
                <a:ea typeface="Liter" pitchFamily="34" charset="-122"/>
                <a:cs typeface="Liter" pitchFamily="34" charset="-120"/>
              </a:rPr>
              <a:t>highly targeted, ROI-positive retention campaigns</a:t>
            </a:r>
            <a:r>
              <a:rPr lang="en-US" sz="1200" dirty="0">
                <a:solidFill>
                  <a:srgbClr val="FFFFFF"/>
                </a:solidFill>
                <a:latin typeface="Liter" pitchFamily="34" charset="0"/>
                <a:ea typeface="Liter" pitchFamily="34" charset="-122"/>
                <a:cs typeface="Liter" pitchFamily="34" charset="-120"/>
              </a:rPr>
              <a:t> that protect revenue while minimizing waste</a:t>
            </a:r>
            <a:endParaRPr lang="en-US" sz="1600" dirty="0"/>
          </a:p>
        </p:txBody>
      </p:sp>
      <p:sp>
        <p:nvSpPr>
          <p:cNvPr id="34" name="Text 32"/>
          <p:cNvSpPr/>
          <p:nvPr/>
        </p:nvSpPr>
        <p:spPr>
          <a:xfrm>
            <a:off x="8382000" y="4182004"/>
            <a:ext cx="3276600" cy="742950"/>
          </a:xfrm>
          <a:prstGeom prst="rect">
            <a:avLst/>
          </a:prstGeom>
          <a:noFill/>
          <a:ln/>
        </p:spPr>
        <p:txBody>
          <a:bodyPr wrap="square" lIns="0" tIns="0" rIns="0" bIns="0" rtlCol="0" anchor="ctr"/>
          <a:lstStyle/>
          <a:p>
            <a:pPr>
              <a:lnSpc>
                <a:spcPct val="140000"/>
              </a:lnSpc>
            </a:pPr>
            <a:r>
              <a:rPr lang="en-US" sz="1200" dirty="0">
                <a:solidFill>
                  <a:srgbClr val="FFFFFF"/>
                </a:solidFill>
                <a:latin typeface="Liter" pitchFamily="34" charset="0"/>
                <a:ea typeface="Liter" pitchFamily="34" charset="-122"/>
                <a:cs typeface="Liter" pitchFamily="34" charset="-120"/>
              </a:rPr>
              <a:t>Transform customer retention from reactive firefighting into proactive, data-driven revenue protection</a:t>
            </a:r>
            <a:endParaRPr lang="en-US" sz="1600" dirty="0"/>
          </a:p>
        </p:txBody>
      </p:sp>
      <p:sp>
        <p:nvSpPr>
          <p:cNvPr id="35" name="Shape 33"/>
          <p:cNvSpPr/>
          <p:nvPr/>
        </p:nvSpPr>
        <p:spPr>
          <a:xfrm>
            <a:off x="8382000" y="5081589"/>
            <a:ext cx="3200400" cy="8467"/>
          </a:xfrm>
          <a:prstGeom prst="roundRect">
            <a:avLst>
              <a:gd name="adj" fmla="val 0"/>
            </a:avLst>
          </a:prstGeom>
          <a:solidFill>
            <a:srgbClr val="FFFFFF">
              <a:alpha val="30196"/>
            </a:srgbClr>
          </a:solidFill>
          <a:ln/>
        </p:spPr>
      </p:sp>
      <p:sp>
        <p:nvSpPr>
          <p:cNvPr id="36" name="Shape 34"/>
          <p:cNvSpPr/>
          <p:nvPr/>
        </p:nvSpPr>
        <p:spPr>
          <a:xfrm>
            <a:off x="8401050" y="5263621"/>
            <a:ext cx="133350" cy="133350"/>
          </a:xfrm>
          <a:custGeom>
            <a:avLst/>
            <a:gdLst/>
            <a:ahLst/>
            <a:cxnLst/>
            <a:rect l="l" t="t" r="r" b="b"/>
            <a:pathLst>
              <a:path w="133350" h="133350">
                <a:moveTo>
                  <a:pt x="33337" y="83344"/>
                </a:moveTo>
                <a:lnTo>
                  <a:pt x="6381" y="83344"/>
                </a:lnTo>
                <a:cubicBezTo>
                  <a:pt x="-104" y="83344"/>
                  <a:pt x="-4089" y="76286"/>
                  <a:pt x="-755" y="70712"/>
                </a:cubicBezTo>
                <a:lnTo>
                  <a:pt x="13022" y="47740"/>
                </a:lnTo>
                <a:cubicBezTo>
                  <a:pt x="15288" y="43964"/>
                  <a:pt x="19351" y="41672"/>
                  <a:pt x="23753" y="41672"/>
                </a:cubicBezTo>
                <a:lnTo>
                  <a:pt x="48496" y="41672"/>
                </a:lnTo>
                <a:cubicBezTo>
                  <a:pt x="68316" y="8100"/>
                  <a:pt x="97877" y="6407"/>
                  <a:pt x="117645" y="9298"/>
                </a:cubicBezTo>
                <a:cubicBezTo>
                  <a:pt x="120979" y="9793"/>
                  <a:pt x="123583" y="12397"/>
                  <a:pt x="124052" y="15705"/>
                </a:cubicBezTo>
                <a:cubicBezTo>
                  <a:pt x="126943" y="35473"/>
                  <a:pt x="125250" y="65034"/>
                  <a:pt x="91678" y="84854"/>
                </a:cubicBezTo>
                <a:lnTo>
                  <a:pt x="91678" y="109597"/>
                </a:lnTo>
                <a:cubicBezTo>
                  <a:pt x="91678" y="113999"/>
                  <a:pt x="89386" y="118062"/>
                  <a:pt x="85610" y="120328"/>
                </a:cubicBezTo>
                <a:lnTo>
                  <a:pt x="62638" y="134105"/>
                </a:lnTo>
                <a:cubicBezTo>
                  <a:pt x="57090" y="137439"/>
                  <a:pt x="50006" y="133428"/>
                  <a:pt x="50006" y="126969"/>
                </a:cubicBezTo>
                <a:lnTo>
                  <a:pt x="50006" y="100013"/>
                </a:lnTo>
                <a:cubicBezTo>
                  <a:pt x="50006" y="90819"/>
                  <a:pt x="42531" y="83344"/>
                  <a:pt x="33337" y="83344"/>
                </a:cubicBezTo>
                <a:lnTo>
                  <a:pt x="33311" y="83344"/>
                </a:lnTo>
                <a:close/>
                <a:moveTo>
                  <a:pt x="104180" y="41672"/>
                </a:moveTo>
                <a:cubicBezTo>
                  <a:pt x="104180" y="34772"/>
                  <a:pt x="98578" y="29170"/>
                  <a:pt x="91678" y="29170"/>
                </a:cubicBezTo>
                <a:cubicBezTo>
                  <a:pt x="84778" y="29170"/>
                  <a:pt x="79177" y="34772"/>
                  <a:pt x="79177" y="41672"/>
                </a:cubicBezTo>
                <a:cubicBezTo>
                  <a:pt x="79177" y="48572"/>
                  <a:pt x="84778" y="54173"/>
                  <a:pt x="91678" y="54173"/>
                </a:cubicBezTo>
                <a:cubicBezTo>
                  <a:pt x="98578" y="54173"/>
                  <a:pt x="104180" y="48572"/>
                  <a:pt x="104180" y="41672"/>
                </a:cubicBezTo>
                <a:close/>
              </a:path>
            </a:pathLst>
          </a:custGeom>
          <a:solidFill>
            <a:srgbClr val="FFFFFF"/>
          </a:solidFill>
          <a:ln/>
        </p:spPr>
      </p:sp>
      <p:sp>
        <p:nvSpPr>
          <p:cNvPr id="37" name="Text 35"/>
          <p:cNvSpPr/>
          <p:nvPr/>
        </p:nvSpPr>
        <p:spPr>
          <a:xfrm>
            <a:off x="8610600" y="5238222"/>
            <a:ext cx="3038475" cy="381000"/>
          </a:xfrm>
          <a:prstGeom prst="rect">
            <a:avLst/>
          </a:prstGeom>
          <a:noFill/>
          <a:ln/>
        </p:spPr>
        <p:txBody>
          <a:bodyPr wrap="square" lIns="0" tIns="0" rIns="0" bIns="0" rtlCol="0" anchor="ctr"/>
          <a:lstStyle/>
          <a:p>
            <a:pPr>
              <a:lnSpc>
                <a:spcPct val="120000"/>
              </a:lnSpc>
            </a:pPr>
            <a:r>
              <a:rPr lang="en-US" sz="1050" dirty="0">
                <a:solidFill>
                  <a:srgbClr val="FFFFFF">
                    <a:alpha val="90000"/>
                  </a:srgbClr>
                </a:solidFill>
                <a:latin typeface="Liter" pitchFamily="34" charset="0"/>
                <a:ea typeface="Liter" pitchFamily="34" charset="-122"/>
                <a:cs typeface="Liter" pitchFamily="34" charset="-120"/>
              </a:rPr>
              <a:t>Move from chasing lost customers to preventing departure</a:t>
            </a:r>
            <a:endParaRPr lang="en-US" sz="1600" dirty="0"/>
          </a:p>
        </p:txBody>
      </p:sp>
      <p:sp>
        <p:nvSpPr>
          <p:cNvPr id="38" name="Shape 36"/>
          <p:cNvSpPr/>
          <p:nvPr/>
        </p:nvSpPr>
        <p:spPr>
          <a:xfrm>
            <a:off x="381000" y="6000222"/>
            <a:ext cx="11430000" cy="571500"/>
          </a:xfrm>
          <a:prstGeom prst="roundRect">
            <a:avLst>
              <a:gd name="adj" fmla="val 0"/>
            </a:avLst>
          </a:prstGeom>
          <a:solidFill>
            <a:srgbClr val="1B365D"/>
          </a:solidFill>
          <a:ln/>
        </p:spPr>
      </p:sp>
      <p:sp>
        <p:nvSpPr>
          <p:cNvPr id="39" name="Shape 37"/>
          <p:cNvSpPr/>
          <p:nvPr/>
        </p:nvSpPr>
        <p:spPr>
          <a:xfrm>
            <a:off x="638175" y="6171672"/>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20B2AA"/>
          </a:solidFill>
          <a:ln/>
        </p:spPr>
      </p:sp>
      <p:sp>
        <p:nvSpPr>
          <p:cNvPr id="40" name="Text 38"/>
          <p:cNvSpPr/>
          <p:nvPr/>
        </p:nvSpPr>
        <p:spPr>
          <a:xfrm>
            <a:off x="1047750" y="6152622"/>
            <a:ext cx="62674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The Strategic Imperative: Stop reacting to churn. Start predicting and preventing it.</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3679" y="343679"/>
            <a:ext cx="11573378" cy="206207"/>
          </a:xfrm>
          <a:prstGeom prst="rect">
            <a:avLst/>
          </a:prstGeom>
          <a:noFill/>
          <a:ln/>
        </p:spPr>
        <p:txBody>
          <a:bodyPr wrap="square" lIns="0" tIns="0" rIns="0" bIns="0" rtlCol="0" anchor="ctr"/>
          <a:lstStyle/>
          <a:p>
            <a:pPr>
              <a:lnSpc>
                <a:spcPct val="130000"/>
              </a:lnSpc>
            </a:pPr>
            <a:r>
              <a:rPr lang="en-US" sz="1082" b="1" kern="0" spc="108" dirty="0">
                <a:solidFill>
                  <a:srgbClr val="20B2AA"/>
                </a:solidFill>
                <a:latin typeface="Liter" pitchFamily="34" charset="0"/>
                <a:ea typeface="Liter" pitchFamily="34" charset="-122"/>
                <a:cs typeface="Liter" pitchFamily="34" charset="-120"/>
              </a:rPr>
              <a:t>The Asset</a:t>
            </a:r>
            <a:endParaRPr lang="en-US" sz="1600" dirty="0"/>
          </a:p>
        </p:txBody>
      </p:sp>
      <p:sp>
        <p:nvSpPr>
          <p:cNvPr id="3" name="Text 1"/>
          <p:cNvSpPr/>
          <p:nvPr/>
        </p:nvSpPr>
        <p:spPr>
          <a:xfrm>
            <a:off x="343679" y="618622"/>
            <a:ext cx="11667890" cy="816237"/>
          </a:xfrm>
          <a:prstGeom prst="rect">
            <a:avLst/>
          </a:prstGeom>
          <a:noFill/>
          <a:ln/>
        </p:spPr>
        <p:txBody>
          <a:bodyPr wrap="square" lIns="0" tIns="0" rIns="0" bIns="0" rtlCol="0" anchor="ctr"/>
          <a:lstStyle/>
          <a:p>
            <a:pPr>
              <a:lnSpc>
                <a:spcPct val="100000"/>
              </a:lnSpc>
            </a:pPr>
            <a:r>
              <a:rPr lang="en-US" sz="2571" b="1" dirty="0">
                <a:solidFill>
                  <a:srgbClr val="1B365D"/>
                </a:solidFill>
                <a:latin typeface="Liter" pitchFamily="34" charset="0"/>
                <a:ea typeface="Liter" pitchFamily="34" charset="-122"/>
                <a:cs typeface="Liter" pitchFamily="34" charset="-120"/>
              </a:rPr>
              <a:t>Utilizing Our Historical Customer Footprint to Build a Unified Customer 360 Profile</a:t>
            </a:r>
            <a:endParaRPr lang="en-US" sz="1600" dirty="0"/>
          </a:p>
        </p:txBody>
      </p:sp>
      <p:sp>
        <p:nvSpPr>
          <p:cNvPr id="4" name="Shape 2"/>
          <p:cNvSpPr/>
          <p:nvPr/>
        </p:nvSpPr>
        <p:spPr>
          <a:xfrm>
            <a:off x="343679" y="1537962"/>
            <a:ext cx="687357" cy="34368"/>
          </a:xfrm>
          <a:prstGeom prst="roundRect">
            <a:avLst>
              <a:gd name="adj" fmla="val 0"/>
            </a:avLst>
          </a:prstGeom>
          <a:solidFill>
            <a:srgbClr val="20B2AA"/>
          </a:solidFill>
          <a:ln/>
        </p:spPr>
      </p:sp>
      <p:sp>
        <p:nvSpPr>
          <p:cNvPr id="5" name="Shape 3"/>
          <p:cNvSpPr/>
          <p:nvPr/>
        </p:nvSpPr>
        <p:spPr>
          <a:xfrm>
            <a:off x="343679" y="2385823"/>
            <a:ext cx="4029632" cy="2646326"/>
          </a:xfrm>
          <a:prstGeom prst="roundRect">
            <a:avLst>
              <a:gd name="adj" fmla="val 0"/>
            </a:avLst>
          </a:prstGeom>
          <a:solidFill>
            <a:srgbClr val="1B365D"/>
          </a:solidFill>
          <a:ln/>
        </p:spPr>
      </p:sp>
      <p:sp>
        <p:nvSpPr>
          <p:cNvPr id="6" name="Text 4"/>
          <p:cNvSpPr/>
          <p:nvPr/>
        </p:nvSpPr>
        <p:spPr>
          <a:xfrm>
            <a:off x="463966" y="2660766"/>
            <a:ext cx="3789057" cy="618622"/>
          </a:xfrm>
          <a:prstGeom prst="rect">
            <a:avLst/>
          </a:prstGeom>
          <a:noFill/>
          <a:ln/>
        </p:spPr>
        <p:txBody>
          <a:bodyPr wrap="square" lIns="0" tIns="0" rIns="0" bIns="0" rtlCol="0" anchor="ctr"/>
          <a:lstStyle/>
          <a:p>
            <a:pPr algn="ctr">
              <a:lnSpc>
                <a:spcPct val="80000"/>
              </a:lnSpc>
            </a:pPr>
            <a:r>
              <a:rPr lang="en-US" sz="4871" b="1" dirty="0">
                <a:solidFill>
                  <a:srgbClr val="20B2AA"/>
                </a:solidFill>
                <a:latin typeface="Liter" pitchFamily="34" charset="0"/>
                <a:ea typeface="Liter" pitchFamily="34" charset="-122"/>
                <a:cs typeface="Liter" pitchFamily="34" charset="-120"/>
              </a:rPr>
              <a:t>100K</a:t>
            </a:r>
            <a:endParaRPr lang="en-US" sz="1600" dirty="0"/>
          </a:p>
        </p:txBody>
      </p:sp>
      <p:sp>
        <p:nvSpPr>
          <p:cNvPr id="7" name="Text 5"/>
          <p:cNvSpPr/>
          <p:nvPr/>
        </p:nvSpPr>
        <p:spPr>
          <a:xfrm>
            <a:off x="567070" y="3416859"/>
            <a:ext cx="3582850" cy="274943"/>
          </a:xfrm>
          <a:prstGeom prst="rect">
            <a:avLst/>
          </a:prstGeom>
          <a:noFill/>
          <a:ln/>
        </p:spPr>
        <p:txBody>
          <a:bodyPr wrap="square" lIns="0" tIns="0" rIns="0" bIns="0" rtlCol="0" anchor="ctr"/>
          <a:lstStyle/>
          <a:p>
            <a:pPr algn="ctr">
              <a:lnSpc>
                <a:spcPct val="110000"/>
              </a:lnSpc>
            </a:pPr>
            <a:r>
              <a:rPr lang="en-US" sz="1624" b="1" dirty="0">
                <a:solidFill>
                  <a:srgbClr val="FFFFFF"/>
                </a:solidFill>
                <a:latin typeface="Liter" pitchFamily="34" charset="0"/>
                <a:ea typeface="Liter" pitchFamily="34" charset="-122"/>
                <a:cs typeface="Liter" pitchFamily="34" charset="-120"/>
              </a:rPr>
              <a:t>Active Customer Accounts</a:t>
            </a:r>
            <a:endParaRPr lang="en-US" sz="1600" dirty="0"/>
          </a:p>
        </p:txBody>
      </p:sp>
      <p:sp>
        <p:nvSpPr>
          <p:cNvPr id="8" name="Shape 6"/>
          <p:cNvSpPr/>
          <p:nvPr/>
        </p:nvSpPr>
        <p:spPr>
          <a:xfrm>
            <a:off x="2081523" y="3829154"/>
            <a:ext cx="549886" cy="34368"/>
          </a:xfrm>
          <a:prstGeom prst="roundRect">
            <a:avLst>
              <a:gd name="adj" fmla="val 0"/>
            </a:avLst>
          </a:prstGeom>
          <a:solidFill>
            <a:srgbClr val="20B2AA"/>
          </a:solidFill>
          <a:ln/>
        </p:spPr>
      </p:sp>
      <p:sp>
        <p:nvSpPr>
          <p:cNvPr id="9" name="Text 7"/>
          <p:cNvSpPr/>
          <p:nvPr/>
        </p:nvSpPr>
        <p:spPr>
          <a:xfrm>
            <a:off x="579958" y="4000993"/>
            <a:ext cx="3557074" cy="756093"/>
          </a:xfrm>
          <a:prstGeom prst="rect">
            <a:avLst/>
          </a:prstGeom>
          <a:noFill/>
          <a:ln/>
        </p:spPr>
        <p:txBody>
          <a:bodyPr wrap="square" lIns="0" tIns="0" rIns="0" bIns="0" rtlCol="0" anchor="ctr"/>
          <a:lstStyle/>
          <a:p>
            <a:pPr algn="ctr">
              <a:lnSpc>
                <a:spcPct val="140000"/>
              </a:lnSpc>
            </a:pPr>
            <a:r>
              <a:rPr lang="en-US" sz="1218" dirty="0">
                <a:solidFill>
                  <a:srgbClr val="FFFFFF">
                    <a:alpha val="80000"/>
                  </a:srgbClr>
                </a:solidFill>
                <a:latin typeface="Liter" pitchFamily="34" charset="0"/>
                <a:ea typeface="Liter" pitchFamily="34" charset="-122"/>
                <a:cs typeface="Liter" pitchFamily="34" charset="-120"/>
              </a:rPr>
              <a:t>Analyzed over a multi-month observation window to capture comprehensive behavioral patterns and lifecycle stages</a:t>
            </a:r>
            <a:endParaRPr lang="en-US" sz="1600" dirty="0"/>
          </a:p>
        </p:txBody>
      </p:sp>
      <p:sp>
        <p:nvSpPr>
          <p:cNvPr id="10" name="Shape 8"/>
          <p:cNvSpPr/>
          <p:nvPr/>
        </p:nvSpPr>
        <p:spPr>
          <a:xfrm>
            <a:off x="358953" y="5236088"/>
            <a:ext cx="4010539" cy="1013852"/>
          </a:xfrm>
          <a:prstGeom prst="roundRect">
            <a:avLst>
              <a:gd name="adj" fmla="val 0"/>
            </a:avLst>
          </a:prstGeom>
          <a:solidFill>
            <a:srgbClr val="20B2AA">
              <a:alpha val="10196"/>
            </a:srgbClr>
          </a:solidFill>
          <a:ln/>
        </p:spPr>
      </p:sp>
      <p:sp>
        <p:nvSpPr>
          <p:cNvPr id="11" name="Shape 9"/>
          <p:cNvSpPr/>
          <p:nvPr/>
        </p:nvSpPr>
        <p:spPr>
          <a:xfrm>
            <a:off x="358953" y="5236088"/>
            <a:ext cx="30549" cy="1013852"/>
          </a:xfrm>
          <a:prstGeom prst="roundRect">
            <a:avLst>
              <a:gd name="adj" fmla="val 0"/>
            </a:avLst>
          </a:prstGeom>
          <a:solidFill>
            <a:srgbClr val="20B2AA"/>
          </a:solidFill>
          <a:ln/>
        </p:spPr>
      </p:sp>
      <p:sp>
        <p:nvSpPr>
          <p:cNvPr id="12" name="Shape 10"/>
          <p:cNvSpPr/>
          <p:nvPr/>
        </p:nvSpPr>
        <p:spPr>
          <a:xfrm>
            <a:off x="571843" y="5446113"/>
            <a:ext cx="120288" cy="137471"/>
          </a:xfrm>
          <a:custGeom>
            <a:avLst/>
            <a:gdLst/>
            <a:ahLst/>
            <a:cxnLst/>
            <a:rect l="l" t="t" r="r" b="b"/>
            <a:pathLst>
              <a:path w="120288" h="137471">
                <a:moveTo>
                  <a:pt x="120288" y="55257"/>
                </a:moveTo>
                <a:cubicBezTo>
                  <a:pt x="116314" y="57888"/>
                  <a:pt x="111749" y="60010"/>
                  <a:pt x="106997" y="61701"/>
                </a:cubicBezTo>
                <a:cubicBezTo>
                  <a:pt x="94377" y="66212"/>
                  <a:pt x="77811" y="68736"/>
                  <a:pt x="60144" y="68736"/>
                </a:cubicBezTo>
                <a:cubicBezTo>
                  <a:pt x="42477" y="68736"/>
                  <a:pt x="25883" y="66185"/>
                  <a:pt x="13291" y="61701"/>
                </a:cubicBezTo>
                <a:cubicBezTo>
                  <a:pt x="8565" y="60010"/>
                  <a:pt x="3974" y="57888"/>
                  <a:pt x="0" y="55257"/>
                </a:cubicBezTo>
                <a:lnTo>
                  <a:pt x="0" y="77328"/>
                </a:lnTo>
                <a:cubicBezTo>
                  <a:pt x="0" y="89195"/>
                  <a:pt x="26930" y="98808"/>
                  <a:pt x="60144" y="98808"/>
                </a:cubicBezTo>
                <a:cubicBezTo>
                  <a:pt x="93357" y="98808"/>
                  <a:pt x="120288" y="89195"/>
                  <a:pt x="120288" y="77328"/>
                </a:cubicBezTo>
                <a:lnTo>
                  <a:pt x="120288" y="55257"/>
                </a:lnTo>
                <a:close/>
                <a:moveTo>
                  <a:pt x="120288" y="34368"/>
                </a:moveTo>
                <a:lnTo>
                  <a:pt x="120288" y="21480"/>
                </a:lnTo>
                <a:cubicBezTo>
                  <a:pt x="120288" y="9612"/>
                  <a:pt x="93357" y="0"/>
                  <a:pt x="60144" y="0"/>
                </a:cubicBezTo>
                <a:cubicBezTo>
                  <a:pt x="26930" y="0"/>
                  <a:pt x="0" y="9612"/>
                  <a:pt x="0" y="21480"/>
                </a:cubicBezTo>
                <a:lnTo>
                  <a:pt x="0" y="34368"/>
                </a:lnTo>
                <a:cubicBezTo>
                  <a:pt x="0" y="46236"/>
                  <a:pt x="26930" y="55848"/>
                  <a:pt x="60144" y="55848"/>
                </a:cubicBezTo>
                <a:cubicBezTo>
                  <a:pt x="93357" y="55848"/>
                  <a:pt x="120288" y="46236"/>
                  <a:pt x="120288" y="34368"/>
                </a:cubicBezTo>
                <a:close/>
                <a:moveTo>
                  <a:pt x="106997" y="104661"/>
                </a:moveTo>
                <a:cubicBezTo>
                  <a:pt x="94404" y="109145"/>
                  <a:pt x="77838" y="111696"/>
                  <a:pt x="60144" y="111696"/>
                </a:cubicBezTo>
                <a:cubicBezTo>
                  <a:pt x="42450" y="111696"/>
                  <a:pt x="25883" y="109145"/>
                  <a:pt x="13291" y="104661"/>
                </a:cubicBezTo>
                <a:cubicBezTo>
                  <a:pt x="8565" y="102969"/>
                  <a:pt x="3974" y="100848"/>
                  <a:pt x="0" y="98217"/>
                </a:cubicBezTo>
                <a:lnTo>
                  <a:pt x="0" y="115992"/>
                </a:lnTo>
                <a:cubicBezTo>
                  <a:pt x="0" y="127859"/>
                  <a:pt x="26930" y="137471"/>
                  <a:pt x="60144" y="137471"/>
                </a:cubicBezTo>
                <a:cubicBezTo>
                  <a:pt x="93357" y="137471"/>
                  <a:pt x="120288" y="127859"/>
                  <a:pt x="120288" y="115992"/>
                </a:cubicBezTo>
                <a:lnTo>
                  <a:pt x="120288" y="98217"/>
                </a:lnTo>
                <a:cubicBezTo>
                  <a:pt x="116314" y="100848"/>
                  <a:pt x="111749" y="102969"/>
                  <a:pt x="106997" y="104661"/>
                </a:cubicBezTo>
                <a:close/>
              </a:path>
            </a:pathLst>
          </a:custGeom>
          <a:solidFill>
            <a:srgbClr val="20B2AA"/>
          </a:solidFill>
          <a:ln/>
        </p:spPr>
      </p:sp>
      <p:sp>
        <p:nvSpPr>
          <p:cNvPr id="13" name="Text 11"/>
          <p:cNvSpPr/>
          <p:nvPr/>
        </p:nvSpPr>
        <p:spPr>
          <a:xfrm>
            <a:off x="764408" y="5407927"/>
            <a:ext cx="3501980" cy="670173"/>
          </a:xfrm>
          <a:prstGeom prst="rect">
            <a:avLst/>
          </a:prstGeom>
          <a:noFill/>
          <a:ln/>
        </p:spPr>
        <p:txBody>
          <a:bodyPr wrap="square" lIns="0" tIns="0" rIns="0" bIns="0" rtlCol="0" anchor="ctr"/>
          <a:lstStyle/>
          <a:p>
            <a:pPr>
              <a:lnSpc>
                <a:spcPct val="140000"/>
              </a:lnSpc>
            </a:pPr>
            <a:r>
              <a:rPr lang="en-US" sz="1082" b="1" dirty="0">
                <a:solidFill>
                  <a:srgbClr val="1B365D"/>
                </a:solidFill>
                <a:latin typeface="Liter" pitchFamily="34" charset="0"/>
                <a:ea typeface="Liter" pitchFamily="34" charset="-122"/>
                <a:cs typeface="Liter" pitchFamily="34" charset="-120"/>
              </a:rPr>
              <a:t>Unified Data Architecture:</a:t>
            </a:r>
            <a:r>
              <a:rPr lang="en-US" sz="1082" dirty="0">
                <a:solidFill>
                  <a:srgbClr val="1B365D"/>
                </a:solidFill>
                <a:latin typeface="Liter" pitchFamily="34" charset="0"/>
                <a:ea typeface="Liter" pitchFamily="34" charset="-122"/>
                <a:cs typeface="Liter" pitchFamily="34" charset="-120"/>
              </a:rPr>
              <a:t> Merging behavioral and profile records creates a multi-dimensional view of each subscriber</a:t>
            </a:r>
            <a:endParaRPr lang="en-US" sz="1600" dirty="0"/>
          </a:p>
        </p:txBody>
      </p:sp>
      <p:sp>
        <p:nvSpPr>
          <p:cNvPr id="14" name="Shape 12"/>
          <p:cNvSpPr/>
          <p:nvPr/>
        </p:nvSpPr>
        <p:spPr>
          <a:xfrm>
            <a:off x="4638946" y="1759564"/>
            <a:ext cx="7189566" cy="2421025"/>
          </a:xfrm>
          <a:prstGeom prst="roundRect">
            <a:avLst>
              <a:gd name="adj" fmla="val 0"/>
            </a:avLst>
          </a:prstGeom>
          <a:solidFill>
            <a:srgbClr val="FFFFFF"/>
          </a:solidFill>
          <a:ln w="22578">
            <a:solidFill>
              <a:srgbClr val="1B365D">
                <a:alpha val="20000"/>
              </a:srgbClr>
            </a:solidFill>
            <a:prstDash val="solid"/>
          </a:ln>
        </p:spPr>
      </p:sp>
      <p:sp>
        <p:nvSpPr>
          <p:cNvPr id="15" name="Shape 13"/>
          <p:cNvSpPr/>
          <p:nvPr/>
        </p:nvSpPr>
        <p:spPr>
          <a:xfrm>
            <a:off x="4865678" y="2000019"/>
            <a:ext cx="343679" cy="343679"/>
          </a:xfrm>
          <a:prstGeom prst="roundRect">
            <a:avLst>
              <a:gd name="adj" fmla="val 0"/>
            </a:avLst>
          </a:prstGeom>
          <a:solidFill>
            <a:srgbClr val="1B365D"/>
          </a:solidFill>
          <a:ln/>
        </p:spPr>
      </p:sp>
      <p:sp>
        <p:nvSpPr>
          <p:cNvPr id="16" name="Shape 14"/>
          <p:cNvSpPr/>
          <p:nvPr/>
        </p:nvSpPr>
        <p:spPr>
          <a:xfrm>
            <a:off x="4960190" y="2103123"/>
            <a:ext cx="154655" cy="137471"/>
          </a:xfrm>
          <a:custGeom>
            <a:avLst/>
            <a:gdLst/>
            <a:ahLst/>
            <a:cxnLst/>
            <a:rect l="l" t="t" r="r" b="b"/>
            <a:pathLst>
              <a:path w="154655" h="137471">
                <a:moveTo>
                  <a:pt x="0" y="25776"/>
                </a:moveTo>
                <a:cubicBezTo>
                  <a:pt x="0" y="16298"/>
                  <a:pt x="7706" y="8592"/>
                  <a:pt x="17184" y="8592"/>
                </a:cubicBezTo>
                <a:lnTo>
                  <a:pt x="137471" y="8592"/>
                </a:lnTo>
                <a:cubicBezTo>
                  <a:pt x="146949" y="8592"/>
                  <a:pt x="154655" y="16298"/>
                  <a:pt x="154655" y="25776"/>
                </a:cubicBezTo>
                <a:lnTo>
                  <a:pt x="0" y="25776"/>
                </a:lnTo>
                <a:close/>
                <a:moveTo>
                  <a:pt x="0" y="38664"/>
                </a:moveTo>
                <a:lnTo>
                  <a:pt x="154655" y="38664"/>
                </a:lnTo>
                <a:lnTo>
                  <a:pt x="154655" y="111696"/>
                </a:lnTo>
                <a:cubicBezTo>
                  <a:pt x="154655" y="121174"/>
                  <a:pt x="146949" y="128879"/>
                  <a:pt x="137471" y="128879"/>
                </a:cubicBezTo>
                <a:lnTo>
                  <a:pt x="17184" y="128879"/>
                </a:lnTo>
                <a:cubicBezTo>
                  <a:pt x="7706" y="128879"/>
                  <a:pt x="0" y="121174"/>
                  <a:pt x="0" y="111696"/>
                </a:cubicBezTo>
                <a:lnTo>
                  <a:pt x="0" y="38664"/>
                </a:lnTo>
                <a:close/>
                <a:moveTo>
                  <a:pt x="66400" y="111696"/>
                </a:moveTo>
                <a:cubicBezTo>
                  <a:pt x="71823" y="111696"/>
                  <a:pt x="75878" y="106487"/>
                  <a:pt x="72414" y="102298"/>
                </a:cubicBezTo>
                <a:cubicBezTo>
                  <a:pt x="68467" y="97546"/>
                  <a:pt x="62507" y="94512"/>
                  <a:pt x="55848" y="94512"/>
                </a:cubicBezTo>
                <a:lnTo>
                  <a:pt x="38664" y="94512"/>
                </a:lnTo>
                <a:cubicBezTo>
                  <a:pt x="32005" y="94512"/>
                  <a:pt x="26044" y="97546"/>
                  <a:pt x="22097" y="102298"/>
                </a:cubicBezTo>
                <a:cubicBezTo>
                  <a:pt x="18634" y="106487"/>
                  <a:pt x="22688" y="111696"/>
                  <a:pt x="28112" y="111696"/>
                </a:cubicBezTo>
                <a:lnTo>
                  <a:pt x="66373" y="111696"/>
                </a:lnTo>
                <a:close/>
                <a:moveTo>
                  <a:pt x="47256" y="83772"/>
                </a:moveTo>
                <a:cubicBezTo>
                  <a:pt x="55554" y="83772"/>
                  <a:pt x="62292" y="77034"/>
                  <a:pt x="62292" y="68736"/>
                </a:cubicBezTo>
                <a:cubicBezTo>
                  <a:pt x="62292" y="60437"/>
                  <a:pt x="55554" y="53700"/>
                  <a:pt x="47256" y="53700"/>
                </a:cubicBezTo>
                <a:cubicBezTo>
                  <a:pt x="38957" y="53700"/>
                  <a:pt x="32220" y="60437"/>
                  <a:pt x="32220" y="68736"/>
                </a:cubicBezTo>
                <a:cubicBezTo>
                  <a:pt x="32220" y="77034"/>
                  <a:pt x="38957" y="83772"/>
                  <a:pt x="47256" y="83772"/>
                </a:cubicBezTo>
                <a:close/>
                <a:moveTo>
                  <a:pt x="96660" y="55848"/>
                </a:moveTo>
                <a:cubicBezTo>
                  <a:pt x="93089" y="55848"/>
                  <a:pt x="90216" y="58721"/>
                  <a:pt x="90216" y="62292"/>
                </a:cubicBezTo>
                <a:cubicBezTo>
                  <a:pt x="90216" y="65863"/>
                  <a:pt x="93089" y="68736"/>
                  <a:pt x="96660" y="68736"/>
                </a:cubicBezTo>
                <a:lnTo>
                  <a:pt x="126732" y="68736"/>
                </a:lnTo>
                <a:cubicBezTo>
                  <a:pt x="130303" y="68736"/>
                  <a:pt x="133175" y="65863"/>
                  <a:pt x="133175" y="62292"/>
                </a:cubicBezTo>
                <a:cubicBezTo>
                  <a:pt x="133175" y="58721"/>
                  <a:pt x="130303" y="55848"/>
                  <a:pt x="126732" y="55848"/>
                </a:cubicBezTo>
                <a:lnTo>
                  <a:pt x="96660" y="55848"/>
                </a:lnTo>
                <a:close/>
                <a:moveTo>
                  <a:pt x="96660" y="81624"/>
                </a:moveTo>
                <a:cubicBezTo>
                  <a:pt x="93089" y="81624"/>
                  <a:pt x="90216" y="84497"/>
                  <a:pt x="90216" y="88068"/>
                </a:cubicBezTo>
                <a:cubicBezTo>
                  <a:pt x="90216" y="91639"/>
                  <a:pt x="93089" y="94512"/>
                  <a:pt x="96660" y="94512"/>
                </a:cubicBezTo>
                <a:lnTo>
                  <a:pt x="126732" y="94512"/>
                </a:lnTo>
                <a:cubicBezTo>
                  <a:pt x="130303" y="94512"/>
                  <a:pt x="133175" y="91639"/>
                  <a:pt x="133175" y="88068"/>
                </a:cubicBezTo>
                <a:cubicBezTo>
                  <a:pt x="133175" y="84497"/>
                  <a:pt x="130303" y="81624"/>
                  <a:pt x="126732" y="81624"/>
                </a:cubicBezTo>
                <a:lnTo>
                  <a:pt x="96660" y="81624"/>
                </a:lnTo>
                <a:close/>
              </a:path>
            </a:pathLst>
          </a:custGeom>
          <a:solidFill>
            <a:srgbClr val="FFFFFF"/>
          </a:solidFill>
          <a:ln/>
        </p:spPr>
      </p:sp>
      <p:sp>
        <p:nvSpPr>
          <p:cNvPr id="17" name="Text 15"/>
          <p:cNvSpPr/>
          <p:nvPr/>
        </p:nvSpPr>
        <p:spPr>
          <a:xfrm>
            <a:off x="5312460" y="2034387"/>
            <a:ext cx="2096440" cy="274943"/>
          </a:xfrm>
          <a:prstGeom prst="rect">
            <a:avLst/>
          </a:prstGeom>
          <a:noFill/>
          <a:ln/>
        </p:spPr>
        <p:txBody>
          <a:bodyPr wrap="square" lIns="0" tIns="0" rIns="0" bIns="0" rtlCol="0" anchor="ctr"/>
          <a:lstStyle/>
          <a:p>
            <a:pPr>
              <a:lnSpc>
                <a:spcPct val="110000"/>
              </a:lnSpc>
            </a:pPr>
            <a:r>
              <a:rPr lang="en-US" sz="1624" b="1" dirty="0">
                <a:solidFill>
                  <a:srgbClr val="1B365D"/>
                </a:solidFill>
                <a:latin typeface="Liter" pitchFamily="34" charset="0"/>
                <a:ea typeface="Liter" pitchFamily="34" charset="-122"/>
                <a:cs typeface="Liter" pitchFamily="34" charset="-120"/>
              </a:rPr>
              <a:t>Customer Profile Data</a:t>
            </a:r>
            <a:endParaRPr lang="en-US" sz="1600" dirty="0"/>
          </a:p>
        </p:txBody>
      </p:sp>
      <p:sp>
        <p:nvSpPr>
          <p:cNvPr id="18" name="Text 16"/>
          <p:cNvSpPr/>
          <p:nvPr/>
        </p:nvSpPr>
        <p:spPr>
          <a:xfrm>
            <a:off x="4865678" y="2515537"/>
            <a:ext cx="6830613" cy="206207"/>
          </a:xfrm>
          <a:prstGeom prst="rect">
            <a:avLst/>
          </a:prstGeom>
          <a:noFill/>
          <a:ln/>
        </p:spPr>
        <p:txBody>
          <a:bodyPr wrap="square" lIns="0" tIns="0" rIns="0" bIns="0" rtlCol="0" anchor="ctr"/>
          <a:lstStyle/>
          <a:p>
            <a:pPr>
              <a:lnSpc>
                <a:spcPct val="130000"/>
              </a:lnSpc>
            </a:pPr>
            <a:r>
              <a:rPr lang="en-US" sz="1082" dirty="0">
                <a:solidFill>
                  <a:srgbClr val="1B365D">
                    <a:alpha val="70000"/>
                  </a:srgbClr>
                </a:solidFill>
                <a:latin typeface="Liter" pitchFamily="34" charset="0"/>
                <a:ea typeface="Liter" pitchFamily="34" charset="-122"/>
                <a:cs typeface="Liter" pitchFamily="34" charset="-120"/>
              </a:rPr>
              <a:t>Captures baseline, long-term indicators</a:t>
            </a:r>
            <a:endParaRPr lang="en-US" sz="1600" dirty="0"/>
          </a:p>
        </p:txBody>
      </p:sp>
      <p:sp>
        <p:nvSpPr>
          <p:cNvPr id="19" name="Shape 17"/>
          <p:cNvSpPr/>
          <p:nvPr/>
        </p:nvSpPr>
        <p:spPr>
          <a:xfrm>
            <a:off x="4865678" y="2927952"/>
            <a:ext cx="68736" cy="68736"/>
          </a:xfrm>
          <a:prstGeom prst="roundRect">
            <a:avLst>
              <a:gd name="adj" fmla="val 0"/>
            </a:avLst>
          </a:prstGeom>
          <a:solidFill>
            <a:srgbClr val="20B2AA"/>
          </a:solidFill>
          <a:ln/>
        </p:spPr>
      </p:sp>
      <p:sp>
        <p:nvSpPr>
          <p:cNvPr id="20" name="Text 18"/>
          <p:cNvSpPr/>
          <p:nvPr/>
        </p:nvSpPr>
        <p:spPr>
          <a:xfrm>
            <a:off x="5037517" y="2859216"/>
            <a:ext cx="3350867"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Account Longevity:</a:t>
            </a:r>
            <a:r>
              <a:rPr lang="en-US" sz="1082" dirty="0">
                <a:solidFill>
                  <a:srgbClr val="1B365D"/>
                </a:solidFill>
                <a:latin typeface="Liter" pitchFamily="34" charset="0"/>
                <a:ea typeface="Liter" pitchFamily="34" charset="-122"/>
                <a:cs typeface="Liter" pitchFamily="34" charset="-120"/>
              </a:rPr>
              <a:t> Tenure duration and loyalty history</a:t>
            </a:r>
            <a:endParaRPr lang="en-US" sz="1600" dirty="0"/>
          </a:p>
        </p:txBody>
      </p:sp>
      <p:sp>
        <p:nvSpPr>
          <p:cNvPr id="21" name="Shape 19"/>
          <p:cNvSpPr/>
          <p:nvPr/>
        </p:nvSpPr>
        <p:spPr>
          <a:xfrm>
            <a:off x="4865678" y="3237262"/>
            <a:ext cx="68736" cy="68736"/>
          </a:xfrm>
          <a:prstGeom prst="roundRect">
            <a:avLst>
              <a:gd name="adj" fmla="val 0"/>
            </a:avLst>
          </a:prstGeom>
          <a:solidFill>
            <a:srgbClr val="20B2AA"/>
          </a:solidFill>
          <a:ln/>
        </p:spPr>
      </p:sp>
      <p:sp>
        <p:nvSpPr>
          <p:cNvPr id="22" name="Text 20"/>
          <p:cNvSpPr/>
          <p:nvPr/>
        </p:nvSpPr>
        <p:spPr>
          <a:xfrm>
            <a:off x="5037517" y="3168527"/>
            <a:ext cx="3505522"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Equipment Age:</a:t>
            </a:r>
            <a:r>
              <a:rPr lang="en-US" sz="1082" dirty="0">
                <a:solidFill>
                  <a:srgbClr val="1B365D"/>
                </a:solidFill>
                <a:latin typeface="Liter" pitchFamily="34" charset="0"/>
                <a:ea typeface="Liter" pitchFamily="34" charset="-122"/>
                <a:cs typeface="Liter" pitchFamily="34" charset="-120"/>
              </a:rPr>
              <a:t> Handset lifecycle and upgrade readiness</a:t>
            </a:r>
            <a:endParaRPr lang="en-US" sz="1600" dirty="0"/>
          </a:p>
        </p:txBody>
      </p:sp>
      <p:sp>
        <p:nvSpPr>
          <p:cNvPr id="23" name="Shape 21"/>
          <p:cNvSpPr/>
          <p:nvPr/>
        </p:nvSpPr>
        <p:spPr>
          <a:xfrm>
            <a:off x="4865678" y="3546573"/>
            <a:ext cx="68736" cy="68736"/>
          </a:xfrm>
          <a:prstGeom prst="roundRect">
            <a:avLst>
              <a:gd name="adj" fmla="val 0"/>
            </a:avLst>
          </a:prstGeom>
          <a:solidFill>
            <a:srgbClr val="20B2AA"/>
          </a:solidFill>
          <a:ln/>
        </p:spPr>
      </p:sp>
      <p:sp>
        <p:nvSpPr>
          <p:cNvPr id="24" name="Text 22"/>
          <p:cNvSpPr/>
          <p:nvPr/>
        </p:nvSpPr>
        <p:spPr>
          <a:xfrm>
            <a:off x="5037517" y="3477837"/>
            <a:ext cx="3196211"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Handset Pricing:</a:t>
            </a:r>
            <a:r>
              <a:rPr lang="en-US" sz="1082" dirty="0">
                <a:solidFill>
                  <a:srgbClr val="1B365D"/>
                </a:solidFill>
                <a:latin typeface="Liter" pitchFamily="34" charset="0"/>
                <a:ea typeface="Liter" pitchFamily="34" charset="-122"/>
                <a:cs typeface="Liter" pitchFamily="34" charset="-120"/>
              </a:rPr>
              <a:t> Device value and subsidy exposure</a:t>
            </a:r>
            <a:endParaRPr lang="en-US" sz="1600" dirty="0"/>
          </a:p>
        </p:txBody>
      </p:sp>
      <p:sp>
        <p:nvSpPr>
          <p:cNvPr id="25" name="Shape 23"/>
          <p:cNvSpPr/>
          <p:nvPr/>
        </p:nvSpPr>
        <p:spPr>
          <a:xfrm>
            <a:off x="4865678" y="3855884"/>
            <a:ext cx="68736" cy="68736"/>
          </a:xfrm>
          <a:prstGeom prst="roundRect">
            <a:avLst>
              <a:gd name="adj" fmla="val 0"/>
            </a:avLst>
          </a:prstGeom>
          <a:solidFill>
            <a:srgbClr val="20B2AA"/>
          </a:solidFill>
          <a:ln/>
        </p:spPr>
      </p:sp>
      <p:sp>
        <p:nvSpPr>
          <p:cNvPr id="26" name="Text 24"/>
          <p:cNvSpPr/>
          <p:nvPr/>
        </p:nvSpPr>
        <p:spPr>
          <a:xfrm>
            <a:off x="5037517" y="3787148"/>
            <a:ext cx="3402419"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Demographics:</a:t>
            </a:r>
            <a:r>
              <a:rPr lang="en-US" sz="1082" dirty="0">
                <a:solidFill>
                  <a:srgbClr val="1B365D"/>
                </a:solidFill>
                <a:latin typeface="Liter" pitchFamily="34" charset="0"/>
                <a:ea typeface="Liter" pitchFamily="34" charset="-122"/>
                <a:cs typeface="Liter" pitchFamily="34" charset="-120"/>
              </a:rPr>
              <a:t> Customer segmentation characteristics</a:t>
            </a:r>
            <a:endParaRPr lang="en-US" sz="1600" dirty="0"/>
          </a:p>
        </p:txBody>
      </p:sp>
      <p:sp>
        <p:nvSpPr>
          <p:cNvPr id="27" name="Shape 25"/>
          <p:cNvSpPr/>
          <p:nvPr/>
        </p:nvSpPr>
        <p:spPr>
          <a:xfrm>
            <a:off x="4638946" y="4304336"/>
            <a:ext cx="7189566" cy="2421025"/>
          </a:xfrm>
          <a:prstGeom prst="roundRect">
            <a:avLst>
              <a:gd name="adj" fmla="val 0"/>
            </a:avLst>
          </a:prstGeom>
          <a:solidFill>
            <a:srgbClr val="FFFFFF"/>
          </a:solidFill>
          <a:ln w="22578">
            <a:solidFill>
              <a:srgbClr val="20B2AA">
                <a:alpha val="30196"/>
              </a:srgbClr>
            </a:solidFill>
            <a:prstDash val="solid"/>
          </a:ln>
        </p:spPr>
      </p:sp>
      <p:sp>
        <p:nvSpPr>
          <p:cNvPr id="28" name="Shape 26"/>
          <p:cNvSpPr/>
          <p:nvPr/>
        </p:nvSpPr>
        <p:spPr>
          <a:xfrm>
            <a:off x="4865678" y="4642525"/>
            <a:ext cx="343679" cy="343679"/>
          </a:xfrm>
          <a:prstGeom prst="roundRect">
            <a:avLst>
              <a:gd name="adj" fmla="val 0"/>
            </a:avLst>
          </a:prstGeom>
          <a:solidFill>
            <a:srgbClr val="20B2AA"/>
          </a:solidFill>
          <a:ln/>
        </p:spPr>
      </p:sp>
      <p:sp>
        <p:nvSpPr>
          <p:cNvPr id="29" name="Shape 27"/>
          <p:cNvSpPr/>
          <p:nvPr/>
        </p:nvSpPr>
        <p:spPr>
          <a:xfrm>
            <a:off x="4968782" y="4745629"/>
            <a:ext cx="137471" cy="137471"/>
          </a:xfrm>
          <a:custGeom>
            <a:avLst/>
            <a:gdLst/>
            <a:ahLst/>
            <a:cxnLst/>
            <a:rect l="l" t="t" r="r" b="b"/>
            <a:pathLst>
              <a:path w="137471" h="137471">
                <a:moveTo>
                  <a:pt x="8592" y="8592"/>
                </a:moveTo>
                <a:cubicBezTo>
                  <a:pt x="13344" y="8592"/>
                  <a:pt x="17184" y="12432"/>
                  <a:pt x="17184" y="17184"/>
                </a:cubicBezTo>
                <a:lnTo>
                  <a:pt x="17184" y="107400"/>
                </a:lnTo>
                <a:cubicBezTo>
                  <a:pt x="17184" y="109762"/>
                  <a:pt x="19117" y="111696"/>
                  <a:pt x="21480" y="111696"/>
                </a:cubicBezTo>
                <a:lnTo>
                  <a:pt x="128879" y="111696"/>
                </a:lnTo>
                <a:cubicBezTo>
                  <a:pt x="133632" y="111696"/>
                  <a:pt x="137471" y="115535"/>
                  <a:pt x="137471" y="120288"/>
                </a:cubicBezTo>
                <a:cubicBezTo>
                  <a:pt x="137471" y="125040"/>
                  <a:pt x="133632" y="128879"/>
                  <a:pt x="128879" y="128879"/>
                </a:cubicBezTo>
                <a:lnTo>
                  <a:pt x="21480" y="128879"/>
                </a:lnTo>
                <a:cubicBezTo>
                  <a:pt x="9612" y="128879"/>
                  <a:pt x="0" y="119267"/>
                  <a:pt x="0" y="107400"/>
                </a:cubicBezTo>
                <a:lnTo>
                  <a:pt x="0" y="17184"/>
                </a:lnTo>
                <a:cubicBezTo>
                  <a:pt x="0" y="12432"/>
                  <a:pt x="3840" y="8592"/>
                  <a:pt x="8592" y="8592"/>
                </a:cubicBezTo>
                <a:close/>
                <a:moveTo>
                  <a:pt x="34368" y="25776"/>
                </a:moveTo>
                <a:cubicBezTo>
                  <a:pt x="34368" y="21023"/>
                  <a:pt x="38207" y="17184"/>
                  <a:pt x="42960" y="17184"/>
                </a:cubicBezTo>
                <a:lnTo>
                  <a:pt x="94512" y="17184"/>
                </a:lnTo>
                <a:cubicBezTo>
                  <a:pt x="99264" y="17184"/>
                  <a:pt x="103104" y="21023"/>
                  <a:pt x="103104" y="25776"/>
                </a:cubicBezTo>
                <a:cubicBezTo>
                  <a:pt x="103104" y="30528"/>
                  <a:pt x="99264" y="34368"/>
                  <a:pt x="94512" y="34368"/>
                </a:cubicBezTo>
                <a:lnTo>
                  <a:pt x="42960" y="34368"/>
                </a:lnTo>
                <a:cubicBezTo>
                  <a:pt x="38207" y="34368"/>
                  <a:pt x="34368" y="30528"/>
                  <a:pt x="34368" y="25776"/>
                </a:cubicBezTo>
                <a:close/>
                <a:moveTo>
                  <a:pt x="42960" y="47256"/>
                </a:moveTo>
                <a:lnTo>
                  <a:pt x="77328" y="47256"/>
                </a:lnTo>
                <a:cubicBezTo>
                  <a:pt x="82080" y="47256"/>
                  <a:pt x="85920" y="51095"/>
                  <a:pt x="85920" y="55848"/>
                </a:cubicBezTo>
                <a:cubicBezTo>
                  <a:pt x="85920" y="60600"/>
                  <a:pt x="82080" y="64440"/>
                  <a:pt x="77328" y="64440"/>
                </a:cubicBezTo>
                <a:lnTo>
                  <a:pt x="42960" y="64440"/>
                </a:lnTo>
                <a:cubicBezTo>
                  <a:pt x="38207" y="64440"/>
                  <a:pt x="34368" y="60600"/>
                  <a:pt x="34368" y="55848"/>
                </a:cubicBezTo>
                <a:cubicBezTo>
                  <a:pt x="34368" y="51095"/>
                  <a:pt x="38207" y="47256"/>
                  <a:pt x="42960" y="47256"/>
                </a:cubicBezTo>
                <a:close/>
                <a:moveTo>
                  <a:pt x="42960" y="77328"/>
                </a:moveTo>
                <a:lnTo>
                  <a:pt x="111696" y="77328"/>
                </a:lnTo>
                <a:cubicBezTo>
                  <a:pt x="116448" y="77328"/>
                  <a:pt x="120288" y="81167"/>
                  <a:pt x="120288" y="85920"/>
                </a:cubicBezTo>
                <a:cubicBezTo>
                  <a:pt x="120288" y="90672"/>
                  <a:pt x="116448" y="94512"/>
                  <a:pt x="111696" y="94512"/>
                </a:cubicBezTo>
                <a:lnTo>
                  <a:pt x="42960" y="94512"/>
                </a:lnTo>
                <a:cubicBezTo>
                  <a:pt x="38207" y="94512"/>
                  <a:pt x="34368" y="90672"/>
                  <a:pt x="34368" y="85920"/>
                </a:cubicBezTo>
                <a:cubicBezTo>
                  <a:pt x="34368" y="81167"/>
                  <a:pt x="38207" y="77328"/>
                  <a:pt x="42960" y="77328"/>
                </a:cubicBezTo>
                <a:close/>
              </a:path>
            </a:pathLst>
          </a:custGeom>
          <a:solidFill>
            <a:srgbClr val="FFFFFF"/>
          </a:solidFill>
          <a:ln/>
        </p:spPr>
      </p:sp>
      <p:sp>
        <p:nvSpPr>
          <p:cNvPr id="30" name="Text 28"/>
          <p:cNvSpPr/>
          <p:nvPr/>
        </p:nvSpPr>
        <p:spPr>
          <a:xfrm>
            <a:off x="5312460" y="4676893"/>
            <a:ext cx="2337015" cy="274943"/>
          </a:xfrm>
          <a:prstGeom prst="rect">
            <a:avLst/>
          </a:prstGeom>
          <a:noFill/>
          <a:ln/>
        </p:spPr>
        <p:txBody>
          <a:bodyPr wrap="square" lIns="0" tIns="0" rIns="0" bIns="0" rtlCol="0" anchor="ctr"/>
          <a:lstStyle/>
          <a:p>
            <a:pPr>
              <a:lnSpc>
                <a:spcPct val="110000"/>
              </a:lnSpc>
            </a:pPr>
            <a:r>
              <a:rPr lang="en-US" sz="1624" b="1" dirty="0">
                <a:solidFill>
                  <a:srgbClr val="1B365D"/>
                </a:solidFill>
                <a:latin typeface="Liter" pitchFamily="34" charset="0"/>
                <a:ea typeface="Liter" pitchFamily="34" charset="-122"/>
                <a:cs typeface="Liter" pitchFamily="34" charset="-120"/>
              </a:rPr>
              <a:t>Real-Time Behavior Data</a:t>
            </a:r>
            <a:endParaRPr lang="en-US" sz="1600" dirty="0"/>
          </a:p>
        </p:txBody>
      </p:sp>
      <p:sp>
        <p:nvSpPr>
          <p:cNvPr id="31" name="Text 29"/>
          <p:cNvSpPr/>
          <p:nvPr/>
        </p:nvSpPr>
        <p:spPr>
          <a:xfrm>
            <a:off x="4865678" y="5158043"/>
            <a:ext cx="6830613" cy="206207"/>
          </a:xfrm>
          <a:prstGeom prst="rect">
            <a:avLst/>
          </a:prstGeom>
          <a:noFill/>
          <a:ln/>
        </p:spPr>
        <p:txBody>
          <a:bodyPr wrap="square" lIns="0" tIns="0" rIns="0" bIns="0" rtlCol="0" anchor="ctr"/>
          <a:lstStyle/>
          <a:p>
            <a:pPr>
              <a:lnSpc>
                <a:spcPct val="130000"/>
              </a:lnSpc>
            </a:pPr>
            <a:r>
              <a:rPr lang="en-US" sz="1082" dirty="0">
                <a:solidFill>
                  <a:srgbClr val="1B365D">
                    <a:alpha val="70000"/>
                  </a:srgbClr>
                </a:solidFill>
                <a:latin typeface="Liter" pitchFamily="34" charset="0"/>
                <a:ea typeface="Liter" pitchFamily="34" charset="-122"/>
                <a:cs typeface="Liter" pitchFamily="34" charset="-120"/>
              </a:rPr>
              <a:t>Tracks fluid, monthly metrics</a:t>
            </a:r>
            <a:endParaRPr lang="en-US" sz="1600" dirty="0"/>
          </a:p>
        </p:txBody>
      </p:sp>
      <p:sp>
        <p:nvSpPr>
          <p:cNvPr id="32" name="Shape 30"/>
          <p:cNvSpPr/>
          <p:nvPr/>
        </p:nvSpPr>
        <p:spPr>
          <a:xfrm>
            <a:off x="4865678" y="5570457"/>
            <a:ext cx="68736" cy="68736"/>
          </a:xfrm>
          <a:prstGeom prst="roundRect">
            <a:avLst>
              <a:gd name="adj" fmla="val 0"/>
            </a:avLst>
          </a:prstGeom>
          <a:solidFill>
            <a:srgbClr val="D9534F"/>
          </a:solidFill>
          <a:ln/>
        </p:spPr>
      </p:sp>
      <p:sp>
        <p:nvSpPr>
          <p:cNvPr id="33" name="Text 31"/>
          <p:cNvSpPr/>
          <p:nvPr/>
        </p:nvSpPr>
        <p:spPr>
          <a:xfrm>
            <a:off x="5037517" y="5501722"/>
            <a:ext cx="2972820"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Mean Revenue:</a:t>
            </a:r>
            <a:r>
              <a:rPr lang="en-US" sz="1082" dirty="0">
                <a:solidFill>
                  <a:srgbClr val="1B365D"/>
                </a:solidFill>
                <a:latin typeface="Liter" pitchFamily="34" charset="0"/>
                <a:ea typeface="Liter" pitchFamily="34" charset="-122"/>
                <a:cs typeface="Liter" pitchFamily="34" charset="-120"/>
              </a:rPr>
              <a:t> Monthly ARPU and billing trends</a:t>
            </a:r>
            <a:endParaRPr lang="en-US" sz="1600" dirty="0"/>
          </a:p>
        </p:txBody>
      </p:sp>
      <p:sp>
        <p:nvSpPr>
          <p:cNvPr id="34" name="Shape 32"/>
          <p:cNvSpPr/>
          <p:nvPr/>
        </p:nvSpPr>
        <p:spPr>
          <a:xfrm>
            <a:off x="4865678" y="5879768"/>
            <a:ext cx="68736" cy="68736"/>
          </a:xfrm>
          <a:prstGeom prst="roundRect">
            <a:avLst>
              <a:gd name="adj" fmla="val 0"/>
            </a:avLst>
          </a:prstGeom>
          <a:solidFill>
            <a:srgbClr val="D9534F"/>
          </a:solidFill>
          <a:ln/>
        </p:spPr>
      </p:sp>
      <p:sp>
        <p:nvSpPr>
          <p:cNvPr id="35" name="Text 33"/>
          <p:cNvSpPr/>
          <p:nvPr/>
        </p:nvSpPr>
        <p:spPr>
          <a:xfrm>
            <a:off x="5037517" y="5811032"/>
            <a:ext cx="3857793"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Minutes of Usage (MOU):</a:t>
            </a:r>
            <a:r>
              <a:rPr lang="en-US" sz="1082" dirty="0">
                <a:solidFill>
                  <a:srgbClr val="1B365D"/>
                </a:solidFill>
                <a:latin typeface="Liter" pitchFamily="34" charset="0"/>
                <a:ea typeface="Liter" pitchFamily="34" charset="-122"/>
                <a:cs typeface="Liter" pitchFamily="34" charset="-120"/>
              </a:rPr>
              <a:t> Voice and data consumption velocity</a:t>
            </a:r>
            <a:endParaRPr lang="en-US" sz="1600" dirty="0"/>
          </a:p>
        </p:txBody>
      </p:sp>
      <p:sp>
        <p:nvSpPr>
          <p:cNvPr id="36" name="Shape 34"/>
          <p:cNvSpPr/>
          <p:nvPr/>
        </p:nvSpPr>
        <p:spPr>
          <a:xfrm>
            <a:off x="4865678" y="6189079"/>
            <a:ext cx="68736" cy="68736"/>
          </a:xfrm>
          <a:prstGeom prst="roundRect">
            <a:avLst>
              <a:gd name="adj" fmla="val 0"/>
            </a:avLst>
          </a:prstGeom>
          <a:solidFill>
            <a:srgbClr val="D9534F"/>
          </a:solidFill>
          <a:ln/>
        </p:spPr>
      </p:sp>
      <p:sp>
        <p:nvSpPr>
          <p:cNvPr id="37" name="Text 35"/>
          <p:cNvSpPr/>
          <p:nvPr/>
        </p:nvSpPr>
        <p:spPr>
          <a:xfrm>
            <a:off x="5037517" y="6120343"/>
            <a:ext cx="3067332"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Overage Charges:</a:t>
            </a:r>
            <a:r>
              <a:rPr lang="en-US" sz="1082" dirty="0">
                <a:solidFill>
                  <a:srgbClr val="1B365D"/>
                </a:solidFill>
                <a:latin typeface="Liter" pitchFamily="34" charset="0"/>
                <a:ea typeface="Liter" pitchFamily="34" charset="-122"/>
                <a:cs typeface="Liter" pitchFamily="34" charset="-120"/>
              </a:rPr>
              <a:t> Bill shock indicators and plan fit</a:t>
            </a:r>
            <a:endParaRPr lang="en-US" sz="1600" dirty="0"/>
          </a:p>
        </p:txBody>
      </p:sp>
      <p:sp>
        <p:nvSpPr>
          <p:cNvPr id="38" name="Shape 36"/>
          <p:cNvSpPr/>
          <p:nvPr/>
        </p:nvSpPr>
        <p:spPr>
          <a:xfrm>
            <a:off x="4865678" y="6498390"/>
            <a:ext cx="68736" cy="68736"/>
          </a:xfrm>
          <a:prstGeom prst="roundRect">
            <a:avLst>
              <a:gd name="adj" fmla="val 0"/>
            </a:avLst>
          </a:prstGeom>
          <a:solidFill>
            <a:srgbClr val="D9534F"/>
          </a:solidFill>
          <a:ln/>
        </p:spPr>
      </p:sp>
      <p:sp>
        <p:nvSpPr>
          <p:cNvPr id="39" name="Text 37"/>
          <p:cNvSpPr/>
          <p:nvPr/>
        </p:nvSpPr>
        <p:spPr>
          <a:xfrm>
            <a:off x="5037517" y="6429654"/>
            <a:ext cx="3514114" cy="206207"/>
          </a:xfrm>
          <a:prstGeom prst="rect">
            <a:avLst/>
          </a:prstGeom>
          <a:noFill/>
          <a:ln/>
        </p:spPr>
        <p:txBody>
          <a:bodyPr wrap="square" lIns="0" tIns="0" rIns="0" bIns="0" rtlCol="0" anchor="ctr"/>
          <a:lstStyle/>
          <a:p>
            <a:pPr>
              <a:lnSpc>
                <a:spcPct val="130000"/>
              </a:lnSpc>
            </a:pPr>
            <a:r>
              <a:rPr lang="en-US" sz="1082" b="1" dirty="0">
                <a:solidFill>
                  <a:srgbClr val="1B365D"/>
                </a:solidFill>
                <a:latin typeface="Liter" pitchFamily="34" charset="0"/>
                <a:ea typeface="Liter" pitchFamily="34" charset="-122"/>
                <a:cs typeface="Liter" pitchFamily="34" charset="-120"/>
              </a:rPr>
              <a:t>Network Service Issues:</a:t>
            </a:r>
            <a:r>
              <a:rPr lang="en-US" sz="1082" dirty="0">
                <a:solidFill>
                  <a:srgbClr val="1B365D"/>
                </a:solidFill>
                <a:latin typeface="Liter" pitchFamily="34" charset="0"/>
                <a:ea typeface="Liter" pitchFamily="34" charset="-122"/>
                <a:cs typeface="Liter" pitchFamily="34" charset="-120"/>
              </a:rPr>
              <a:t> Quality of experience complaints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20B2AA"/>
                </a:solidFill>
                <a:latin typeface="Liter" pitchFamily="34" charset="0"/>
                <a:ea typeface="Liter" pitchFamily="34" charset="-122"/>
                <a:cs typeface="Liter" pitchFamily="34" charset="-120"/>
              </a:rPr>
              <a:t>The Evidence</a:t>
            </a:r>
            <a:endParaRPr lang="en-US" sz="1600" dirty="0"/>
          </a:p>
        </p:txBody>
      </p:sp>
      <p:sp>
        <p:nvSpPr>
          <p:cNvPr id="3" name="Text 1"/>
          <p:cNvSpPr/>
          <p:nvPr/>
        </p:nvSpPr>
        <p:spPr>
          <a:xfrm>
            <a:off x="381000" y="685800"/>
            <a:ext cx="11610975" cy="904875"/>
          </a:xfrm>
          <a:prstGeom prst="rect">
            <a:avLst/>
          </a:prstGeom>
          <a:noFill/>
          <a:ln/>
        </p:spPr>
        <p:txBody>
          <a:bodyPr wrap="square" lIns="0" tIns="0" rIns="0" bIns="0" rtlCol="0" anchor="ctr"/>
          <a:lstStyle/>
          <a:p>
            <a:pPr>
              <a:lnSpc>
                <a:spcPct val="100000"/>
              </a:lnSpc>
            </a:pPr>
            <a:r>
              <a:rPr lang="en-US" sz="2850" b="1" dirty="0">
                <a:solidFill>
                  <a:srgbClr val="1B365D"/>
                </a:solidFill>
                <a:latin typeface="Liter" pitchFamily="34" charset="0"/>
                <a:ea typeface="Liter" pitchFamily="34" charset="-122"/>
                <a:cs typeface="Liter" pitchFamily="34" charset="-120"/>
              </a:rPr>
              <a:t>Exploratory Analysis Uncovers Visible Behavioral Predictors Long Before Churn Occurs</a:t>
            </a:r>
            <a:endParaRPr lang="en-US" sz="1600" dirty="0"/>
          </a:p>
        </p:txBody>
      </p:sp>
      <p:sp>
        <p:nvSpPr>
          <p:cNvPr id="4" name="Shape 2"/>
          <p:cNvSpPr/>
          <p:nvPr/>
        </p:nvSpPr>
        <p:spPr>
          <a:xfrm>
            <a:off x="381000" y="1704975"/>
            <a:ext cx="762000" cy="38100"/>
          </a:xfrm>
          <a:prstGeom prst="roundRect">
            <a:avLst>
              <a:gd name="adj" fmla="val 0"/>
            </a:avLst>
          </a:prstGeom>
          <a:solidFill>
            <a:srgbClr val="20B2AA"/>
          </a:solidFill>
          <a:ln/>
        </p:spPr>
      </p:sp>
      <p:sp>
        <p:nvSpPr>
          <p:cNvPr id="5" name="Shape 3"/>
          <p:cNvSpPr/>
          <p:nvPr/>
        </p:nvSpPr>
        <p:spPr>
          <a:xfrm>
            <a:off x="389467" y="1942042"/>
            <a:ext cx="5579533" cy="3480670"/>
          </a:xfrm>
          <a:prstGeom prst="roundRect">
            <a:avLst>
              <a:gd name="adj" fmla="val 0"/>
            </a:avLst>
          </a:prstGeom>
          <a:solidFill>
            <a:srgbClr val="1B365D">
              <a:alpha val="5098"/>
            </a:srgbClr>
          </a:solidFill>
          <a:ln w="22578">
            <a:solidFill>
              <a:srgbClr val="1B365D">
                <a:alpha val="20000"/>
              </a:srgbClr>
            </a:solidFill>
            <a:prstDash val="solid"/>
          </a:ln>
        </p:spPr>
      </p:sp>
      <p:sp>
        <p:nvSpPr>
          <p:cNvPr id="6" name="Shape 4"/>
          <p:cNvSpPr/>
          <p:nvPr/>
        </p:nvSpPr>
        <p:spPr>
          <a:xfrm>
            <a:off x="588433" y="2141009"/>
            <a:ext cx="381000" cy="381000"/>
          </a:xfrm>
          <a:prstGeom prst="roundRect">
            <a:avLst>
              <a:gd name="adj" fmla="val 0"/>
            </a:avLst>
          </a:prstGeom>
          <a:solidFill>
            <a:srgbClr val="1B365D"/>
          </a:solidFill>
          <a:ln/>
        </p:spPr>
      </p:sp>
      <p:sp>
        <p:nvSpPr>
          <p:cNvPr id="7" name="Shape 5"/>
          <p:cNvSpPr/>
          <p:nvPr/>
        </p:nvSpPr>
        <p:spPr>
          <a:xfrm>
            <a:off x="693208" y="2255309"/>
            <a:ext cx="171450" cy="152400"/>
          </a:xfrm>
          <a:custGeom>
            <a:avLst/>
            <a:gdLst/>
            <a:ahLst/>
            <a:cxnLst/>
            <a:rect l="l" t="t" r="r" b="b"/>
            <a:pathLst>
              <a:path w="171450" h="152400">
                <a:moveTo>
                  <a:pt x="152519" y="71438"/>
                </a:moveTo>
                <a:lnTo>
                  <a:pt x="100132" y="71438"/>
                </a:lnTo>
                <a:cubicBezTo>
                  <a:pt x="94863" y="71438"/>
                  <a:pt x="90607" y="67181"/>
                  <a:pt x="90607" y="61912"/>
                </a:cubicBezTo>
                <a:lnTo>
                  <a:pt x="90607" y="9525"/>
                </a:lnTo>
                <a:cubicBezTo>
                  <a:pt x="90607" y="4256"/>
                  <a:pt x="94893" y="-60"/>
                  <a:pt x="100102" y="625"/>
                </a:cubicBezTo>
                <a:cubicBezTo>
                  <a:pt x="131951" y="4852"/>
                  <a:pt x="157192" y="30093"/>
                  <a:pt x="161419" y="61942"/>
                </a:cubicBezTo>
                <a:cubicBezTo>
                  <a:pt x="162104" y="67151"/>
                  <a:pt x="157788" y="71438"/>
                  <a:pt x="152519" y="71438"/>
                </a:cubicBezTo>
                <a:close/>
                <a:moveTo>
                  <a:pt x="66258" y="11073"/>
                </a:moveTo>
                <a:cubicBezTo>
                  <a:pt x="71646" y="9942"/>
                  <a:pt x="76319" y="14347"/>
                  <a:pt x="76319" y="19854"/>
                </a:cubicBezTo>
                <a:lnTo>
                  <a:pt x="76319" y="78581"/>
                </a:lnTo>
                <a:cubicBezTo>
                  <a:pt x="76319" y="80248"/>
                  <a:pt x="76914" y="81855"/>
                  <a:pt x="77956" y="83135"/>
                </a:cubicBezTo>
                <a:lnTo>
                  <a:pt x="117277" y="130582"/>
                </a:lnTo>
                <a:cubicBezTo>
                  <a:pt x="120759" y="134779"/>
                  <a:pt x="120015" y="141119"/>
                  <a:pt x="115223" y="143708"/>
                </a:cubicBezTo>
                <a:cubicBezTo>
                  <a:pt x="105073" y="149245"/>
                  <a:pt x="93434" y="152400"/>
                  <a:pt x="81082" y="152400"/>
                </a:cubicBezTo>
                <a:cubicBezTo>
                  <a:pt x="41642" y="152400"/>
                  <a:pt x="9644" y="120402"/>
                  <a:pt x="9644" y="80962"/>
                </a:cubicBezTo>
                <a:cubicBezTo>
                  <a:pt x="9644" y="46583"/>
                  <a:pt x="33903" y="17889"/>
                  <a:pt x="66258" y="11073"/>
                </a:cubicBezTo>
                <a:close/>
                <a:moveTo>
                  <a:pt x="142220" y="85725"/>
                </a:moveTo>
                <a:lnTo>
                  <a:pt x="161270" y="85725"/>
                </a:lnTo>
                <a:cubicBezTo>
                  <a:pt x="166777" y="85725"/>
                  <a:pt x="171182" y="90398"/>
                  <a:pt x="170051" y="95786"/>
                </a:cubicBezTo>
                <a:cubicBezTo>
                  <a:pt x="167015" y="110192"/>
                  <a:pt x="159633" y="122992"/>
                  <a:pt x="149334" y="132755"/>
                </a:cubicBezTo>
                <a:cubicBezTo>
                  <a:pt x="145673" y="136237"/>
                  <a:pt x="139928" y="135493"/>
                  <a:pt x="136714" y="131594"/>
                </a:cubicBezTo>
                <a:lnTo>
                  <a:pt x="111591" y="101322"/>
                </a:lnTo>
                <a:cubicBezTo>
                  <a:pt x="106442" y="95101"/>
                  <a:pt x="110877" y="85725"/>
                  <a:pt x="118914" y="85725"/>
                </a:cubicBezTo>
                <a:lnTo>
                  <a:pt x="142190" y="85725"/>
                </a:lnTo>
                <a:close/>
              </a:path>
            </a:pathLst>
          </a:custGeom>
          <a:solidFill>
            <a:srgbClr val="FFFFFF"/>
          </a:solidFill>
          <a:ln/>
        </p:spPr>
      </p:sp>
      <p:sp>
        <p:nvSpPr>
          <p:cNvPr id="8" name="Text 6"/>
          <p:cNvSpPr/>
          <p:nvPr/>
        </p:nvSpPr>
        <p:spPr>
          <a:xfrm>
            <a:off x="1083733" y="2198159"/>
            <a:ext cx="2466975" cy="266700"/>
          </a:xfrm>
          <a:prstGeom prst="rect">
            <a:avLst/>
          </a:prstGeom>
          <a:noFill/>
          <a:ln/>
        </p:spPr>
        <p:txBody>
          <a:bodyPr wrap="square" lIns="0" tIns="0" rIns="0" bIns="0" rtlCol="0" anchor="ctr"/>
          <a:lstStyle/>
          <a:p>
            <a:pPr>
              <a:lnSpc>
                <a:spcPct val="120000"/>
              </a:lnSpc>
            </a:pPr>
            <a:r>
              <a:rPr lang="en-US" sz="1500" b="1" dirty="0">
                <a:solidFill>
                  <a:srgbClr val="1B365D"/>
                </a:solidFill>
                <a:latin typeface="Liter" pitchFamily="34" charset="0"/>
                <a:ea typeface="Liter" pitchFamily="34" charset="-122"/>
                <a:cs typeface="Liter" pitchFamily="34" charset="-120"/>
              </a:rPr>
              <a:t>Historical Churn Distribution</a:t>
            </a:r>
            <a:endParaRPr lang="en-US" sz="1600" dirty="0"/>
          </a:p>
        </p:txBody>
      </p:sp>
      <p:sp>
        <p:nvSpPr>
          <p:cNvPr id="9" name="Shape 7"/>
          <p:cNvSpPr/>
          <p:nvPr/>
        </p:nvSpPr>
        <p:spPr>
          <a:xfrm>
            <a:off x="6218767" y="1942042"/>
            <a:ext cx="5579533" cy="3480670"/>
          </a:xfrm>
          <a:prstGeom prst="roundRect">
            <a:avLst>
              <a:gd name="adj" fmla="val 0"/>
            </a:avLst>
          </a:prstGeom>
          <a:solidFill>
            <a:srgbClr val="20B2AA">
              <a:alpha val="5098"/>
            </a:srgbClr>
          </a:solidFill>
          <a:ln w="22578">
            <a:solidFill>
              <a:srgbClr val="20B2AA">
                <a:alpha val="30196"/>
              </a:srgbClr>
            </a:solidFill>
            <a:prstDash val="solid"/>
          </a:ln>
        </p:spPr>
      </p:sp>
      <p:sp>
        <p:nvSpPr>
          <p:cNvPr id="10" name="Shape 8"/>
          <p:cNvSpPr/>
          <p:nvPr/>
        </p:nvSpPr>
        <p:spPr>
          <a:xfrm>
            <a:off x="6417733" y="2141009"/>
            <a:ext cx="381000" cy="381000"/>
          </a:xfrm>
          <a:prstGeom prst="roundRect">
            <a:avLst>
              <a:gd name="adj" fmla="val 0"/>
            </a:avLst>
          </a:prstGeom>
          <a:solidFill>
            <a:srgbClr val="20B2AA"/>
          </a:solidFill>
          <a:ln/>
        </p:spPr>
      </p:sp>
      <p:sp>
        <p:nvSpPr>
          <p:cNvPr id="11" name="Shape 9"/>
          <p:cNvSpPr/>
          <p:nvPr/>
        </p:nvSpPr>
        <p:spPr>
          <a:xfrm>
            <a:off x="6551083" y="2255309"/>
            <a:ext cx="114300" cy="152400"/>
          </a:xfrm>
          <a:custGeom>
            <a:avLst/>
            <a:gdLst/>
            <a:ahLst/>
            <a:cxnLst/>
            <a:rect l="l" t="t" r="r" b="b"/>
            <a:pathLst>
              <a:path w="114300" h="152400">
                <a:moveTo>
                  <a:pt x="4763" y="19050"/>
                </a:moveTo>
                <a:cubicBezTo>
                  <a:pt x="4763" y="8543"/>
                  <a:pt x="13305" y="0"/>
                  <a:pt x="23813" y="0"/>
                </a:cubicBezTo>
                <a:lnTo>
                  <a:pt x="90488" y="0"/>
                </a:lnTo>
                <a:cubicBezTo>
                  <a:pt x="100995" y="0"/>
                  <a:pt x="109537" y="8543"/>
                  <a:pt x="109537" y="19050"/>
                </a:cubicBezTo>
                <a:lnTo>
                  <a:pt x="109537" y="133350"/>
                </a:lnTo>
                <a:cubicBezTo>
                  <a:pt x="109537" y="143857"/>
                  <a:pt x="100995" y="152400"/>
                  <a:pt x="90488" y="152400"/>
                </a:cubicBezTo>
                <a:lnTo>
                  <a:pt x="23813" y="152400"/>
                </a:lnTo>
                <a:cubicBezTo>
                  <a:pt x="13305" y="152400"/>
                  <a:pt x="4763" y="143857"/>
                  <a:pt x="4763" y="133350"/>
                </a:cubicBezTo>
                <a:lnTo>
                  <a:pt x="4763" y="19050"/>
                </a:lnTo>
                <a:close/>
                <a:moveTo>
                  <a:pt x="23813" y="19050"/>
                </a:moveTo>
                <a:lnTo>
                  <a:pt x="23813" y="109537"/>
                </a:lnTo>
                <a:lnTo>
                  <a:pt x="90488" y="109537"/>
                </a:lnTo>
                <a:lnTo>
                  <a:pt x="90488" y="19050"/>
                </a:lnTo>
                <a:lnTo>
                  <a:pt x="23813" y="19050"/>
                </a:lnTo>
                <a:close/>
                <a:moveTo>
                  <a:pt x="57150" y="140494"/>
                </a:moveTo>
                <a:cubicBezTo>
                  <a:pt x="62419" y="140494"/>
                  <a:pt x="66675" y="136237"/>
                  <a:pt x="66675" y="130969"/>
                </a:cubicBezTo>
                <a:cubicBezTo>
                  <a:pt x="66675" y="125700"/>
                  <a:pt x="62419" y="121444"/>
                  <a:pt x="57150" y="121444"/>
                </a:cubicBezTo>
                <a:cubicBezTo>
                  <a:pt x="51881" y="121444"/>
                  <a:pt x="47625" y="125700"/>
                  <a:pt x="47625" y="130969"/>
                </a:cubicBezTo>
                <a:cubicBezTo>
                  <a:pt x="47625" y="136237"/>
                  <a:pt x="51881" y="140494"/>
                  <a:pt x="57150" y="140494"/>
                </a:cubicBezTo>
                <a:close/>
              </a:path>
            </a:pathLst>
          </a:custGeom>
          <a:solidFill>
            <a:srgbClr val="FFFFFF"/>
          </a:solidFill>
          <a:ln/>
        </p:spPr>
      </p:sp>
      <p:sp>
        <p:nvSpPr>
          <p:cNvPr id="12" name="Text 10"/>
          <p:cNvSpPr/>
          <p:nvPr/>
        </p:nvSpPr>
        <p:spPr>
          <a:xfrm>
            <a:off x="6913033" y="2198159"/>
            <a:ext cx="2562225" cy="266700"/>
          </a:xfrm>
          <a:prstGeom prst="rect">
            <a:avLst/>
          </a:prstGeom>
          <a:noFill/>
          <a:ln/>
        </p:spPr>
        <p:txBody>
          <a:bodyPr wrap="square" lIns="0" tIns="0" rIns="0" bIns="0" rtlCol="0" anchor="ctr"/>
          <a:lstStyle/>
          <a:p>
            <a:pPr>
              <a:lnSpc>
                <a:spcPct val="120000"/>
              </a:lnSpc>
            </a:pPr>
            <a:r>
              <a:rPr lang="en-US" sz="1500" b="1" dirty="0">
                <a:solidFill>
                  <a:srgbClr val="1B365D"/>
                </a:solidFill>
                <a:latin typeface="Liter" pitchFamily="34" charset="0"/>
                <a:ea typeface="Liter" pitchFamily="34" charset="-122"/>
                <a:cs typeface="Liter" pitchFamily="34" charset="-120"/>
              </a:rPr>
              <a:t>Equipment Age vs. Flight Risk</a:t>
            </a:r>
            <a:endParaRPr lang="en-US" sz="1600" dirty="0"/>
          </a:p>
        </p:txBody>
      </p:sp>
      <p:sp>
        <p:nvSpPr>
          <p:cNvPr id="13" name="Shape 11"/>
          <p:cNvSpPr/>
          <p:nvPr/>
        </p:nvSpPr>
        <p:spPr>
          <a:xfrm>
            <a:off x="381000" y="5546917"/>
            <a:ext cx="11430000" cy="1154596"/>
          </a:xfrm>
          <a:prstGeom prst="roundRect">
            <a:avLst>
              <a:gd name="adj" fmla="val 0"/>
            </a:avLst>
          </a:prstGeom>
          <a:solidFill>
            <a:srgbClr val="D9534F"/>
          </a:solidFill>
          <a:ln/>
        </p:spPr>
      </p:sp>
      <p:sp>
        <p:nvSpPr>
          <p:cNvPr id="14" name="Shape 12"/>
          <p:cNvSpPr/>
          <p:nvPr/>
        </p:nvSpPr>
        <p:spPr>
          <a:xfrm>
            <a:off x="654844" y="5653763"/>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FFFFFF"/>
          </a:solidFill>
          <a:ln/>
        </p:spPr>
      </p:sp>
      <p:sp>
        <p:nvSpPr>
          <p:cNvPr id="15" name="Text 13"/>
          <p:cNvSpPr/>
          <p:nvPr/>
        </p:nvSpPr>
        <p:spPr>
          <a:xfrm>
            <a:off x="969433" y="5653763"/>
            <a:ext cx="105632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Strategic Insight</a:t>
            </a:r>
            <a:endParaRPr lang="en-US" sz="1600" dirty="0"/>
          </a:p>
        </p:txBody>
      </p:sp>
      <p:sp>
        <p:nvSpPr>
          <p:cNvPr id="16" name="Text 14"/>
          <p:cNvSpPr/>
          <p:nvPr/>
        </p:nvSpPr>
        <p:spPr>
          <a:xfrm>
            <a:off x="591873" y="5939513"/>
            <a:ext cx="11084454" cy="731875"/>
          </a:xfrm>
          <a:prstGeom prst="rect">
            <a:avLst/>
          </a:prstGeom>
          <a:noFill/>
          <a:ln/>
        </p:spPr>
        <p:txBody>
          <a:bodyPr wrap="square" lIns="0" tIns="0" rIns="0" bIns="0" rtlCol="0" anchor="ctr"/>
          <a:lstStyle/>
          <a:p>
            <a:pPr algn="just">
              <a:lnSpc>
                <a:spcPct val="140000"/>
              </a:lnSpc>
            </a:pPr>
            <a:r>
              <a:rPr lang="en-US" sz="1400" dirty="0">
                <a:solidFill>
                  <a:srgbClr val="FFFFFF"/>
                </a:solidFill>
                <a:latin typeface="Times New Roman" panose="02020603050405020304" pitchFamily="18" charset="0"/>
                <a:ea typeface="Liter" pitchFamily="34" charset="-122"/>
                <a:cs typeface="Times New Roman" panose="02020603050405020304" pitchFamily="18" charset="0"/>
              </a:rPr>
              <a:t>Churning customers operate on handsets that are </a:t>
            </a:r>
            <a:r>
              <a:rPr lang="en-US" sz="1400" b="1" dirty="0">
                <a:solidFill>
                  <a:srgbClr val="FFFFFF"/>
                </a:solidFill>
                <a:latin typeface="Times New Roman" panose="02020603050405020304" pitchFamily="18" charset="0"/>
                <a:ea typeface="Liter" pitchFamily="34" charset="-122"/>
                <a:cs typeface="Times New Roman" panose="02020603050405020304" pitchFamily="18" charset="0"/>
              </a:rPr>
              <a:t>significantly older</a:t>
            </a:r>
            <a:r>
              <a:rPr lang="en-US" sz="1400" dirty="0">
                <a:solidFill>
                  <a:srgbClr val="FFFFFF"/>
                </a:solidFill>
                <a:latin typeface="Times New Roman" panose="02020603050405020304" pitchFamily="18" charset="0"/>
                <a:ea typeface="Liter" pitchFamily="34" charset="-122"/>
                <a:cs typeface="Times New Roman" panose="02020603050405020304" pitchFamily="18" charset="0"/>
              </a:rPr>
              <a:t>, leaving them highly vulnerable to competitor upgrade promotions. This pattern reveals a clear intervention point: </a:t>
            </a:r>
            <a:r>
              <a:rPr lang="en-US" sz="1400" b="1" dirty="0">
                <a:solidFill>
                  <a:srgbClr val="FFFFFF"/>
                </a:solidFill>
                <a:latin typeface="Times New Roman" panose="02020603050405020304" pitchFamily="18" charset="0"/>
                <a:ea typeface="Liter" pitchFamily="34" charset="-122"/>
                <a:cs typeface="Times New Roman" panose="02020603050405020304" pitchFamily="18" charset="0"/>
              </a:rPr>
              <a:t>proactive hardware renewal offers</a:t>
            </a:r>
            <a:r>
              <a:rPr lang="en-US" sz="1400" dirty="0">
                <a:solidFill>
                  <a:srgbClr val="FFFFFF"/>
                </a:solidFill>
                <a:latin typeface="Times New Roman" panose="02020603050405020304" pitchFamily="18" charset="0"/>
                <a:ea typeface="Liter" pitchFamily="34" charset="-122"/>
                <a:cs typeface="Times New Roman" panose="02020603050405020304" pitchFamily="18" charset="0"/>
              </a:rPr>
              <a:t> can intercept flight-risk subscribers before they engage with competitor marketing.</a:t>
            </a:r>
            <a:endParaRPr lang="en-US" sz="1400" dirty="0">
              <a:latin typeface="Times New Roman" panose="02020603050405020304" pitchFamily="18" charset="0"/>
              <a:cs typeface="Times New Roman" panose="02020603050405020304" pitchFamily="18" charset="0"/>
            </a:endParaRPr>
          </a:p>
        </p:txBody>
      </p:sp>
      <p:pic>
        <p:nvPicPr>
          <p:cNvPr id="17" name="Image 0" descr="https://kimi-img.moonshot.cn/pub/slides/26-06-13-05:50:10-d8m7u4htoom012kd0on0.png"/>
          <p:cNvPicPr>
            <a:picLocks noChangeAspect="1"/>
          </p:cNvPicPr>
          <p:nvPr/>
        </p:nvPicPr>
        <p:blipFill>
          <a:blip r:embed="rId3"/>
          <a:stretch>
            <a:fillRect/>
          </a:stretch>
        </p:blipFill>
        <p:spPr>
          <a:xfrm>
            <a:off x="499968" y="2682876"/>
            <a:ext cx="5345043" cy="2586669"/>
          </a:xfrm>
          <a:prstGeom prst="rect">
            <a:avLst/>
          </a:prstGeom>
        </p:spPr>
      </p:pic>
      <p:pic>
        <p:nvPicPr>
          <p:cNvPr id="18" name="Image 1" descr="https://kimi-img.moonshot.cn/pub/slides/26-06-13-05:51:40-d8m7ur1kotdbl8b5etlg.png"/>
          <p:cNvPicPr>
            <a:picLocks noChangeAspect="1"/>
          </p:cNvPicPr>
          <p:nvPr/>
        </p:nvPicPr>
        <p:blipFill>
          <a:blip r:embed="rId4"/>
          <a:stretch>
            <a:fillRect/>
          </a:stretch>
        </p:blipFill>
        <p:spPr>
          <a:xfrm>
            <a:off x="6360583" y="2682876"/>
            <a:ext cx="5315744" cy="2575155"/>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1513" y="341513"/>
            <a:ext cx="11577277" cy="204908"/>
          </a:xfrm>
          <a:prstGeom prst="rect">
            <a:avLst/>
          </a:prstGeom>
          <a:noFill/>
          <a:ln/>
        </p:spPr>
        <p:txBody>
          <a:bodyPr wrap="square" lIns="0" tIns="0" rIns="0" bIns="0" rtlCol="0" anchor="ctr"/>
          <a:lstStyle/>
          <a:p>
            <a:pPr>
              <a:lnSpc>
                <a:spcPct val="130000"/>
              </a:lnSpc>
            </a:pPr>
            <a:r>
              <a:rPr lang="en-US" sz="1076" b="1" kern="0" spc="108" dirty="0">
                <a:solidFill>
                  <a:srgbClr val="20B2AA"/>
                </a:solidFill>
                <a:latin typeface="Liter" pitchFamily="34" charset="0"/>
                <a:ea typeface="Liter" pitchFamily="34" charset="-122"/>
                <a:cs typeface="Liter" pitchFamily="34" charset="-120"/>
              </a:rPr>
              <a:t>The Predictive Engine</a:t>
            </a:r>
            <a:endParaRPr lang="en-US" sz="1600" dirty="0"/>
          </a:p>
        </p:txBody>
      </p:sp>
      <p:sp>
        <p:nvSpPr>
          <p:cNvPr id="3" name="Text 1"/>
          <p:cNvSpPr/>
          <p:nvPr/>
        </p:nvSpPr>
        <p:spPr>
          <a:xfrm>
            <a:off x="341513" y="614723"/>
            <a:ext cx="11671193" cy="811092"/>
          </a:xfrm>
          <a:prstGeom prst="rect">
            <a:avLst/>
          </a:prstGeom>
          <a:noFill/>
          <a:ln/>
        </p:spPr>
        <p:txBody>
          <a:bodyPr wrap="square" lIns="0" tIns="0" rIns="0" bIns="0" rtlCol="0" anchor="ctr"/>
          <a:lstStyle/>
          <a:p>
            <a:pPr>
              <a:lnSpc>
                <a:spcPct val="100000"/>
              </a:lnSpc>
            </a:pPr>
            <a:r>
              <a:rPr lang="en-US" sz="2555" b="1" dirty="0">
                <a:solidFill>
                  <a:srgbClr val="1B365D"/>
                </a:solidFill>
                <a:latin typeface="Liter" pitchFamily="34" charset="0"/>
                <a:ea typeface="Liter" pitchFamily="34" charset="-122"/>
                <a:cs typeface="Liter" pitchFamily="34" charset="-120"/>
              </a:rPr>
              <a:t>Overcoming the Accuracy Paradox by Calibrating Our AI to Optimize for Profitability</a:t>
            </a:r>
            <a:endParaRPr lang="en-US" sz="1600" dirty="0"/>
          </a:p>
        </p:txBody>
      </p:sp>
      <p:sp>
        <p:nvSpPr>
          <p:cNvPr id="4" name="Shape 2"/>
          <p:cNvSpPr/>
          <p:nvPr/>
        </p:nvSpPr>
        <p:spPr>
          <a:xfrm>
            <a:off x="341513" y="1528269"/>
            <a:ext cx="683025" cy="34151"/>
          </a:xfrm>
          <a:prstGeom prst="roundRect">
            <a:avLst>
              <a:gd name="adj" fmla="val 0"/>
            </a:avLst>
          </a:prstGeom>
          <a:solidFill>
            <a:srgbClr val="20B2AA"/>
          </a:solidFill>
          <a:ln/>
        </p:spPr>
      </p:sp>
      <p:sp>
        <p:nvSpPr>
          <p:cNvPr id="5" name="Shape 3"/>
          <p:cNvSpPr/>
          <p:nvPr/>
        </p:nvSpPr>
        <p:spPr>
          <a:xfrm>
            <a:off x="341513" y="1733176"/>
            <a:ext cx="2433277" cy="1570958"/>
          </a:xfrm>
          <a:prstGeom prst="roundRect">
            <a:avLst>
              <a:gd name="adj" fmla="val 0"/>
            </a:avLst>
          </a:prstGeom>
          <a:solidFill>
            <a:srgbClr val="1B365D"/>
          </a:solidFill>
          <a:ln/>
        </p:spPr>
      </p:sp>
      <p:sp>
        <p:nvSpPr>
          <p:cNvPr id="6" name="Shape 4"/>
          <p:cNvSpPr/>
          <p:nvPr/>
        </p:nvSpPr>
        <p:spPr>
          <a:xfrm>
            <a:off x="1318025" y="1903933"/>
            <a:ext cx="478118" cy="478118"/>
          </a:xfrm>
          <a:prstGeom prst="roundRect">
            <a:avLst>
              <a:gd name="adj" fmla="val 0"/>
            </a:avLst>
          </a:prstGeom>
          <a:solidFill>
            <a:srgbClr val="FFFFFF">
              <a:alpha val="20000"/>
            </a:srgbClr>
          </a:solidFill>
          <a:ln/>
        </p:spPr>
      </p:sp>
      <p:sp>
        <p:nvSpPr>
          <p:cNvPr id="7" name="Shape 5"/>
          <p:cNvSpPr/>
          <p:nvPr/>
        </p:nvSpPr>
        <p:spPr>
          <a:xfrm>
            <a:off x="1467437" y="2040538"/>
            <a:ext cx="179294" cy="204908"/>
          </a:xfrm>
          <a:custGeom>
            <a:avLst/>
            <a:gdLst/>
            <a:ahLst/>
            <a:cxnLst/>
            <a:rect l="l" t="t" r="r" b="b"/>
            <a:pathLst>
              <a:path w="179294" h="204908">
                <a:moveTo>
                  <a:pt x="179294" y="82363"/>
                </a:moveTo>
                <a:cubicBezTo>
                  <a:pt x="173371" y="86285"/>
                  <a:pt x="166567" y="89447"/>
                  <a:pt x="159484" y="91968"/>
                </a:cubicBezTo>
                <a:cubicBezTo>
                  <a:pt x="140674" y="98692"/>
                  <a:pt x="115981" y="102454"/>
                  <a:pt x="89647" y="102454"/>
                </a:cubicBezTo>
                <a:cubicBezTo>
                  <a:pt x="63313" y="102454"/>
                  <a:pt x="38580" y="98652"/>
                  <a:pt x="19810" y="91968"/>
                </a:cubicBezTo>
                <a:cubicBezTo>
                  <a:pt x="12767" y="89447"/>
                  <a:pt x="5923" y="86285"/>
                  <a:pt x="0" y="82363"/>
                </a:cubicBezTo>
                <a:lnTo>
                  <a:pt x="0" y="115261"/>
                </a:lnTo>
                <a:cubicBezTo>
                  <a:pt x="0" y="132950"/>
                  <a:pt x="40141" y="147277"/>
                  <a:pt x="89647" y="147277"/>
                </a:cubicBezTo>
                <a:cubicBezTo>
                  <a:pt x="139153" y="147277"/>
                  <a:pt x="179294" y="132950"/>
                  <a:pt x="179294" y="115261"/>
                </a:cubicBezTo>
                <a:lnTo>
                  <a:pt x="179294" y="82363"/>
                </a:lnTo>
                <a:close/>
                <a:moveTo>
                  <a:pt x="179294" y="51227"/>
                </a:moveTo>
                <a:lnTo>
                  <a:pt x="179294" y="32017"/>
                </a:lnTo>
                <a:cubicBezTo>
                  <a:pt x="179294" y="14328"/>
                  <a:pt x="139153" y="0"/>
                  <a:pt x="89647" y="0"/>
                </a:cubicBezTo>
                <a:cubicBezTo>
                  <a:pt x="40141" y="0"/>
                  <a:pt x="0" y="14328"/>
                  <a:pt x="0" y="32017"/>
                </a:cubicBezTo>
                <a:lnTo>
                  <a:pt x="0" y="51227"/>
                </a:lnTo>
                <a:cubicBezTo>
                  <a:pt x="0" y="68916"/>
                  <a:pt x="40141" y="83244"/>
                  <a:pt x="89647" y="83244"/>
                </a:cubicBezTo>
                <a:cubicBezTo>
                  <a:pt x="139153" y="83244"/>
                  <a:pt x="179294" y="68916"/>
                  <a:pt x="179294" y="51227"/>
                </a:cubicBezTo>
                <a:close/>
                <a:moveTo>
                  <a:pt x="159484" y="156002"/>
                </a:moveTo>
                <a:cubicBezTo>
                  <a:pt x="140714" y="162685"/>
                  <a:pt x="116021" y="166487"/>
                  <a:pt x="89647" y="166487"/>
                </a:cubicBezTo>
                <a:cubicBezTo>
                  <a:pt x="63273" y="166487"/>
                  <a:pt x="38580" y="162685"/>
                  <a:pt x="19810" y="156002"/>
                </a:cubicBezTo>
                <a:cubicBezTo>
                  <a:pt x="12767" y="153481"/>
                  <a:pt x="5923" y="150319"/>
                  <a:pt x="0" y="146397"/>
                </a:cubicBezTo>
                <a:lnTo>
                  <a:pt x="0" y="172891"/>
                </a:lnTo>
                <a:cubicBezTo>
                  <a:pt x="0" y="190580"/>
                  <a:pt x="40141" y="204908"/>
                  <a:pt x="89647" y="204908"/>
                </a:cubicBezTo>
                <a:cubicBezTo>
                  <a:pt x="139153" y="204908"/>
                  <a:pt x="179294" y="190580"/>
                  <a:pt x="179294" y="172891"/>
                </a:cubicBezTo>
                <a:lnTo>
                  <a:pt x="179294" y="146397"/>
                </a:lnTo>
                <a:cubicBezTo>
                  <a:pt x="173371" y="150319"/>
                  <a:pt x="166567" y="153481"/>
                  <a:pt x="159484" y="156002"/>
                </a:cubicBezTo>
                <a:close/>
              </a:path>
            </a:pathLst>
          </a:custGeom>
          <a:solidFill>
            <a:srgbClr val="FFFFFF"/>
          </a:solidFill>
          <a:ln/>
        </p:spPr>
      </p:sp>
      <p:sp>
        <p:nvSpPr>
          <p:cNvPr id="8" name="Text 6"/>
          <p:cNvSpPr/>
          <p:nvPr/>
        </p:nvSpPr>
        <p:spPr>
          <a:xfrm>
            <a:off x="473849" y="2484504"/>
            <a:ext cx="2168605" cy="239059"/>
          </a:xfrm>
          <a:prstGeom prst="rect">
            <a:avLst/>
          </a:prstGeom>
          <a:noFill/>
          <a:ln/>
        </p:spPr>
        <p:txBody>
          <a:bodyPr wrap="square" lIns="0" tIns="0" rIns="0" bIns="0" rtlCol="0" anchor="ctr"/>
          <a:lstStyle/>
          <a:p>
            <a:pPr algn="ctr">
              <a:lnSpc>
                <a:spcPct val="130000"/>
              </a:lnSpc>
            </a:pPr>
            <a:r>
              <a:rPr lang="en-US" sz="1210" b="1" dirty="0">
                <a:solidFill>
                  <a:srgbClr val="FFFFFF"/>
                </a:solidFill>
                <a:latin typeface="Liter" pitchFamily="34" charset="0"/>
                <a:ea typeface="Liter" pitchFamily="34" charset="-122"/>
                <a:cs typeface="Liter" pitchFamily="34" charset="-120"/>
              </a:rPr>
              <a:t>Raw Customer Records</a:t>
            </a:r>
            <a:endParaRPr lang="en-US" sz="1600" dirty="0"/>
          </a:p>
        </p:txBody>
      </p:sp>
      <p:sp>
        <p:nvSpPr>
          <p:cNvPr id="9" name="Text 7"/>
          <p:cNvSpPr/>
          <p:nvPr/>
        </p:nvSpPr>
        <p:spPr>
          <a:xfrm>
            <a:off x="482387" y="2791866"/>
            <a:ext cx="2151529" cy="341513"/>
          </a:xfrm>
          <a:prstGeom prst="rect">
            <a:avLst/>
          </a:prstGeom>
          <a:noFill/>
          <a:ln/>
        </p:spPr>
        <p:txBody>
          <a:bodyPr wrap="square" lIns="0" tIns="0" rIns="0" bIns="0" rtlCol="0" anchor="ctr"/>
          <a:lstStyle/>
          <a:p>
            <a:pPr algn="ctr">
              <a:lnSpc>
                <a:spcPct val="120000"/>
              </a:lnSpc>
            </a:pPr>
            <a:r>
              <a:rPr lang="en-US" sz="941" dirty="0">
                <a:solidFill>
                  <a:srgbClr val="FFFFFF">
                    <a:alpha val="80000"/>
                  </a:srgbClr>
                </a:solidFill>
                <a:latin typeface="Liter" pitchFamily="34" charset="0"/>
                <a:ea typeface="Liter" pitchFamily="34" charset="-122"/>
                <a:cs typeface="Liter" pitchFamily="34" charset="-120"/>
              </a:rPr>
              <a:t>100K unified accounts with behavioral and profile data</a:t>
            </a:r>
            <a:endParaRPr lang="en-US" sz="1600" dirty="0"/>
          </a:p>
        </p:txBody>
      </p:sp>
      <p:sp>
        <p:nvSpPr>
          <p:cNvPr id="10" name="Shape 8"/>
          <p:cNvSpPr/>
          <p:nvPr/>
        </p:nvSpPr>
        <p:spPr>
          <a:xfrm>
            <a:off x="2943530" y="2390588"/>
            <a:ext cx="256134" cy="256134"/>
          </a:xfrm>
          <a:custGeom>
            <a:avLst/>
            <a:gdLst/>
            <a:ahLst/>
            <a:cxnLst/>
            <a:rect l="l" t="t" r="r" b="b"/>
            <a:pathLst>
              <a:path w="256134" h="256134">
                <a:moveTo>
                  <a:pt x="251432" y="139373"/>
                </a:moveTo>
                <a:cubicBezTo>
                  <a:pt x="257685" y="133120"/>
                  <a:pt x="257685" y="122965"/>
                  <a:pt x="251432" y="116711"/>
                </a:cubicBezTo>
                <a:lnTo>
                  <a:pt x="171390" y="36669"/>
                </a:lnTo>
                <a:cubicBezTo>
                  <a:pt x="165137" y="30416"/>
                  <a:pt x="154981" y="30416"/>
                  <a:pt x="148728" y="36669"/>
                </a:cubicBezTo>
                <a:cubicBezTo>
                  <a:pt x="142475" y="42923"/>
                  <a:pt x="142475" y="53078"/>
                  <a:pt x="148728" y="59331"/>
                </a:cubicBezTo>
                <a:lnTo>
                  <a:pt x="201456" y="112059"/>
                </a:lnTo>
                <a:lnTo>
                  <a:pt x="16008" y="112059"/>
                </a:lnTo>
                <a:cubicBezTo>
                  <a:pt x="7154" y="112059"/>
                  <a:pt x="0" y="119213"/>
                  <a:pt x="0" y="128067"/>
                </a:cubicBezTo>
                <a:cubicBezTo>
                  <a:pt x="0" y="136922"/>
                  <a:pt x="7154" y="144076"/>
                  <a:pt x="16008" y="144076"/>
                </a:cubicBezTo>
                <a:lnTo>
                  <a:pt x="201456" y="144076"/>
                </a:lnTo>
                <a:lnTo>
                  <a:pt x="148728" y="196803"/>
                </a:lnTo>
                <a:cubicBezTo>
                  <a:pt x="142475" y="203057"/>
                  <a:pt x="142475" y="213212"/>
                  <a:pt x="148728" y="219465"/>
                </a:cubicBezTo>
                <a:cubicBezTo>
                  <a:pt x="154981" y="225718"/>
                  <a:pt x="165137" y="225718"/>
                  <a:pt x="171390" y="219465"/>
                </a:cubicBezTo>
                <a:lnTo>
                  <a:pt x="251432" y="139423"/>
                </a:lnTo>
                <a:close/>
              </a:path>
            </a:pathLst>
          </a:custGeom>
          <a:solidFill>
            <a:srgbClr val="20B2AA"/>
          </a:solidFill>
          <a:ln/>
        </p:spPr>
      </p:sp>
      <p:sp>
        <p:nvSpPr>
          <p:cNvPr id="11" name="Shape 9"/>
          <p:cNvSpPr/>
          <p:nvPr/>
        </p:nvSpPr>
        <p:spPr>
          <a:xfrm>
            <a:off x="3366152" y="1733176"/>
            <a:ext cx="2433277" cy="1570958"/>
          </a:xfrm>
          <a:prstGeom prst="roundRect">
            <a:avLst>
              <a:gd name="adj" fmla="val 0"/>
            </a:avLst>
          </a:prstGeom>
          <a:solidFill>
            <a:srgbClr val="20B2AA"/>
          </a:solidFill>
          <a:ln/>
        </p:spPr>
      </p:sp>
      <p:sp>
        <p:nvSpPr>
          <p:cNvPr id="12" name="Shape 10"/>
          <p:cNvSpPr/>
          <p:nvPr/>
        </p:nvSpPr>
        <p:spPr>
          <a:xfrm>
            <a:off x="4342665" y="1903933"/>
            <a:ext cx="478118" cy="478118"/>
          </a:xfrm>
          <a:prstGeom prst="roundRect">
            <a:avLst>
              <a:gd name="adj" fmla="val 0"/>
            </a:avLst>
          </a:prstGeom>
          <a:solidFill>
            <a:srgbClr val="FFFFFF">
              <a:alpha val="20000"/>
            </a:srgbClr>
          </a:solidFill>
          <a:ln/>
        </p:spPr>
      </p:sp>
      <p:sp>
        <p:nvSpPr>
          <p:cNvPr id="13" name="Shape 11"/>
          <p:cNvSpPr/>
          <p:nvPr/>
        </p:nvSpPr>
        <p:spPr>
          <a:xfrm>
            <a:off x="4453657" y="2040538"/>
            <a:ext cx="256134" cy="204908"/>
          </a:xfrm>
          <a:custGeom>
            <a:avLst/>
            <a:gdLst/>
            <a:ahLst/>
            <a:cxnLst/>
            <a:rect l="l" t="t" r="r" b="b"/>
            <a:pathLst>
              <a:path w="256134" h="204908">
                <a:moveTo>
                  <a:pt x="166447" y="84244"/>
                </a:moveTo>
                <a:cubicBezTo>
                  <a:pt x="171330" y="82924"/>
                  <a:pt x="176453" y="85245"/>
                  <a:pt x="178654" y="89767"/>
                </a:cubicBezTo>
                <a:lnTo>
                  <a:pt x="186098" y="104815"/>
                </a:lnTo>
                <a:cubicBezTo>
                  <a:pt x="190220" y="105375"/>
                  <a:pt x="194262" y="106496"/>
                  <a:pt x="198064" y="108057"/>
                </a:cubicBezTo>
                <a:lnTo>
                  <a:pt x="212071" y="98732"/>
                </a:lnTo>
                <a:cubicBezTo>
                  <a:pt x="216274" y="95930"/>
                  <a:pt x="221836" y="96491"/>
                  <a:pt x="225398" y="100053"/>
                </a:cubicBezTo>
                <a:lnTo>
                  <a:pt x="233082" y="107737"/>
                </a:lnTo>
                <a:cubicBezTo>
                  <a:pt x="236644" y="111298"/>
                  <a:pt x="237205" y="116901"/>
                  <a:pt x="234403" y="121064"/>
                </a:cubicBezTo>
                <a:lnTo>
                  <a:pt x="225078" y="135031"/>
                </a:lnTo>
                <a:cubicBezTo>
                  <a:pt x="225839" y="136912"/>
                  <a:pt x="226519" y="138873"/>
                  <a:pt x="227079" y="140914"/>
                </a:cubicBezTo>
                <a:cubicBezTo>
                  <a:pt x="227639" y="142955"/>
                  <a:pt x="228000" y="144956"/>
                  <a:pt x="228280" y="146997"/>
                </a:cubicBezTo>
                <a:lnTo>
                  <a:pt x="243368" y="154441"/>
                </a:lnTo>
                <a:cubicBezTo>
                  <a:pt x="247890" y="156682"/>
                  <a:pt x="250211" y="161805"/>
                  <a:pt x="248891" y="166647"/>
                </a:cubicBezTo>
                <a:lnTo>
                  <a:pt x="246089" y="177133"/>
                </a:lnTo>
                <a:cubicBezTo>
                  <a:pt x="244768" y="181976"/>
                  <a:pt x="240246" y="185257"/>
                  <a:pt x="235203" y="184937"/>
                </a:cubicBezTo>
                <a:lnTo>
                  <a:pt x="218395" y="183857"/>
                </a:lnTo>
                <a:cubicBezTo>
                  <a:pt x="215873" y="187098"/>
                  <a:pt x="212952" y="190100"/>
                  <a:pt x="209630" y="192661"/>
                </a:cubicBezTo>
                <a:lnTo>
                  <a:pt x="210711" y="209430"/>
                </a:lnTo>
                <a:cubicBezTo>
                  <a:pt x="211031" y="214473"/>
                  <a:pt x="207749" y="219035"/>
                  <a:pt x="202907" y="220316"/>
                </a:cubicBezTo>
                <a:lnTo>
                  <a:pt x="192421" y="223117"/>
                </a:lnTo>
                <a:cubicBezTo>
                  <a:pt x="187538" y="224438"/>
                  <a:pt x="182456" y="222117"/>
                  <a:pt x="180215" y="217594"/>
                </a:cubicBezTo>
                <a:lnTo>
                  <a:pt x="172771" y="202546"/>
                </a:lnTo>
                <a:cubicBezTo>
                  <a:pt x="168649" y="201986"/>
                  <a:pt x="164606" y="200865"/>
                  <a:pt x="160804" y="199305"/>
                </a:cubicBezTo>
                <a:lnTo>
                  <a:pt x="146797" y="208630"/>
                </a:lnTo>
                <a:cubicBezTo>
                  <a:pt x="142595" y="211431"/>
                  <a:pt x="137032" y="210871"/>
                  <a:pt x="133470" y="207309"/>
                </a:cubicBezTo>
                <a:lnTo>
                  <a:pt x="125786" y="199625"/>
                </a:lnTo>
                <a:cubicBezTo>
                  <a:pt x="122224" y="196063"/>
                  <a:pt x="121664" y="190500"/>
                  <a:pt x="124465" y="186298"/>
                </a:cubicBezTo>
                <a:lnTo>
                  <a:pt x="133790" y="172290"/>
                </a:lnTo>
                <a:cubicBezTo>
                  <a:pt x="133030" y="170409"/>
                  <a:pt x="132349" y="168448"/>
                  <a:pt x="131789" y="166407"/>
                </a:cubicBezTo>
                <a:cubicBezTo>
                  <a:pt x="131229" y="164366"/>
                  <a:pt x="130869" y="162325"/>
                  <a:pt x="130589" y="160324"/>
                </a:cubicBezTo>
                <a:lnTo>
                  <a:pt x="115501" y="152880"/>
                </a:lnTo>
                <a:cubicBezTo>
                  <a:pt x="110978" y="150639"/>
                  <a:pt x="108697" y="145516"/>
                  <a:pt x="109978" y="140674"/>
                </a:cubicBezTo>
                <a:lnTo>
                  <a:pt x="112779" y="130188"/>
                </a:lnTo>
                <a:cubicBezTo>
                  <a:pt x="114100" y="125346"/>
                  <a:pt x="118622" y="122064"/>
                  <a:pt x="123665" y="122384"/>
                </a:cubicBezTo>
                <a:lnTo>
                  <a:pt x="140434" y="123465"/>
                </a:lnTo>
                <a:cubicBezTo>
                  <a:pt x="142955" y="120223"/>
                  <a:pt x="145877" y="117222"/>
                  <a:pt x="149198" y="114660"/>
                </a:cubicBezTo>
                <a:lnTo>
                  <a:pt x="148118" y="97931"/>
                </a:lnTo>
                <a:cubicBezTo>
                  <a:pt x="147798" y="92889"/>
                  <a:pt x="151079" y="88326"/>
                  <a:pt x="155922" y="87046"/>
                </a:cubicBezTo>
                <a:lnTo>
                  <a:pt x="166407" y="84244"/>
                </a:lnTo>
                <a:close/>
                <a:moveTo>
                  <a:pt x="179454" y="136071"/>
                </a:moveTo>
                <a:cubicBezTo>
                  <a:pt x="169735" y="136082"/>
                  <a:pt x="161854" y="143982"/>
                  <a:pt x="161865" y="153701"/>
                </a:cubicBezTo>
                <a:cubicBezTo>
                  <a:pt x="161876" y="163419"/>
                  <a:pt x="169775" y="171301"/>
                  <a:pt x="179494" y="171290"/>
                </a:cubicBezTo>
                <a:cubicBezTo>
                  <a:pt x="189213" y="171279"/>
                  <a:pt x="197094" y="163379"/>
                  <a:pt x="197083" y="153661"/>
                </a:cubicBezTo>
                <a:cubicBezTo>
                  <a:pt x="197072" y="143942"/>
                  <a:pt x="189173" y="136060"/>
                  <a:pt x="179454" y="136071"/>
                </a:cubicBezTo>
                <a:close/>
                <a:moveTo>
                  <a:pt x="90007" y="-18210"/>
                </a:moveTo>
                <a:lnTo>
                  <a:pt x="100493" y="-15408"/>
                </a:lnTo>
                <a:cubicBezTo>
                  <a:pt x="105335" y="-14087"/>
                  <a:pt x="108617" y="-9525"/>
                  <a:pt x="108297" y="-4522"/>
                </a:cubicBezTo>
                <a:lnTo>
                  <a:pt x="107216" y="12206"/>
                </a:lnTo>
                <a:cubicBezTo>
                  <a:pt x="110538" y="14768"/>
                  <a:pt x="113460" y="17729"/>
                  <a:pt x="115981" y="21011"/>
                </a:cubicBezTo>
                <a:lnTo>
                  <a:pt x="132790" y="19930"/>
                </a:lnTo>
                <a:cubicBezTo>
                  <a:pt x="137792" y="19610"/>
                  <a:pt x="142355" y="22892"/>
                  <a:pt x="143675" y="27735"/>
                </a:cubicBezTo>
                <a:lnTo>
                  <a:pt x="146477" y="38220"/>
                </a:lnTo>
                <a:cubicBezTo>
                  <a:pt x="147758" y="43063"/>
                  <a:pt x="145476" y="48185"/>
                  <a:pt x="140954" y="50426"/>
                </a:cubicBezTo>
                <a:lnTo>
                  <a:pt x="125866" y="57870"/>
                </a:lnTo>
                <a:cubicBezTo>
                  <a:pt x="125586" y="59911"/>
                  <a:pt x="125186" y="61953"/>
                  <a:pt x="124665" y="63954"/>
                </a:cubicBezTo>
                <a:cubicBezTo>
                  <a:pt x="124145" y="65955"/>
                  <a:pt x="123425" y="67956"/>
                  <a:pt x="122664" y="69837"/>
                </a:cubicBezTo>
                <a:lnTo>
                  <a:pt x="131989" y="83844"/>
                </a:lnTo>
                <a:cubicBezTo>
                  <a:pt x="134791" y="88046"/>
                  <a:pt x="134230" y="93609"/>
                  <a:pt x="130669" y="97171"/>
                </a:cubicBezTo>
                <a:lnTo>
                  <a:pt x="122985" y="104855"/>
                </a:lnTo>
                <a:cubicBezTo>
                  <a:pt x="119423" y="108417"/>
                  <a:pt x="113860" y="108977"/>
                  <a:pt x="109658" y="106176"/>
                </a:cubicBezTo>
                <a:lnTo>
                  <a:pt x="95650" y="96851"/>
                </a:lnTo>
                <a:cubicBezTo>
                  <a:pt x="91848" y="98412"/>
                  <a:pt x="87806" y="99532"/>
                  <a:pt x="83684" y="100093"/>
                </a:cubicBezTo>
                <a:lnTo>
                  <a:pt x="76240" y="115140"/>
                </a:lnTo>
                <a:cubicBezTo>
                  <a:pt x="73999" y="119663"/>
                  <a:pt x="68876" y="121944"/>
                  <a:pt x="64034" y="120663"/>
                </a:cubicBezTo>
                <a:lnTo>
                  <a:pt x="53548" y="117862"/>
                </a:lnTo>
                <a:cubicBezTo>
                  <a:pt x="48666" y="116541"/>
                  <a:pt x="45424" y="111979"/>
                  <a:pt x="45744" y="106976"/>
                </a:cubicBezTo>
                <a:lnTo>
                  <a:pt x="46825" y="90207"/>
                </a:lnTo>
                <a:cubicBezTo>
                  <a:pt x="43503" y="87646"/>
                  <a:pt x="40581" y="84684"/>
                  <a:pt x="38060" y="81403"/>
                </a:cubicBezTo>
                <a:lnTo>
                  <a:pt x="21251" y="82483"/>
                </a:lnTo>
                <a:cubicBezTo>
                  <a:pt x="16249" y="82803"/>
                  <a:pt x="11686" y="79522"/>
                  <a:pt x="10365" y="74679"/>
                </a:cubicBezTo>
                <a:lnTo>
                  <a:pt x="7564" y="64194"/>
                </a:lnTo>
                <a:cubicBezTo>
                  <a:pt x="6283" y="59351"/>
                  <a:pt x="8564" y="54228"/>
                  <a:pt x="13087" y="51987"/>
                </a:cubicBezTo>
                <a:lnTo>
                  <a:pt x="28175" y="44543"/>
                </a:lnTo>
                <a:cubicBezTo>
                  <a:pt x="28455" y="42502"/>
                  <a:pt x="28855" y="40501"/>
                  <a:pt x="29375" y="38460"/>
                </a:cubicBezTo>
                <a:cubicBezTo>
                  <a:pt x="29936" y="36419"/>
                  <a:pt x="30576" y="34458"/>
                  <a:pt x="31376" y="32577"/>
                </a:cubicBezTo>
                <a:lnTo>
                  <a:pt x="22052" y="18610"/>
                </a:lnTo>
                <a:cubicBezTo>
                  <a:pt x="19250" y="14408"/>
                  <a:pt x="19810" y="8845"/>
                  <a:pt x="23372" y="5283"/>
                </a:cubicBezTo>
                <a:lnTo>
                  <a:pt x="31056" y="-2401"/>
                </a:lnTo>
                <a:cubicBezTo>
                  <a:pt x="34618" y="-5963"/>
                  <a:pt x="40181" y="-6523"/>
                  <a:pt x="44383" y="-3722"/>
                </a:cubicBezTo>
                <a:lnTo>
                  <a:pt x="58391" y="5603"/>
                </a:lnTo>
                <a:cubicBezTo>
                  <a:pt x="62193" y="4042"/>
                  <a:pt x="66235" y="2922"/>
                  <a:pt x="70357" y="2361"/>
                </a:cubicBezTo>
                <a:lnTo>
                  <a:pt x="77801" y="-12687"/>
                </a:lnTo>
                <a:cubicBezTo>
                  <a:pt x="80042" y="-17209"/>
                  <a:pt x="85125" y="-19490"/>
                  <a:pt x="90007" y="-18210"/>
                </a:cubicBezTo>
                <a:close/>
                <a:moveTo>
                  <a:pt x="77000" y="33618"/>
                </a:moveTo>
                <a:cubicBezTo>
                  <a:pt x="67282" y="33618"/>
                  <a:pt x="59391" y="41508"/>
                  <a:pt x="59391" y="51227"/>
                </a:cubicBezTo>
                <a:cubicBezTo>
                  <a:pt x="59391" y="60946"/>
                  <a:pt x="67282" y="68836"/>
                  <a:pt x="77000" y="68836"/>
                </a:cubicBezTo>
                <a:cubicBezTo>
                  <a:pt x="86719" y="68836"/>
                  <a:pt x="94610" y="60946"/>
                  <a:pt x="94610" y="51227"/>
                </a:cubicBezTo>
                <a:cubicBezTo>
                  <a:pt x="94610" y="41508"/>
                  <a:pt x="86719" y="33618"/>
                  <a:pt x="77000" y="33618"/>
                </a:cubicBezTo>
                <a:close/>
              </a:path>
            </a:pathLst>
          </a:custGeom>
          <a:solidFill>
            <a:srgbClr val="FFFFFF"/>
          </a:solidFill>
          <a:ln/>
        </p:spPr>
      </p:sp>
      <p:sp>
        <p:nvSpPr>
          <p:cNvPr id="14" name="Text 12"/>
          <p:cNvSpPr/>
          <p:nvPr/>
        </p:nvSpPr>
        <p:spPr>
          <a:xfrm>
            <a:off x="3498488" y="2484504"/>
            <a:ext cx="2168605" cy="239059"/>
          </a:xfrm>
          <a:prstGeom prst="rect">
            <a:avLst/>
          </a:prstGeom>
          <a:noFill/>
          <a:ln/>
        </p:spPr>
        <p:txBody>
          <a:bodyPr wrap="square" lIns="0" tIns="0" rIns="0" bIns="0" rtlCol="0" anchor="ctr"/>
          <a:lstStyle/>
          <a:p>
            <a:pPr algn="ctr">
              <a:lnSpc>
                <a:spcPct val="130000"/>
              </a:lnSpc>
            </a:pPr>
            <a:r>
              <a:rPr lang="en-US" sz="1210" b="1" dirty="0">
                <a:solidFill>
                  <a:srgbClr val="FFFFFF"/>
                </a:solidFill>
                <a:latin typeface="Liter" pitchFamily="34" charset="0"/>
                <a:ea typeface="Liter" pitchFamily="34" charset="-122"/>
                <a:cs typeface="Liter" pitchFamily="34" charset="-120"/>
              </a:rPr>
              <a:t>Feature Engineering</a:t>
            </a:r>
            <a:endParaRPr lang="en-US" sz="1600" dirty="0"/>
          </a:p>
        </p:txBody>
      </p:sp>
      <p:sp>
        <p:nvSpPr>
          <p:cNvPr id="15" name="Text 13"/>
          <p:cNvSpPr/>
          <p:nvPr/>
        </p:nvSpPr>
        <p:spPr>
          <a:xfrm>
            <a:off x="3507026" y="2791866"/>
            <a:ext cx="2151529" cy="341513"/>
          </a:xfrm>
          <a:prstGeom prst="rect">
            <a:avLst/>
          </a:prstGeom>
          <a:noFill/>
          <a:ln/>
        </p:spPr>
        <p:txBody>
          <a:bodyPr wrap="square" lIns="0" tIns="0" rIns="0" bIns="0" rtlCol="0" anchor="ctr"/>
          <a:lstStyle/>
          <a:p>
            <a:pPr algn="ctr">
              <a:lnSpc>
                <a:spcPct val="120000"/>
              </a:lnSpc>
            </a:pPr>
            <a:r>
              <a:rPr lang="en-US" sz="941" dirty="0">
                <a:solidFill>
                  <a:srgbClr val="FFFFFF">
                    <a:alpha val="80000"/>
                  </a:srgbClr>
                </a:solidFill>
                <a:latin typeface="Liter" pitchFamily="34" charset="0"/>
                <a:ea typeface="Liter" pitchFamily="34" charset="-122"/>
                <a:cs typeface="Liter" pitchFamily="34" charset="-120"/>
              </a:rPr>
              <a:t>Financial ratios and domain-specific metrics</a:t>
            </a:r>
            <a:endParaRPr lang="en-US" sz="1600" dirty="0"/>
          </a:p>
        </p:txBody>
      </p:sp>
      <p:sp>
        <p:nvSpPr>
          <p:cNvPr id="16" name="Shape 14"/>
          <p:cNvSpPr/>
          <p:nvPr/>
        </p:nvSpPr>
        <p:spPr>
          <a:xfrm>
            <a:off x="5968170" y="2390588"/>
            <a:ext cx="256134" cy="256134"/>
          </a:xfrm>
          <a:custGeom>
            <a:avLst/>
            <a:gdLst/>
            <a:ahLst/>
            <a:cxnLst/>
            <a:rect l="l" t="t" r="r" b="b"/>
            <a:pathLst>
              <a:path w="256134" h="256134">
                <a:moveTo>
                  <a:pt x="251432" y="139373"/>
                </a:moveTo>
                <a:cubicBezTo>
                  <a:pt x="257685" y="133120"/>
                  <a:pt x="257685" y="122965"/>
                  <a:pt x="251432" y="116711"/>
                </a:cubicBezTo>
                <a:lnTo>
                  <a:pt x="171390" y="36669"/>
                </a:lnTo>
                <a:cubicBezTo>
                  <a:pt x="165137" y="30416"/>
                  <a:pt x="154981" y="30416"/>
                  <a:pt x="148728" y="36669"/>
                </a:cubicBezTo>
                <a:cubicBezTo>
                  <a:pt x="142475" y="42923"/>
                  <a:pt x="142475" y="53078"/>
                  <a:pt x="148728" y="59331"/>
                </a:cubicBezTo>
                <a:lnTo>
                  <a:pt x="201456" y="112059"/>
                </a:lnTo>
                <a:lnTo>
                  <a:pt x="16008" y="112059"/>
                </a:lnTo>
                <a:cubicBezTo>
                  <a:pt x="7154" y="112059"/>
                  <a:pt x="0" y="119213"/>
                  <a:pt x="0" y="128067"/>
                </a:cubicBezTo>
                <a:cubicBezTo>
                  <a:pt x="0" y="136922"/>
                  <a:pt x="7154" y="144076"/>
                  <a:pt x="16008" y="144076"/>
                </a:cubicBezTo>
                <a:lnTo>
                  <a:pt x="201456" y="144076"/>
                </a:lnTo>
                <a:lnTo>
                  <a:pt x="148728" y="196803"/>
                </a:lnTo>
                <a:cubicBezTo>
                  <a:pt x="142475" y="203057"/>
                  <a:pt x="142475" y="213212"/>
                  <a:pt x="148728" y="219465"/>
                </a:cubicBezTo>
                <a:cubicBezTo>
                  <a:pt x="154981" y="225718"/>
                  <a:pt x="165137" y="225718"/>
                  <a:pt x="171390" y="219465"/>
                </a:cubicBezTo>
                <a:lnTo>
                  <a:pt x="251432" y="139423"/>
                </a:lnTo>
                <a:close/>
              </a:path>
            </a:pathLst>
          </a:custGeom>
          <a:solidFill>
            <a:srgbClr val="20B2AA"/>
          </a:solidFill>
          <a:ln/>
        </p:spPr>
      </p:sp>
      <p:sp>
        <p:nvSpPr>
          <p:cNvPr id="17" name="Shape 15"/>
          <p:cNvSpPr/>
          <p:nvPr/>
        </p:nvSpPr>
        <p:spPr>
          <a:xfrm>
            <a:off x="6390792" y="1733176"/>
            <a:ext cx="2433277" cy="1570958"/>
          </a:xfrm>
          <a:prstGeom prst="roundRect">
            <a:avLst>
              <a:gd name="adj" fmla="val 0"/>
            </a:avLst>
          </a:prstGeom>
          <a:solidFill>
            <a:srgbClr val="1B365D"/>
          </a:solidFill>
          <a:ln/>
        </p:spPr>
      </p:sp>
      <p:sp>
        <p:nvSpPr>
          <p:cNvPr id="18" name="Shape 16"/>
          <p:cNvSpPr/>
          <p:nvPr/>
        </p:nvSpPr>
        <p:spPr>
          <a:xfrm>
            <a:off x="7367304" y="1903933"/>
            <a:ext cx="478118" cy="478118"/>
          </a:xfrm>
          <a:prstGeom prst="roundRect">
            <a:avLst>
              <a:gd name="adj" fmla="val 0"/>
            </a:avLst>
          </a:prstGeom>
          <a:solidFill>
            <a:srgbClr val="FFFFFF">
              <a:alpha val="20000"/>
            </a:srgbClr>
          </a:solidFill>
          <a:ln/>
        </p:spPr>
      </p:sp>
      <p:sp>
        <p:nvSpPr>
          <p:cNvPr id="19" name="Shape 17"/>
          <p:cNvSpPr/>
          <p:nvPr/>
        </p:nvSpPr>
        <p:spPr>
          <a:xfrm>
            <a:off x="7478296" y="2040538"/>
            <a:ext cx="256134" cy="204908"/>
          </a:xfrm>
          <a:custGeom>
            <a:avLst/>
            <a:gdLst/>
            <a:ahLst/>
            <a:cxnLst/>
            <a:rect l="l" t="t" r="r" b="b"/>
            <a:pathLst>
              <a:path w="256134" h="204908">
                <a:moveTo>
                  <a:pt x="153681" y="12807"/>
                </a:moveTo>
                <a:lnTo>
                  <a:pt x="204908" y="12807"/>
                </a:lnTo>
                <a:cubicBezTo>
                  <a:pt x="211991" y="12807"/>
                  <a:pt x="217714" y="18530"/>
                  <a:pt x="217714" y="25613"/>
                </a:cubicBezTo>
                <a:cubicBezTo>
                  <a:pt x="217714" y="32697"/>
                  <a:pt x="211991" y="38420"/>
                  <a:pt x="204908" y="38420"/>
                </a:cubicBezTo>
                <a:lnTo>
                  <a:pt x="159444" y="38420"/>
                </a:lnTo>
                <a:cubicBezTo>
                  <a:pt x="157363" y="48746"/>
                  <a:pt x="150279" y="57270"/>
                  <a:pt x="140874" y="61352"/>
                </a:cubicBezTo>
                <a:lnTo>
                  <a:pt x="140874" y="179294"/>
                </a:lnTo>
                <a:lnTo>
                  <a:pt x="204908" y="179294"/>
                </a:lnTo>
                <a:cubicBezTo>
                  <a:pt x="211991" y="179294"/>
                  <a:pt x="217714" y="185017"/>
                  <a:pt x="217714" y="192101"/>
                </a:cubicBezTo>
                <a:cubicBezTo>
                  <a:pt x="217714" y="199185"/>
                  <a:pt x="211991" y="204908"/>
                  <a:pt x="204908" y="204908"/>
                </a:cubicBezTo>
                <a:lnTo>
                  <a:pt x="51227" y="204908"/>
                </a:lnTo>
                <a:cubicBezTo>
                  <a:pt x="44143" y="204908"/>
                  <a:pt x="38420" y="199185"/>
                  <a:pt x="38420" y="192101"/>
                </a:cubicBezTo>
                <a:cubicBezTo>
                  <a:pt x="38420" y="185017"/>
                  <a:pt x="44143" y="179294"/>
                  <a:pt x="51227" y="179294"/>
                </a:cubicBezTo>
                <a:lnTo>
                  <a:pt x="115261" y="179294"/>
                </a:lnTo>
                <a:lnTo>
                  <a:pt x="115261" y="61352"/>
                </a:lnTo>
                <a:cubicBezTo>
                  <a:pt x="105856" y="57230"/>
                  <a:pt x="98772" y="48706"/>
                  <a:pt x="96691" y="38420"/>
                </a:cubicBezTo>
                <a:lnTo>
                  <a:pt x="51227" y="38420"/>
                </a:lnTo>
                <a:cubicBezTo>
                  <a:pt x="44143" y="38420"/>
                  <a:pt x="38420" y="32697"/>
                  <a:pt x="38420" y="25613"/>
                </a:cubicBezTo>
                <a:cubicBezTo>
                  <a:pt x="38420" y="18530"/>
                  <a:pt x="44143" y="12807"/>
                  <a:pt x="51227" y="12807"/>
                </a:cubicBezTo>
                <a:lnTo>
                  <a:pt x="102454" y="12807"/>
                </a:lnTo>
                <a:cubicBezTo>
                  <a:pt x="108297" y="5043"/>
                  <a:pt x="117582" y="0"/>
                  <a:pt x="128067" y="0"/>
                </a:cubicBezTo>
                <a:cubicBezTo>
                  <a:pt x="138553" y="0"/>
                  <a:pt x="147838" y="5043"/>
                  <a:pt x="153681" y="12807"/>
                </a:cubicBezTo>
                <a:close/>
                <a:moveTo>
                  <a:pt x="175932" y="128067"/>
                </a:moveTo>
                <a:lnTo>
                  <a:pt x="233883" y="128067"/>
                </a:lnTo>
                <a:lnTo>
                  <a:pt x="204908" y="78361"/>
                </a:lnTo>
                <a:lnTo>
                  <a:pt x="175932" y="128067"/>
                </a:lnTo>
                <a:close/>
                <a:moveTo>
                  <a:pt x="204908" y="166487"/>
                </a:moveTo>
                <a:cubicBezTo>
                  <a:pt x="179734" y="166487"/>
                  <a:pt x="158803" y="152880"/>
                  <a:pt x="154481" y="134911"/>
                </a:cubicBezTo>
                <a:cubicBezTo>
                  <a:pt x="153441" y="130509"/>
                  <a:pt x="154881" y="125986"/>
                  <a:pt x="157163" y="122064"/>
                </a:cubicBezTo>
                <a:lnTo>
                  <a:pt x="195263" y="56750"/>
                </a:lnTo>
                <a:cubicBezTo>
                  <a:pt x="197264" y="53308"/>
                  <a:pt x="200945" y="51227"/>
                  <a:pt x="204908" y="51227"/>
                </a:cubicBezTo>
                <a:cubicBezTo>
                  <a:pt x="208870" y="51227"/>
                  <a:pt x="212552" y="53348"/>
                  <a:pt x="214553" y="56750"/>
                </a:cubicBezTo>
                <a:lnTo>
                  <a:pt x="252653" y="122064"/>
                </a:lnTo>
                <a:cubicBezTo>
                  <a:pt x="254934" y="125986"/>
                  <a:pt x="256375" y="130509"/>
                  <a:pt x="255334" y="134911"/>
                </a:cubicBezTo>
                <a:cubicBezTo>
                  <a:pt x="251012" y="152840"/>
                  <a:pt x="230081" y="166487"/>
                  <a:pt x="204908" y="166487"/>
                </a:cubicBezTo>
                <a:close/>
                <a:moveTo>
                  <a:pt x="50747" y="78361"/>
                </a:moveTo>
                <a:lnTo>
                  <a:pt x="21771" y="128067"/>
                </a:lnTo>
                <a:lnTo>
                  <a:pt x="79762" y="128067"/>
                </a:lnTo>
                <a:lnTo>
                  <a:pt x="50747" y="78361"/>
                </a:lnTo>
                <a:close/>
                <a:moveTo>
                  <a:pt x="360" y="134911"/>
                </a:moveTo>
                <a:cubicBezTo>
                  <a:pt x="-680" y="130509"/>
                  <a:pt x="760" y="125986"/>
                  <a:pt x="3042" y="122064"/>
                </a:cubicBezTo>
                <a:lnTo>
                  <a:pt x="41142" y="56750"/>
                </a:lnTo>
                <a:cubicBezTo>
                  <a:pt x="43143" y="53308"/>
                  <a:pt x="46825" y="51227"/>
                  <a:pt x="50787" y="51227"/>
                </a:cubicBezTo>
                <a:cubicBezTo>
                  <a:pt x="54749" y="51227"/>
                  <a:pt x="58431" y="53348"/>
                  <a:pt x="60432" y="56750"/>
                </a:cubicBezTo>
                <a:lnTo>
                  <a:pt x="98532" y="122064"/>
                </a:lnTo>
                <a:cubicBezTo>
                  <a:pt x="100813" y="125986"/>
                  <a:pt x="102254" y="130509"/>
                  <a:pt x="101213" y="134911"/>
                </a:cubicBezTo>
                <a:cubicBezTo>
                  <a:pt x="96891" y="152840"/>
                  <a:pt x="75960" y="166487"/>
                  <a:pt x="50787" y="166487"/>
                </a:cubicBezTo>
                <a:cubicBezTo>
                  <a:pt x="25613" y="166487"/>
                  <a:pt x="4682" y="152880"/>
                  <a:pt x="360" y="134911"/>
                </a:cubicBezTo>
                <a:close/>
              </a:path>
            </a:pathLst>
          </a:custGeom>
          <a:solidFill>
            <a:srgbClr val="FFFFFF"/>
          </a:solidFill>
          <a:ln/>
        </p:spPr>
      </p:sp>
      <p:sp>
        <p:nvSpPr>
          <p:cNvPr id="20" name="Text 18"/>
          <p:cNvSpPr/>
          <p:nvPr/>
        </p:nvSpPr>
        <p:spPr>
          <a:xfrm>
            <a:off x="6523128" y="2484504"/>
            <a:ext cx="2168605" cy="239059"/>
          </a:xfrm>
          <a:prstGeom prst="rect">
            <a:avLst/>
          </a:prstGeom>
          <a:noFill/>
          <a:ln/>
        </p:spPr>
        <p:txBody>
          <a:bodyPr wrap="square" lIns="0" tIns="0" rIns="0" bIns="0" rtlCol="0" anchor="ctr"/>
          <a:lstStyle/>
          <a:p>
            <a:pPr algn="ctr">
              <a:lnSpc>
                <a:spcPct val="130000"/>
              </a:lnSpc>
            </a:pPr>
            <a:r>
              <a:rPr lang="en-US" sz="1210" b="1" dirty="0">
                <a:solidFill>
                  <a:srgbClr val="FFFFFF"/>
                </a:solidFill>
                <a:latin typeface="Liter" pitchFamily="34" charset="0"/>
                <a:ea typeface="Liter" pitchFamily="34" charset="-122"/>
                <a:cs typeface="Liter" pitchFamily="34" charset="-120"/>
              </a:rPr>
              <a:t>SMOTE Balancing</a:t>
            </a:r>
            <a:endParaRPr lang="en-US" sz="1600" dirty="0"/>
          </a:p>
        </p:txBody>
      </p:sp>
      <p:sp>
        <p:nvSpPr>
          <p:cNvPr id="21" name="Text 19"/>
          <p:cNvSpPr/>
          <p:nvPr/>
        </p:nvSpPr>
        <p:spPr>
          <a:xfrm>
            <a:off x="6531666" y="2791866"/>
            <a:ext cx="2151529" cy="341513"/>
          </a:xfrm>
          <a:prstGeom prst="rect">
            <a:avLst/>
          </a:prstGeom>
          <a:noFill/>
          <a:ln/>
        </p:spPr>
        <p:txBody>
          <a:bodyPr wrap="square" lIns="0" tIns="0" rIns="0" bIns="0" rtlCol="0" anchor="ctr"/>
          <a:lstStyle/>
          <a:p>
            <a:pPr algn="ctr">
              <a:lnSpc>
                <a:spcPct val="120000"/>
              </a:lnSpc>
            </a:pPr>
            <a:r>
              <a:rPr lang="en-US" sz="941" dirty="0">
                <a:solidFill>
                  <a:srgbClr val="FFFFFF">
                    <a:alpha val="80000"/>
                  </a:srgbClr>
                </a:solidFill>
                <a:latin typeface="Liter" pitchFamily="34" charset="0"/>
                <a:ea typeface="Liter" pitchFamily="34" charset="-122"/>
                <a:cs typeface="Liter" pitchFamily="34" charset="-120"/>
              </a:rPr>
              <a:t>Synthetic oversampling for minority class detection</a:t>
            </a:r>
            <a:endParaRPr lang="en-US" sz="1600" dirty="0"/>
          </a:p>
        </p:txBody>
      </p:sp>
      <p:sp>
        <p:nvSpPr>
          <p:cNvPr id="22" name="Shape 20"/>
          <p:cNvSpPr/>
          <p:nvPr/>
        </p:nvSpPr>
        <p:spPr>
          <a:xfrm>
            <a:off x="8992809" y="2390588"/>
            <a:ext cx="256134" cy="256134"/>
          </a:xfrm>
          <a:custGeom>
            <a:avLst/>
            <a:gdLst/>
            <a:ahLst/>
            <a:cxnLst/>
            <a:rect l="l" t="t" r="r" b="b"/>
            <a:pathLst>
              <a:path w="256134" h="256134">
                <a:moveTo>
                  <a:pt x="251432" y="139373"/>
                </a:moveTo>
                <a:cubicBezTo>
                  <a:pt x="257685" y="133120"/>
                  <a:pt x="257685" y="122965"/>
                  <a:pt x="251432" y="116711"/>
                </a:cubicBezTo>
                <a:lnTo>
                  <a:pt x="171390" y="36669"/>
                </a:lnTo>
                <a:cubicBezTo>
                  <a:pt x="165137" y="30416"/>
                  <a:pt x="154981" y="30416"/>
                  <a:pt x="148728" y="36669"/>
                </a:cubicBezTo>
                <a:cubicBezTo>
                  <a:pt x="142475" y="42923"/>
                  <a:pt x="142475" y="53078"/>
                  <a:pt x="148728" y="59331"/>
                </a:cubicBezTo>
                <a:lnTo>
                  <a:pt x="201456" y="112059"/>
                </a:lnTo>
                <a:lnTo>
                  <a:pt x="16008" y="112059"/>
                </a:lnTo>
                <a:cubicBezTo>
                  <a:pt x="7154" y="112059"/>
                  <a:pt x="0" y="119213"/>
                  <a:pt x="0" y="128067"/>
                </a:cubicBezTo>
                <a:cubicBezTo>
                  <a:pt x="0" y="136922"/>
                  <a:pt x="7154" y="144076"/>
                  <a:pt x="16008" y="144076"/>
                </a:cubicBezTo>
                <a:lnTo>
                  <a:pt x="201456" y="144076"/>
                </a:lnTo>
                <a:lnTo>
                  <a:pt x="148728" y="196803"/>
                </a:lnTo>
                <a:cubicBezTo>
                  <a:pt x="142475" y="203057"/>
                  <a:pt x="142475" y="213212"/>
                  <a:pt x="148728" y="219465"/>
                </a:cubicBezTo>
                <a:cubicBezTo>
                  <a:pt x="154981" y="225718"/>
                  <a:pt x="165137" y="225718"/>
                  <a:pt x="171390" y="219465"/>
                </a:cubicBezTo>
                <a:lnTo>
                  <a:pt x="251432" y="139423"/>
                </a:lnTo>
                <a:close/>
              </a:path>
            </a:pathLst>
          </a:custGeom>
          <a:solidFill>
            <a:srgbClr val="20B2AA"/>
          </a:solidFill>
          <a:ln/>
        </p:spPr>
      </p:sp>
      <p:sp>
        <p:nvSpPr>
          <p:cNvPr id="23" name="Shape 21"/>
          <p:cNvSpPr/>
          <p:nvPr/>
        </p:nvSpPr>
        <p:spPr>
          <a:xfrm>
            <a:off x="9415431" y="1733176"/>
            <a:ext cx="2433277" cy="1570958"/>
          </a:xfrm>
          <a:prstGeom prst="roundRect">
            <a:avLst>
              <a:gd name="adj" fmla="val 0"/>
            </a:avLst>
          </a:prstGeom>
          <a:solidFill>
            <a:srgbClr val="20B2AA"/>
          </a:solidFill>
          <a:ln/>
        </p:spPr>
      </p:sp>
      <p:sp>
        <p:nvSpPr>
          <p:cNvPr id="24" name="Shape 22"/>
          <p:cNvSpPr/>
          <p:nvPr/>
        </p:nvSpPr>
        <p:spPr>
          <a:xfrm>
            <a:off x="10391944" y="1903933"/>
            <a:ext cx="478118" cy="478118"/>
          </a:xfrm>
          <a:prstGeom prst="roundRect">
            <a:avLst>
              <a:gd name="adj" fmla="val 0"/>
            </a:avLst>
          </a:prstGeom>
          <a:solidFill>
            <a:srgbClr val="FFFFFF">
              <a:alpha val="20000"/>
            </a:srgbClr>
          </a:solidFill>
          <a:ln/>
        </p:spPr>
      </p:sp>
      <p:sp>
        <p:nvSpPr>
          <p:cNvPr id="25" name="Shape 23"/>
          <p:cNvSpPr/>
          <p:nvPr/>
        </p:nvSpPr>
        <p:spPr>
          <a:xfrm>
            <a:off x="10515742" y="2040538"/>
            <a:ext cx="230521" cy="204908"/>
          </a:xfrm>
          <a:custGeom>
            <a:avLst/>
            <a:gdLst/>
            <a:ahLst/>
            <a:cxnLst/>
            <a:rect l="l" t="t" r="r" b="b"/>
            <a:pathLst>
              <a:path w="230521" h="204908">
                <a:moveTo>
                  <a:pt x="115261" y="-6403"/>
                </a:moveTo>
                <a:cubicBezTo>
                  <a:pt x="122344" y="-6403"/>
                  <a:pt x="128067" y="-680"/>
                  <a:pt x="128067" y="6403"/>
                </a:cubicBezTo>
                <a:lnTo>
                  <a:pt x="128067" y="13727"/>
                </a:lnTo>
                <a:cubicBezTo>
                  <a:pt x="167328" y="19330"/>
                  <a:pt x="198384" y="50386"/>
                  <a:pt x="203987" y="89647"/>
                </a:cubicBezTo>
                <a:lnTo>
                  <a:pt x="211311" y="89647"/>
                </a:lnTo>
                <a:cubicBezTo>
                  <a:pt x="218395" y="89647"/>
                  <a:pt x="224118" y="95370"/>
                  <a:pt x="224118" y="102454"/>
                </a:cubicBezTo>
                <a:cubicBezTo>
                  <a:pt x="224118" y="109538"/>
                  <a:pt x="218395" y="115261"/>
                  <a:pt x="211311" y="115261"/>
                </a:cubicBezTo>
                <a:lnTo>
                  <a:pt x="203987" y="115261"/>
                </a:lnTo>
                <a:cubicBezTo>
                  <a:pt x="198384" y="154521"/>
                  <a:pt x="167328" y="185577"/>
                  <a:pt x="128067" y="191180"/>
                </a:cubicBezTo>
                <a:lnTo>
                  <a:pt x="128067" y="198504"/>
                </a:lnTo>
                <a:cubicBezTo>
                  <a:pt x="128067" y="205588"/>
                  <a:pt x="122344" y="211311"/>
                  <a:pt x="115261" y="211311"/>
                </a:cubicBezTo>
                <a:cubicBezTo>
                  <a:pt x="108177" y="211311"/>
                  <a:pt x="102454" y="205588"/>
                  <a:pt x="102454" y="198504"/>
                </a:cubicBezTo>
                <a:lnTo>
                  <a:pt x="102454" y="191180"/>
                </a:lnTo>
                <a:cubicBezTo>
                  <a:pt x="63193" y="185577"/>
                  <a:pt x="32137" y="154521"/>
                  <a:pt x="26534" y="115261"/>
                </a:cubicBezTo>
                <a:lnTo>
                  <a:pt x="19210" y="115261"/>
                </a:lnTo>
                <a:cubicBezTo>
                  <a:pt x="12126" y="115261"/>
                  <a:pt x="6403" y="109538"/>
                  <a:pt x="6403" y="102454"/>
                </a:cubicBezTo>
                <a:cubicBezTo>
                  <a:pt x="6403" y="95370"/>
                  <a:pt x="12126" y="89647"/>
                  <a:pt x="19210" y="89647"/>
                </a:cubicBezTo>
                <a:lnTo>
                  <a:pt x="26534" y="89647"/>
                </a:lnTo>
                <a:cubicBezTo>
                  <a:pt x="32137" y="50386"/>
                  <a:pt x="63193" y="19330"/>
                  <a:pt x="102454" y="13727"/>
                </a:cubicBezTo>
                <a:lnTo>
                  <a:pt x="102454" y="6403"/>
                </a:lnTo>
                <a:cubicBezTo>
                  <a:pt x="102454" y="-680"/>
                  <a:pt x="108177" y="-6403"/>
                  <a:pt x="115261" y="-6403"/>
                </a:cubicBezTo>
                <a:close/>
                <a:moveTo>
                  <a:pt x="52508" y="115261"/>
                </a:moveTo>
                <a:cubicBezTo>
                  <a:pt x="57590" y="140354"/>
                  <a:pt x="77361" y="160124"/>
                  <a:pt x="102454" y="165207"/>
                </a:cubicBezTo>
                <a:lnTo>
                  <a:pt x="102454" y="160084"/>
                </a:lnTo>
                <a:cubicBezTo>
                  <a:pt x="102454" y="153000"/>
                  <a:pt x="108177" y="147277"/>
                  <a:pt x="115261" y="147277"/>
                </a:cubicBezTo>
                <a:cubicBezTo>
                  <a:pt x="122344" y="147277"/>
                  <a:pt x="128067" y="153000"/>
                  <a:pt x="128067" y="160084"/>
                </a:cubicBezTo>
                <a:lnTo>
                  <a:pt x="128067" y="165207"/>
                </a:lnTo>
                <a:cubicBezTo>
                  <a:pt x="153160" y="160124"/>
                  <a:pt x="172931" y="140354"/>
                  <a:pt x="178013" y="115261"/>
                </a:cubicBezTo>
                <a:lnTo>
                  <a:pt x="172891" y="115261"/>
                </a:lnTo>
                <a:cubicBezTo>
                  <a:pt x="165807" y="115261"/>
                  <a:pt x="160084" y="109538"/>
                  <a:pt x="160084" y="102454"/>
                </a:cubicBezTo>
                <a:cubicBezTo>
                  <a:pt x="160084" y="95370"/>
                  <a:pt x="165807" y="89647"/>
                  <a:pt x="172891" y="89647"/>
                </a:cubicBezTo>
                <a:lnTo>
                  <a:pt x="178013" y="89647"/>
                </a:lnTo>
                <a:cubicBezTo>
                  <a:pt x="172931" y="64554"/>
                  <a:pt x="153160" y="44784"/>
                  <a:pt x="128067" y="39701"/>
                </a:cubicBezTo>
                <a:lnTo>
                  <a:pt x="128067" y="44824"/>
                </a:lnTo>
                <a:cubicBezTo>
                  <a:pt x="128067" y="51907"/>
                  <a:pt x="122344" y="57630"/>
                  <a:pt x="115261" y="57630"/>
                </a:cubicBezTo>
                <a:cubicBezTo>
                  <a:pt x="108177" y="57630"/>
                  <a:pt x="102454" y="51907"/>
                  <a:pt x="102454" y="44824"/>
                </a:cubicBezTo>
                <a:lnTo>
                  <a:pt x="102454" y="39701"/>
                </a:lnTo>
                <a:cubicBezTo>
                  <a:pt x="77361" y="44784"/>
                  <a:pt x="57590" y="64554"/>
                  <a:pt x="52508" y="89647"/>
                </a:cubicBezTo>
                <a:lnTo>
                  <a:pt x="57630" y="89647"/>
                </a:lnTo>
                <a:cubicBezTo>
                  <a:pt x="64714" y="89647"/>
                  <a:pt x="70437" y="95370"/>
                  <a:pt x="70437" y="102454"/>
                </a:cubicBezTo>
                <a:cubicBezTo>
                  <a:pt x="70437" y="109538"/>
                  <a:pt x="64714" y="115261"/>
                  <a:pt x="57630" y="115261"/>
                </a:cubicBezTo>
                <a:lnTo>
                  <a:pt x="52508" y="115261"/>
                </a:lnTo>
                <a:close/>
                <a:moveTo>
                  <a:pt x="115261" y="83244"/>
                </a:moveTo>
                <a:cubicBezTo>
                  <a:pt x="125863" y="83244"/>
                  <a:pt x="134471" y="91851"/>
                  <a:pt x="134471" y="102454"/>
                </a:cubicBezTo>
                <a:cubicBezTo>
                  <a:pt x="134471" y="113056"/>
                  <a:pt x="125863" y="121664"/>
                  <a:pt x="115261" y="121664"/>
                </a:cubicBezTo>
                <a:cubicBezTo>
                  <a:pt x="104658" y="121664"/>
                  <a:pt x="96050" y="113056"/>
                  <a:pt x="96050" y="102454"/>
                </a:cubicBezTo>
                <a:cubicBezTo>
                  <a:pt x="96050" y="91851"/>
                  <a:pt x="104658" y="83244"/>
                  <a:pt x="115261" y="83244"/>
                </a:cubicBezTo>
                <a:close/>
              </a:path>
            </a:pathLst>
          </a:custGeom>
          <a:solidFill>
            <a:srgbClr val="FFFFFF"/>
          </a:solidFill>
          <a:ln/>
        </p:spPr>
      </p:sp>
      <p:sp>
        <p:nvSpPr>
          <p:cNvPr id="26" name="Text 24"/>
          <p:cNvSpPr/>
          <p:nvPr/>
        </p:nvSpPr>
        <p:spPr>
          <a:xfrm>
            <a:off x="9547767" y="2484504"/>
            <a:ext cx="2168605" cy="239059"/>
          </a:xfrm>
          <a:prstGeom prst="rect">
            <a:avLst/>
          </a:prstGeom>
          <a:noFill/>
          <a:ln/>
        </p:spPr>
        <p:txBody>
          <a:bodyPr wrap="square" lIns="0" tIns="0" rIns="0" bIns="0" rtlCol="0" anchor="ctr"/>
          <a:lstStyle/>
          <a:p>
            <a:pPr algn="ctr">
              <a:lnSpc>
                <a:spcPct val="130000"/>
              </a:lnSpc>
            </a:pPr>
            <a:r>
              <a:rPr lang="en-US" sz="1210" b="1" dirty="0">
                <a:solidFill>
                  <a:srgbClr val="FFFFFF"/>
                </a:solidFill>
                <a:latin typeface="Liter" pitchFamily="34" charset="0"/>
                <a:ea typeface="Liter" pitchFamily="34" charset="-122"/>
                <a:cs typeface="Liter" pitchFamily="34" charset="-120"/>
              </a:rPr>
              <a:t>Dynamic Threshold Optimizer</a:t>
            </a:r>
            <a:endParaRPr lang="en-US" sz="1600" dirty="0"/>
          </a:p>
        </p:txBody>
      </p:sp>
      <p:sp>
        <p:nvSpPr>
          <p:cNvPr id="27" name="Text 25"/>
          <p:cNvSpPr/>
          <p:nvPr/>
        </p:nvSpPr>
        <p:spPr>
          <a:xfrm>
            <a:off x="9556305" y="2791866"/>
            <a:ext cx="2151529" cy="341513"/>
          </a:xfrm>
          <a:prstGeom prst="rect">
            <a:avLst/>
          </a:prstGeom>
          <a:noFill/>
          <a:ln/>
        </p:spPr>
        <p:txBody>
          <a:bodyPr wrap="square" lIns="0" tIns="0" rIns="0" bIns="0" rtlCol="0" anchor="ctr"/>
          <a:lstStyle/>
          <a:p>
            <a:pPr algn="ctr">
              <a:lnSpc>
                <a:spcPct val="120000"/>
              </a:lnSpc>
            </a:pPr>
            <a:r>
              <a:rPr lang="en-US" sz="941" dirty="0">
                <a:solidFill>
                  <a:srgbClr val="FFFFFF">
                    <a:alpha val="80000"/>
                  </a:srgbClr>
                </a:solidFill>
                <a:latin typeface="Liter" pitchFamily="34" charset="0"/>
                <a:ea typeface="Liter" pitchFamily="34" charset="-122"/>
                <a:cs typeface="Liter" pitchFamily="34" charset="-120"/>
              </a:rPr>
              <a:t>Calibrated for business value, not just accuracy</a:t>
            </a:r>
            <a:endParaRPr lang="en-US" sz="1600" dirty="0"/>
          </a:p>
        </p:txBody>
      </p:sp>
      <p:sp>
        <p:nvSpPr>
          <p:cNvPr id="28" name="Shape 26"/>
          <p:cNvSpPr/>
          <p:nvPr/>
        </p:nvSpPr>
        <p:spPr>
          <a:xfrm>
            <a:off x="356691" y="3474891"/>
            <a:ext cx="5633061" cy="2493042"/>
          </a:xfrm>
          <a:prstGeom prst="roundRect">
            <a:avLst>
              <a:gd name="adj" fmla="val 0"/>
            </a:avLst>
          </a:prstGeom>
          <a:solidFill>
            <a:srgbClr val="D9534F">
              <a:alpha val="5098"/>
            </a:srgbClr>
          </a:solidFill>
          <a:ln/>
        </p:spPr>
      </p:sp>
      <p:sp>
        <p:nvSpPr>
          <p:cNvPr id="29" name="Shape 27"/>
          <p:cNvSpPr/>
          <p:nvPr/>
        </p:nvSpPr>
        <p:spPr>
          <a:xfrm>
            <a:off x="356691" y="3474891"/>
            <a:ext cx="30357" cy="2493042"/>
          </a:xfrm>
          <a:prstGeom prst="roundRect">
            <a:avLst>
              <a:gd name="adj" fmla="val 0"/>
            </a:avLst>
          </a:prstGeom>
          <a:solidFill>
            <a:srgbClr val="D9534F"/>
          </a:solidFill>
          <a:ln/>
        </p:spPr>
      </p:sp>
      <p:sp>
        <p:nvSpPr>
          <p:cNvPr id="30" name="Shape 28"/>
          <p:cNvSpPr/>
          <p:nvPr/>
        </p:nvSpPr>
        <p:spPr>
          <a:xfrm>
            <a:off x="576777" y="3679798"/>
            <a:ext cx="341513" cy="341513"/>
          </a:xfrm>
          <a:prstGeom prst="roundRect">
            <a:avLst>
              <a:gd name="adj" fmla="val 0"/>
            </a:avLst>
          </a:prstGeom>
          <a:solidFill>
            <a:srgbClr val="D9534F"/>
          </a:solidFill>
          <a:ln/>
        </p:spPr>
      </p:sp>
      <p:sp>
        <p:nvSpPr>
          <p:cNvPr id="31" name="Shape 29"/>
          <p:cNvSpPr/>
          <p:nvPr/>
        </p:nvSpPr>
        <p:spPr>
          <a:xfrm>
            <a:off x="679231" y="3782252"/>
            <a:ext cx="136605" cy="136605"/>
          </a:xfrm>
          <a:custGeom>
            <a:avLst/>
            <a:gdLst/>
            <a:ahLst/>
            <a:cxnLst/>
            <a:rect l="l" t="t" r="r" b="b"/>
            <a:pathLst>
              <a:path w="136605" h="136605">
                <a:moveTo>
                  <a:pt x="68303" y="136605"/>
                </a:moveTo>
                <a:cubicBezTo>
                  <a:pt x="106000" y="136605"/>
                  <a:pt x="136605" y="106000"/>
                  <a:pt x="136605" y="68303"/>
                </a:cubicBezTo>
                <a:cubicBezTo>
                  <a:pt x="136605" y="30605"/>
                  <a:pt x="106000" y="0"/>
                  <a:pt x="68303" y="0"/>
                </a:cubicBezTo>
                <a:cubicBezTo>
                  <a:pt x="30605" y="0"/>
                  <a:pt x="0" y="30605"/>
                  <a:pt x="0" y="68303"/>
                </a:cubicBezTo>
                <a:cubicBezTo>
                  <a:pt x="0" y="106000"/>
                  <a:pt x="30605" y="136605"/>
                  <a:pt x="68303" y="136605"/>
                </a:cubicBezTo>
                <a:close/>
                <a:moveTo>
                  <a:pt x="44557" y="44557"/>
                </a:moveTo>
                <a:cubicBezTo>
                  <a:pt x="47065" y="42049"/>
                  <a:pt x="51120" y="42049"/>
                  <a:pt x="53601" y="44557"/>
                </a:cubicBezTo>
                <a:lnTo>
                  <a:pt x="68276" y="59231"/>
                </a:lnTo>
                <a:lnTo>
                  <a:pt x="82950" y="44557"/>
                </a:lnTo>
                <a:cubicBezTo>
                  <a:pt x="85458" y="42049"/>
                  <a:pt x="89514" y="42049"/>
                  <a:pt x="91995" y="44557"/>
                </a:cubicBezTo>
                <a:cubicBezTo>
                  <a:pt x="94476" y="47065"/>
                  <a:pt x="94503" y="51120"/>
                  <a:pt x="91995" y="53601"/>
                </a:cubicBezTo>
                <a:lnTo>
                  <a:pt x="77321" y="68276"/>
                </a:lnTo>
                <a:lnTo>
                  <a:pt x="91995" y="82950"/>
                </a:lnTo>
                <a:cubicBezTo>
                  <a:pt x="94503" y="85458"/>
                  <a:pt x="94503" y="89514"/>
                  <a:pt x="91995" y="91995"/>
                </a:cubicBezTo>
                <a:cubicBezTo>
                  <a:pt x="89487" y="94476"/>
                  <a:pt x="85432" y="94503"/>
                  <a:pt x="82950" y="91995"/>
                </a:cubicBezTo>
                <a:lnTo>
                  <a:pt x="68276" y="77321"/>
                </a:lnTo>
                <a:lnTo>
                  <a:pt x="53601" y="91995"/>
                </a:lnTo>
                <a:cubicBezTo>
                  <a:pt x="51093" y="94503"/>
                  <a:pt x="47038" y="94503"/>
                  <a:pt x="44557" y="91995"/>
                </a:cubicBezTo>
                <a:cubicBezTo>
                  <a:pt x="42075" y="89487"/>
                  <a:pt x="42049" y="85432"/>
                  <a:pt x="44557" y="82950"/>
                </a:cubicBezTo>
                <a:lnTo>
                  <a:pt x="59231" y="68276"/>
                </a:lnTo>
                <a:lnTo>
                  <a:pt x="44557" y="53601"/>
                </a:lnTo>
                <a:cubicBezTo>
                  <a:pt x="42049" y="51093"/>
                  <a:pt x="42049" y="47038"/>
                  <a:pt x="44557" y="44557"/>
                </a:cubicBezTo>
                <a:close/>
              </a:path>
            </a:pathLst>
          </a:custGeom>
          <a:solidFill>
            <a:srgbClr val="FFFFFF"/>
          </a:solidFill>
          <a:ln/>
        </p:spPr>
      </p:sp>
      <p:sp>
        <p:nvSpPr>
          <p:cNvPr id="32" name="Text 30"/>
          <p:cNvSpPr/>
          <p:nvPr/>
        </p:nvSpPr>
        <p:spPr>
          <a:xfrm>
            <a:off x="1020743" y="3713950"/>
            <a:ext cx="2125916" cy="273210"/>
          </a:xfrm>
          <a:prstGeom prst="rect">
            <a:avLst/>
          </a:prstGeom>
          <a:noFill/>
          <a:ln/>
        </p:spPr>
        <p:txBody>
          <a:bodyPr wrap="square" lIns="0" tIns="0" rIns="0" bIns="0" rtlCol="0" anchor="ctr"/>
          <a:lstStyle/>
          <a:p>
            <a:pPr>
              <a:lnSpc>
                <a:spcPct val="110000"/>
              </a:lnSpc>
            </a:pPr>
            <a:r>
              <a:rPr lang="en-US" sz="1613" b="1" dirty="0">
                <a:solidFill>
                  <a:srgbClr val="1B365D"/>
                </a:solidFill>
                <a:latin typeface="Liter" pitchFamily="34" charset="0"/>
                <a:ea typeface="Liter" pitchFamily="34" charset="-122"/>
                <a:cs typeface="Liter" pitchFamily="34" charset="-120"/>
              </a:rPr>
              <a:t>The Accuracy Paradox</a:t>
            </a:r>
            <a:endParaRPr lang="en-US" sz="1600" dirty="0"/>
          </a:p>
        </p:txBody>
      </p:sp>
      <p:sp>
        <p:nvSpPr>
          <p:cNvPr id="33" name="Text 31"/>
          <p:cNvSpPr/>
          <p:nvPr/>
        </p:nvSpPr>
        <p:spPr>
          <a:xfrm>
            <a:off x="576777" y="4157916"/>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Standard models achieve </a:t>
            </a:r>
            <a:r>
              <a:rPr lang="en-US" sz="1076" b="1" dirty="0">
                <a:solidFill>
                  <a:srgbClr val="D9534F"/>
                </a:solidFill>
                <a:latin typeface="Liter" pitchFamily="34" charset="0"/>
                <a:ea typeface="Liter" pitchFamily="34" charset="-122"/>
                <a:cs typeface="Liter" pitchFamily="34" charset="-120"/>
              </a:rPr>
              <a:t>high "paper accuracy"</a:t>
            </a:r>
            <a:r>
              <a:rPr lang="en-US" sz="1076" dirty="0">
                <a:solidFill>
                  <a:srgbClr val="1B365D"/>
                </a:solidFill>
                <a:latin typeface="Liter" pitchFamily="34" charset="0"/>
                <a:ea typeface="Liter" pitchFamily="34" charset="-122"/>
                <a:cs typeface="Liter" pitchFamily="34" charset="-120"/>
              </a:rPr>
              <a:t> by predicting that most customers will stay—because most do.</a:t>
            </a:r>
            <a:endParaRPr lang="en-US" sz="1600" dirty="0"/>
          </a:p>
        </p:txBody>
      </p:sp>
      <p:sp>
        <p:nvSpPr>
          <p:cNvPr id="34" name="Text 32"/>
          <p:cNvSpPr/>
          <p:nvPr/>
        </p:nvSpPr>
        <p:spPr>
          <a:xfrm>
            <a:off x="576777" y="4738487"/>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This creates a </a:t>
            </a:r>
            <a:r>
              <a:rPr lang="en-US" sz="1076" b="1" dirty="0">
                <a:solidFill>
                  <a:srgbClr val="D9534F"/>
                </a:solidFill>
                <a:latin typeface="Liter" pitchFamily="34" charset="0"/>
                <a:ea typeface="Liter" pitchFamily="34" charset="-122"/>
                <a:cs typeface="Liter" pitchFamily="34" charset="-120"/>
              </a:rPr>
              <a:t>dangerous illusion of performance</a:t>
            </a:r>
            <a:r>
              <a:rPr lang="en-US" sz="1076" dirty="0">
                <a:solidFill>
                  <a:srgbClr val="1B365D"/>
                </a:solidFill>
                <a:latin typeface="Liter" pitchFamily="34" charset="0"/>
                <a:ea typeface="Liter" pitchFamily="34" charset="-122"/>
                <a:cs typeface="Liter" pitchFamily="34" charset="-120"/>
              </a:rPr>
              <a:t> while delivering zero business value, as the model never identifies actual flight risks.</a:t>
            </a:r>
            <a:endParaRPr lang="en-US" sz="1600" dirty="0"/>
          </a:p>
        </p:txBody>
      </p:sp>
      <p:sp>
        <p:nvSpPr>
          <p:cNvPr id="35" name="Text 33"/>
          <p:cNvSpPr/>
          <p:nvPr/>
        </p:nvSpPr>
        <p:spPr>
          <a:xfrm>
            <a:off x="576777" y="5319059"/>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The result: </a:t>
            </a:r>
            <a:r>
              <a:rPr lang="en-US" sz="1076" b="1" dirty="0">
                <a:solidFill>
                  <a:srgbClr val="D9534F"/>
                </a:solidFill>
                <a:latin typeface="Liter" pitchFamily="34" charset="0"/>
                <a:ea typeface="Liter" pitchFamily="34" charset="-122"/>
                <a:cs typeface="Liter" pitchFamily="34" charset="-120"/>
              </a:rPr>
              <a:t>wasted retention budgets</a:t>
            </a:r>
            <a:r>
              <a:rPr lang="en-US" sz="1076" dirty="0">
                <a:solidFill>
                  <a:srgbClr val="1B365D"/>
                </a:solidFill>
                <a:latin typeface="Liter" pitchFamily="34" charset="0"/>
                <a:ea typeface="Liter" pitchFamily="34" charset="-122"/>
                <a:cs typeface="Liter" pitchFamily="34" charset="-120"/>
              </a:rPr>
              <a:t> on false alarms while real churners slip away undetected.</a:t>
            </a:r>
            <a:endParaRPr lang="en-US" sz="1600" dirty="0"/>
          </a:p>
        </p:txBody>
      </p:sp>
      <p:sp>
        <p:nvSpPr>
          <p:cNvPr id="36" name="Shape 34"/>
          <p:cNvSpPr/>
          <p:nvPr/>
        </p:nvSpPr>
        <p:spPr>
          <a:xfrm>
            <a:off x="6211735" y="3474891"/>
            <a:ext cx="5633061" cy="2493042"/>
          </a:xfrm>
          <a:prstGeom prst="roundRect">
            <a:avLst>
              <a:gd name="adj" fmla="val 0"/>
            </a:avLst>
          </a:prstGeom>
          <a:solidFill>
            <a:srgbClr val="20B2AA">
              <a:alpha val="5098"/>
            </a:srgbClr>
          </a:solidFill>
          <a:ln/>
        </p:spPr>
      </p:sp>
      <p:sp>
        <p:nvSpPr>
          <p:cNvPr id="37" name="Shape 35"/>
          <p:cNvSpPr/>
          <p:nvPr/>
        </p:nvSpPr>
        <p:spPr>
          <a:xfrm>
            <a:off x="6211735" y="3474891"/>
            <a:ext cx="30357" cy="2493042"/>
          </a:xfrm>
          <a:prstGeom prst="roundRect">
            <a:avLst>
              <a:gd name="adj" fmla="val 0"/>
            </a:avLst>
          </a:prstGeom>
          <a:solidFill>
            <a:srgbClr val="20B2AA"/>
          </a:solidFill>
          <a:ln/>
        </p:spPr>
      </p:sp>
      <p:sp>
        <p:nvSpPr>
          <p:cNvPr id="38" name="Shape 36"/>
          <p:cNvSpPr/>
          <p:nvPr/>
        </p:nvSpPr>
        <p:spPr>
          <a:xfrm>
            <a:off x="6431821" y="3679798"/>
            <a:ext cx="341513" cy="341513"/>
          </a:xfrm>
          <a:prstGeom prst="roundRect">
            <a:avLst>
              <a:gd name="adj" fmla="val 0"/>
            </a:avLst>
          </a:prstGeom>
          <a:solidFill>
            <a:srgbClr val="20B2AA"/>
          </a:solidFill>
          <a:ln/>
        </p:spPr>
      </p:sp>
      <p:sp>
        <p:nvSpPr>
          <p:cNvPr id="39" name="Shape 37"/>
          <p:cNvSpPr/>
          <p:nvPr/>
        </p:nvSpPr>
        <p:spPr>
          <a:xfrm>
            <a:off x="6534274" y="3782252"/>
            <a:ext cx="136605" cy="136605"/>
          </a:xfrm>
          <a:custGeom>
            <a:avLst/>
            <a:gdLst/>
            <a:ahLst/>
            <a:cxnLst/>
            <a:rect l="l" t="t" r="r" b="b"/>
            <a:pathLst>
              <a:path w="136605" h="136605">
                <a:moveTo>
                  <a:pt x="68303" y="136605"/>
                </a:moveTo>
                <a:cubicBezTo>
                  <a:pt x="106000" y="136605"/>
                  <a:pt x="136605" y="106000"/>
                  <a:pt x="136605" y="68303"/>
                </a:cubicBezTo>
                <a:cubicBezTo>
                  <a:pt x="136605" y="30605"/>
                  <a:pt x="106000" y="0"/>
                  <a:pt x="68303" y="0"/>
                </a:cubicBezTo>
                <a:cubicBezTo>
                  <a:pt x="30605" y="0"/>
                  <a:pt x="0" y="30605"/>
                  <a:pt x="0" y="68303"/>
                </a:cubicBezTo>
                <a:cubicBezTo>
                  <a:pt x="0" y="106000"/>
                  <a:pt x="30605" y="136605"/>
                  <a:pt x="68303" y="136605"/>
                </a:cubicBezTo>
                <a:close/>
                <a:moveTo>
                  <a:pt x="90821" y="56750"/>
                </a:moveTo>
                <a:lnTo>
                  <a:pt x="69476" y="90901"/>
                </a:lnTo>
                <a:cubicBezTo>
                  <a:pt x="68356" y="92689"/>
                  <a:pt x="66435" y="93809"/>
                  <a:pt x="64327" y="93916"/>
                </a:cubicBezTo>
                <a:cubicBezTo>
                  <a:pt x="62219" y="94023"/>
                  <a:pt x="60192" y="93062"/>
                  <a:pt x="58938" y="91355"/>
                </a:cubicBezTo>
                <a:lnTo>
                  <a:pt x="46131" y="74279"/>
                </a:lnTo>
                <a:cubicBezTo>
                  <a:pt x="43996" y="71451"/>
                  <a:pt x="44583" y="67449"/>
                  <a:pt x="47412" y="65314"/>
                </a:cubicBezTo>
                <a:cubicBezTo>
                  <a:pt x="50240" y="63180"/>
                  <a:pt x="54242" y="63767"/>
                  <a:pt x="56376" y="66595"/>
                </a:cubicBezTo>
                <a:lnTo>
                  <a:pt x="63580" y="76200"/>
                </a:lnTo>
                <a:lnTo>
                  <a:pt x="79962" y="49973"/>
                </a:lnTo>
                <a:cubicBezTo>
                  <a:pt x="81830" y="46985"/>
                  <a:pt x="85778" y="46051"/>
                  <a:pt x="88793" y="47945"/>
                </a:cubicBezTo>
                <a:cubicBezTo>
                  <a:pt x="91808" y="49839"/>
                  <a:pt x="92715" y="53762"/>
                  <a:pt x="90821" y="56776"/>
                </a:cubicBezTo>
                <a:close/>
              </a:path>
            </a:pathLst>
          </a:custGeom>
          <a:solidFill>
            <a:srgbClr val="FFFFFF"/>
          </a:solidFill>
          <a:ln/>
        </p:spPr>
      </p:sp>
      <p:sp>
        <p:nvSpPr>
          <p:cNvPr id="40" name="Text 38"/>
          <p:cNvSpPr/>
          <p:nvPr/>
        </p:nvSpPr>
        <p:spPr>
          <a:xfrm>
            <a:off x="6875787" y="3713950"/>
            <a:ext cx="1220908" cy="273210"/>
          </a:xfrm>
          <a:prstGeom prst="rect">
            <a:avLst/>
          </a:prstGeom>
          <a:noFill/>
          <a:ln/>
        </p:spPr>
        <p:txBody>
          <a:bodyPr wrap="square" lIns="0" tIns="0" rIns="0" bIns="0" rtlCol="0" anchor="ctr"/>
          <a:lstStyle/>
          <a:p>
            <a:pPr>
              <a:lnSpc>
                <a:spcPct val="110000"/>
              </a:lnSpc>
            </a:pPr>
            <a:r>
              <a:rPr lang="en-US" sz="1613" b="1" dirty="0">
                <a:solidFill>
                  <a:srgbClr val="1B365D"/>
                </a:solidFill>
                <a:latin typeface="Liter" pitchFamily="34" charset="0"/>
                <a:ea typeface="Liter" pitchFamily="34" charset="-122"/>
                <a:cs typeface="Liter" pitchFamily="34" charset="-120"/>
              </a:rPr>
              <a:t>Our Solution</a:t>
            </a:r>
            <a:endParaRPr lang="en-US" sz="1600" dirty="0"/>
          </a:p>
        </p:txBody>
      </p:sp>
      <p:sp>
        <p:nvSpPr>
          <p:cNvPr id="41" name="Text 39"/>
          <p:cNvSpPr/>
          <p:nvPr/>
        </p:nvSpPr>
        <p:spPr>
          <a:xfrm>
            <a:off x="6431821" y="4157916"/>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We implemented an </a:t>
            </a:r>
            <a:r>
              <a:rPr lang="en-US" sz="1076" b="1" dirty="0">
                <a:solidFill>
                  <a:srgbClr val="20B2AA"/>
                </a:solidFill>
                <a:latin typeface="Liter" pitchFamily="34" charset="0"/>
                <a:ea typeface="Liter" pitchFamily="34" charset="-122"/>
                <a:cs typeface="Liter" pitchFamily="34" charset="-120"/>
              </a:rPr>
              <a:t>optimized XGBoost engine</a:t>
            </a:r>
            <a:r>
              <a:rPr lang="en-US" sz="1076" dirty="0">
                <a:solidFill>
                  <a:srgbClr val="1B365D"/>
                </a:solidFill>
                <a:latin typeface="Liter" pitchFamily="34" charset="0"/>
                <a:ea typeface="Liter" pitchFamily="34" charset="-122"/>
                <a:cs typeface="Liter" pitchFamily="34" charset="-120"/>
              </a:rPr>
              <a:t> combined with SMOTE data-balancing to force the model to pay attention to minority churn signals.</a:t>
            </a:r>
            <a:endParaRPr lang="en-US" sz="1600" dirty="0"/>
          </a:p>
        </p:txBody>
      </p:sp>
      <p:sp>
        <p:nvSpPr>
          <p:cNvPr id="42" name="Text 40"/>
          <p:cNvSpPr/>
          <p:nvPr/>
        </p:nvSpPr>
        <p:spPr>
          <a:xfrm>
            <a:off x="6431821" y="4738487"/>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The </a:t>
            </a:r>
            <a:r>
              <a:rPr lang="en-US" sz="1076" b="1" dirty="0">
                <a:solidFill>
                  <a:srgbClr val="20B2AA"/>
                </a:solidFill>
                <a:latin typeface="Liter" pitchFamily="34" charset="0"/>
                <a:ea typeface="Liter" pitchFamily="34" charset="-122"/>
                <a:cs typeface="Liter" pitchFamily="34" charset="-120"/>
              </a:rPr>
              <a:t>Dynamic Threshold Optimizer</a:t>
            </a:r>
            <a:r>
              <a:rPr lang="en-US" sz="1076" dirty="0">
                <a:solidFill>
                  <a:srgbClr val="1B365D"/>
                </a:solidFill>
                <a:latin typeface="Liter" pitchFamily="34" charset="0"/>
                <a:ea typeface="Liter" pitchFamily="34" charset="-122"/>
                <a:cs typeface="Liter" pitchFamily="34" charset="-120"/>
              </a:rPr>
              <a:t> scans the entire risk spectrum, maximizing true risk identification rather than playing it safe.</a:t>
            </a:r>
            <a:endParaRPr lang="en-US" sz="1600" dirty="0"/>
          </a:p>
        </p:txBody>
      </p:sp>
      <p:sp>
        <p:nvSpPr>
          <p:cNvPr id="43" name="Text 41"/>
          <p:cNvSpPr/>
          <p:nvPr/>
        </p:nvSpPr>
        <p:spPr>
          <a:xfrm>
            <a:off x="6431821" y="5319059"/>
            <a:ext cx="5276370" cy="443966"/>
          </a:xfrm>
          <a:prstGeom prst="rect">
            <a:avLst/>
          </a:prstGeom>
          <a:noFill/>
          <a:ln/>
        </p:spPr>
        <p:txBody>
          <a:bodyPr wrap="square" lIns="0" tIns="0" rIns="0" bIns="0" rtlCol="0" anchor="ctr"/>
          <a:lstStyle/>
          <a:p>
            <a:pPr>
              <a:lnSpc>
                <a:spcPct val="140000"/>
              </a:lnSpc>
            </a:pPr>
            <a:r>
              <a:rPr lang="en-US" sz="1076" dirty="0">
                <a:solidFill>
                  <a:srgbClr val="1B365D"/>
                </a:solidFill>
                <a:latin typeface="Liter" pitchFamily="34" charset="0"/>
                <a:ea typeface="Liter" pitchFamily="34" charset="-122"/>
                <a:cs typeface="Liter" pitchFamily="34" charset="-120"/>
              </a:rPr>
              <a:t>This ensures </a:t>
            </a:r>
            <a:r>
              <a:rPr lang="en-US" sz="1076" b="1" dirty="0">
                <a:solidFill>
                  <a:srgbClr val="20B2AA"/>
                </a:solidFill>
                <a:latin typeface="Liter" pitchFamily="34" charset="0"/>
                <a:ea typeface="Liter" pitchFamily="34" charset="-122"/>
                <a:cs typeface="Liter" pitchFamily="34" charset="-120"/>
              </a:rPr>
              <a:t>budget is spent only on subscribers genuinely preparing to leave</a:t>
            </a:r>
            <a:r>
              <a:rPr lang="en-US" sz="1076" dirty="0">
                <a:solidFill>
                  <a:srgbClr val="1B365D"/>
                </a:solidFill>
                <a:latin typeface="Liter" pitchFamily="34" charset="0"/>
                <a:ea typeface="Liter" pitchFamily="34" charset="-122"/>
                <a:cs typeface="Liter" pitchFamily="34" charset="-120"/>
              </a:rPr>
              <a:t>, not on false alarms.</a:t>
            </a:r>
            <a:endParaRPr lang="en-US" sz="1600" dirty="0"/>
          </a:p>
        </p:txBody>
      </p:sp>
      <p:sp>
        <p:nvSpPr>
          <p:cNvPr id="44" name="Shape 42"/>
          <p:cNvSpPr/>
          <p:nvPr/>
        </p:nvSpPr>
        <p:spPr>
          <a:xfrm>
            <a:off x="341513" y="6104538"/>
            <a:ext cx="11508975" cy="512269"/>
          </a:xfrm>
          <a:prstGeom prst="roundRect">
            <a:avLst>
              <a:gd name="adj" fmla="val 0"/>
            </a:avLst>
          </a:prstGeom>
          <a:solidFill>
            <a:srgbClr val="1B365D"/>
          </a:solidFill>
          <a:ln/>
        </p:spPr>
      </p:sp>
      <p:sp>
        <p:nvSpPr>
          <p:cNvPr id="45" name="Shape 43"/>
          <p:cNvSpPr/>
          <p:nvPr/>
        </p:nvSpPr>
        <p:spPr>
          <a:xfrm>
            <a:off x="572034" y="6258218"/>
            <a:ext cx="204908" cy="204908"/>
          </a:xfrm>
          <a:custGeom>
            <a:avLst/>
            <a:gdLst/>
            <a:ahLst/>
            <a:cxnLst/>
            <a:rect l="l" t="t" r="r" b="b"/>
            <a:pathLst>
              <a:path w="204908" h="204908">
                <a:moveTo>
                  <a:pt x="25613" y="25613"/>
                </a:moveTo>
                <a:cubicBezTo>
                  <a:pt x="25613" y="18530"/>
                  <a:pt x="19890" y="12807"/>
                  <a:pt x="12807" y="12807"/>
                </a:cubicBezTo>
                <a:cubicBezTo>
                  <a:pt x="5723" y="12807"/>
                  <a:pt x="0" y="18530"/>
                  <a:pt x="0" y="25613"/>
                </a:cubicBezTo>
                <a:lnTo>
                  <a:pt x="0" y="160084"/>
                </a:lnTo>
                <a:cubicBezTo>
                  <a:pt x="0" y="177773"/>
                  <a:pt x="14328" y="192101"/>
                  <a:pt x="32017" y="192101"/>
                </a:cubicBezTo>
                <a:lnTo>
                  <a:pt x="192101" y="192101"/>
                </a:lnTo>
                <a:cubicBezTo>
                  <a:pt x="199185" y="192101"/>
                  <a:pt x="204908" y="186378"/>
                  <a:pt x="204908" y="179294"/>
                </a:cubicBezTo>
                <a:cubicBezTo>
                  <a:pt x="204908" y="172210"/>
                  <a:pt x="199185" y="166487"/>
                  <a:pt x="192101" y="166487"/>
                </a:cubicBezTo>
                <a:lnTo>
                  <a:pt x="32017" y="166487"/>
                </a:lnTo>
                <a:cubicBezTo>
                  <a:pt x="28495" y="166487"/>
                  <a:pt x="25613" y="163606"/>
                  <a:pt x="25613" y="160084"/>
                </a:cubicBezTo>
                <a:lnTo>
                  <a:pt x="25613" y="25613"/>
                </a:lnTo>
                <a:close/>
                <a:moveTo>
                  <a:pt x="188339" y="60272"/>
                </a:moveTo>
                <a:cubicBezTo>
                  <a:pt x="193341" y="55269"/>
                  <a:pt x="193341" y="47145"/>
                  <a:pt x="188339" y="42142"/>
                </a:cubicBezTo>
                <a:cubicBezTo>
                  <a:pt x="183336" y="37139"/>
                  <a:pt x="175212" y="37139"/>
                  <a:pt x="170209" y="42142"/>
                </a:cubicBezTo>
                <a:lnTo>
                  <a:pt x="128067" y="84324"/>
                </a:lnTo>
                <a:lnTo>
                  <a:pt x="105095" y="61392"/>
                </a:lnTo>
                <a:cubicBezTo>
                  <a:pt x="100093" y="56390"/>
                  <a:pt x="91968" y="56390"/>
                  <a:pt x="86966" y="61392"/>
                </a:cubicBezTo>
                <a:lnTo>
                  <a:pt x="48545" y="99812"/>
                </a:lnTo>
                <a:cubicBezTo>
                  <a:pt x="43543" y="104815"/>
                  <a:pt x="43543" y="112939"/>
                  <a:pt x="48545" y="117942"/>
                </a:cubicBezTo>
                <a:cubicBezTo>
                  <a:pt x="53548" y="122945"/>
                  <a:pt x="61672" y="122945"/>
                  <a:pt x="66675" y="117942"/>
                </a:cubicBezTo>
                <a:lnTo>
                  <a:pt x="96050" y="88566"/>
                </a:lnTo>
                <a:lnTo>
                  <a:pt x="119022" y="111539"/>
                </a:lnTo>
                <a:cubicBezTo>
                  <a:pt x="124025" y="116541"/>
                  <a:pt x="132149" y="116541"/>
                  <a:pt x="137152" y="111539"/>
                </a:cubicBezTo>
                <a:lnTo>
                  <a:pt x="188379" y="60312"/>
                </a:lnTo>
                <a:close/>
              </a:path>
            </a:pathLst>
          </a:custGeom>
          <a:solidFill>
            <a:srgbClr val="20B2AA"/>
          </a:solidFill>
          <a:ln/>
        </p:spPr>
      </p:sp>
      <p:sp>
        <p:nvSpPr>
          <p:cNvPr id="46" name="Text 44"/>
          <p:cNvSpPr/>
          <p:nvPr/>
        </p:nvSpPr>
        <p:spPr>
          <a:xfrm>
            <a:off x="939160" y="6241143"/>
            <a:ext cx="5634958" cy="239059"/>
          </a:xfrm>
          <a:prstGeom prst="rect">
            <a:avLst/>
          </a:prstGeom>
          <a:noFill/>
          <a:ln/>
        </p:spPr>
        <p:txBody>
          <a:bodyPr wrap="square" lIns="0" tIns="0" rIns="0" bIns="0" rtlCol="0" anchor="ctr"/>
          <a:lstStyle/>
          <a:p>
            <a:pPr>
              <a:lnSpc>
                <a:spcPct val="130000"/>
              </a:lnSpc>
            </a:pPr>
            <a:r>
              <a:rPr lang="en-US" sz="1210" b="1" dirty="0">
                <a:solidFill>
                  <a:srgbClr val="FFFFFF"/>
                </a:solidFill>
                <a:latin typeface="Liter" pitchFamily="34" charset="0"/>
                <a:ea typeface="Liter" pitchFamily="34" charset="-122"/>
                <a:cs typeface="Liter" pitchFamily="34" charset="-120"/>
              </a:rPr>
              <a:t>Business-Calibrated AI: Optimized for profit protection, not just statistical accuracy</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7350" y="347350"/>
            <a:ext cx="11566769" cy="208410"/>
          </a:xfrm>
          <a:prstGeom prst="rect">
            <a:avLst/>
          </a:prstGeom>
          <a:noFill/>
          <a:ln/>
        </p:spPr>
        <p:txBody>
          <a:bodyPr wrap="square" lIns="0" tIns="0" rIns="0" bIns="0" rtlCol="0" anchor="ctr"/>
          <a:lstStyle/>
          <a:p>
            <a:pPr>
              <a:lnSpc>
                <a:spcPct val="130000"/>
              </a:lnSpc>
            </a:pPr>
            <a:r>
              <a:rPr lang="en-US" sz="1094" b="1" kern="0" spc="109" dirty="0">
                <a:solidFill>
                  <a:srgbClr val="20B2AA"/>
                </a:solidFill>
                <a:latin typeface="Liter" pitchFamily="34" charset="0"/>
                <a:ea typeface="Liter" pitchFamily="34" charset="-122"/>
                <a:cs typeface="Liter" pitchFamily="34" charset="-120"/>
              </a:rPr>
              <a:t>The Triggers</a:t>
            </a:r>
            <a:endParaRPr lang="en-US" sz="1600" dirty="0"/>
          </a:p>
        </p:txBody>
      </p:sp>
      <p:sp>
        <p:nvSpPr>
          <p:cNvPr id="3" name="Text 1"/>
          <p:cNvSpPr/>
          <p:nvPr/>
        </p:nvSpPr>
        <p:spPr>
          <a:xfrm>
            <a:off x="347350" y="625231"/>
            <a:ext cx="11653607" cy="781538"/>
          </a:xfrm>
          <a:prstGeom prst="rect">
            <a:avLst/>
          </a:prstGeom>
          <a:noFill/>
          <a:ln/>
        </p:spPr>
        <p:txBody>
          <a:bodyPr wrap="square" lIns="0" tIns="0" rIns="0" bIns="0" rtlCol="0" anchor="ctr"/>
          <a:lstStyle/>
          <a:p>
            <a:pPr>
              <a:lnSpc>
                <a:spcPct val="100000"/>
              </a:lnSpc>
            </a:pPr>
            <a:r>
              <a:rPr lang="en-US" sz="2462" b="1" dirty="0">
                <a:solidFill>
                  <a:srgbClr val="1B365D"/>
                </a:solidFill>
                <a:latin typeface="Liter" pitchFamily="34" charset="0"/>
                <a:ea typeface="Liter" pitchFamily="34" charset="-122"/>
                <a:cs typeface="Liter" pitchFamily="34" charset="-120"/>
              </a:rPr>
              <a:t>The AI Identifies Equipment Age and Recent Bill Shock as the Primary Triggers of Attrition</a:t>
            </a:r>
            <a:endParaRPr lang="en-US" sz="1600" dirty="0"/>
          </a:p>
        </p:txBody>
      </p:sp>
      <p:sp>
        <p:nvSpPr>
          <p:cNvPr id="4" name="Shape 2"/>
          <p:cNvSpPr/>
          <p:nvPr/>
        </p:nvSpPr>
        <p:spPr>
          <a:xfrm>
            <a:off x="347350" y="1510974"/>
            <a:ext cx="694701" cy="34735"/>
          </a:xfrm>
          <a:prstGeom prst="roundRect">
            <a:avLst>
              <a:gd name="adj" fmla="val 0"/>
            </a:avLst>
          </a:prstGeom>
          <a:solidFill>
            <a:srgbClr val="20B2AA"/>
          </a:solidFill>
          <a:ln/>
        </p:spPr>
      </p:sp>
      <p:sp>
        <p:nvSpPr>
          <p:cNvPr id="5" name="Shape 3"/>
          <p:cNvSpPr/>
          <p:nvPr/>
        </p:nvSpPr>
        <p:spPr>
          <a:xfrm>
            <a:off x="355069" y="1692368"/>
            <a:ext cx="7891609" cy="4808874"/>
          </a:xfrm>
          <a:prstGeom prst="roundRect">
            <a:avLst>
              <a:gd name="adj" fmla="val 0"/>
            </a:avLst>
          </a:prstGeom>
          <a:solidFill>
            <a:srgbClr val="1B365D">
              <a:alpha val="5098"/>
            </a:srgbClr>
          </a:solidFill>
          <a:ln w="22578">
            <a:solidFill>
              <a:srgbClr val="1B365D">
                <a:alpha val="20000"/>
              </a:srgbClr>
            </a:solidFill>
            <a:prstDash val="solid"/>
          </a:ln>
        </p:spPr>
      </p:sp>
      <p:sp>
        <p:nvSpPr>
          <p:cNvPr id="6" name="Shape 4"/>
          <p:cNvSpPr/>
          <p:nvPr/>
        </p:nvSpPr>
        <p:spPr>
          <a:xfrm>
            <a:off x="536463" y="1873763"/>
            <a:ext cx="347350" cy="347350"/>
          </a:xfrm>
          <a:prstGeom prst="roundRect">
            <a:avLst>
              <a:gd name="adj" fmla="val 0"/>
            </a:avLst>
          </a:prstGeom>
          <a:solidFill>
            <a:srgbClr val="1B365D"/>
          </a:solidFill>
          <a:ln/>
        </p:spPr>
      </p:sp>
      <p:sp>
        <p:nvSpPr>
          <p:cNvPr id="7" name="Shape 5"/>
          <p:cNvSpPr/>
          <p:nvPr/>
        </p:nvSpPr>
        <p:spPr>
          <a:xfrm>
            <a:off x="640669" y="1977968"/>
            <a:ext cx="138940" cy="138940"/>
          </a:xfrm>
          <a:custGeom>
            <a:avLst/>
            <a:gdLst/>
            <a:ahLst/>
            <a:cxnLst/>
            <a:rect l="l" t="t" r="r" b="b"/>
            <a:pathLst>
              <a:path w="138940" h="138940">
                <a:moveTo>
                  <a:pt x="8684" y="8684"/>
                </a:moveTo>
                <a:cubicBezTo>
                  <a:pt x="13487" y="8684"/>
                  <a:pt x="17368" y="12564"/>
                  <a:pt x="17368" y="17368"/>
                </a:cubicBezTo>
                <a:lnTo>
                  <a:pt x="17368" y="108547"/>
                </a:lnTo>
                <a:cubicBezTo>
                  <a:pt x="17368" y="110935"/>
                  <a:pt x="19321" y="112889"/>
                  <a:pt x="21709" y="112889"/>
                </a:cubicBezTo>
                <a:lnTo>
                  <a:pt x="130256" y="112889"/>
                </a:lnTo>
                <a:cubicBezTo>
                  <a:pt x="135060" y="112889"/>
                  <a:pt x="138940" y="116769"/>
                  <a:pt x="138940" y="121573"/>
                </a:cubicBezTo>
                <a:cubicBezTo>
                  <a:pt x="138940" y="126376"/>
                  <a:pt x="135060" y="130256"/>
                  <a:pt x="130256" y="130256"/>
                </a:cubicBezTo>
                <a:lnTo>
                  <a:pt x="21709" y="130256"/>
                </a:lnTo>
                <a:cubicBezTo>
                  <a:pt x="9715" y="130256"/>
                  <a:pt x="0" y="120541"/>
                  <a:pt x="0" y="108547"/>
                </a:cubicBezTo>
                <a:lnTo>
                  <a:pt x="0" y="17368"/>
                </a:lnTo>
                <a:cubicBezTo>
                  <a:pt x="0" y="12564"/>
                  <a:pt x="3881" y="8684"/>
                  <a:pt x="8684" y="8684"/>
                </a:cubicBezTo>
                <a:close/>
                <a:moveTo>
                  <a:pt x="34735" y="26051"/>
                </a:moveTo>
                <a:cubicBezTo>
                  <a:pt x="34735" y="21248"/>
                  <a:pt x="38616" y="17368"/>
                  <a:pt x="43419" y="17368"/>
                </a:cubicBezTo>
                <a:lnTo>
                  <a:pt x="95521" y="17368"/>
                </a:lnTo>
                <a:cubicBezTo>
                  <a:pt x="100325" y="17368"/>
                  <a:pt x="104205" y="21248"/>
                  <a:pt x="104205" y="26051"/>
                </a:cubicBezTo>
                <a:cubicBezTo>
                  <a:pt x="104205" y="30854"/>
                  <a:pt x="100325" y="34735"/>
                  <a:pt x="95521" y="34735"/>
                </a:cubicBezTo>
                <a:lnTo>
                  <a:pt x="43419" y="34735"/>
                </a:lnTo>
                <a:cubicBezTo>
                  <a:pt x="38616" y="34735"/>
                  <a:pt x="34735" y="30854"/>
                  <a:pt x="34735" y="26051"/>
                </a:cubicBezTo>
                <a:close/>
                <a:moveTo>
                  <a:pt x="43419" y="47761"/>
                </a:moveTo>
                <a:lnTo>
                  <a:pt x="78154" y="47761"/>
                </a:lnTo>
                <a:cubicBezTo>
                  <a:pt x="82957" y="47761"/>
                  <a:pt x="86838" y="51641"/>
                  <a:pt x="86838" y="56444"/>
                </a:cubicBezTo>
                <a:cubicBezTo>
                  <a:pt x="86838" y="61248"/>
                  <a:pt x="82957" y="65128"/>
                  <a:pt x="78154" y="65128"/>
                </a:cubicBezTo>
                <a:lnTo>
                  <a:pt x="43419" y="65128"/>
                </a:lnTo>
                <a:cubicBezTo>
                  <a:pt x="38616" y="65128"/>
                  <a:pt x="34735" y="61248"/>
                  <a:pt x="34735" y="56444"/>
                </a:cubicBezTo>
                <a:cubicBezTo>
                  <a:pt x="34735" y="51641"/>
                  <a:pt x="38616" y="47761"/>
                  <a:pt x="43419" y="47761"/>
                </a:cubicBezTo>
                <a:close/>
                <a:moveTo>
                  <a:pt x="43419" y="78154"/>
                </a:moveTo>
                <a:lnTo>
                  <a:pt x="112889" y="78154"/>
                </a:lnTo>
                <a:cubicBezTo>
                  <a:pt x="117692" y="78154"/>
                  <a:pt x="121573" y="82034"/>
                  <a:pt x="121573" y="86838"/>
                </a:cubicBezTo>
                <a:cubicBezTo>
                  <a:pt x="121573" y="91641"/>
                  <a:pt x="117692" y="95521"/>
                  <a:pt x="112889" y="95521"/>
                </a:cubicBezTo>
                <a:lnTo>
                  <a:pt x="43419" y="95521"/>
                </a:lnTo>
                <a:cubicBezTo>
                  <a:pt x="38616" y="95521"/>
                  <a:pt x="34735" y="91641"/>
                  <a:pt x="34735" y="86838"/>
                </a:cubicBezTo>
                <a:cubicBezTo>
                  <a:pt x="34735" y="82034"/>
                  <a:pt x="38616" y="78154"/>
                  <a:pt x="43419" y="78154"/>
                </a:cubicBezTo>
                <a:close/>
              </a:path>
            </a:pathLst>
          </a:custGeom>
          <a:solidFill>
            <a:srgbClr val="FFFFFF"/>
          </a:solidFill>
          <a:ln/>
        </p:spPr>
      </p:sp>
      <p:sp>
        <p:nvSpPr>
          <p:cNvPr id="8" name="Text 6"/>
          <p:cNvSpPr/>
          <p:nvPr/>
        </p:nvSpPr>
        <p:spPr>
          <a:xfrm>
            <a:off x="988019" y="1925866"/>
            <a:ext cx="3438769" cy="243145"/>
          </a:xfrm>
          <a:prstGeom prst="rect">
            <a:avLst/>
          </a:prstGeom>
          <a:noFill/>
          <a:ln/>
        </p:spPr>
        <p:txBody>
          <a:bodyPr wrap="square" lIns="0" tIns="0" rIns="0" bIns="0" rtlCol="0" anchor="ctr"/>
          <a:lstStyle/>
          <a:p>
            <a:pPr>
              <a:lnSpc>
                <a:spcPct val="120000"/>
              </a:lnSpc>
            </a:pPr>
            <a:r>
              <a:rPr lang="en-US" sz="1368" b="1" dirty="0">
                <a:solidFill>
                  <a:srgbClr val="1B365D"/>
                </a:solidFill>
                <a:latin typeface="Liter" pitchFamily="34" charset="0"/>
                <a:ea typeface="Liter" pitchFamily="34" charset="-122"/>
                <a:cs typeface="Liter" pitchFamily="34" charset="-120"/>
              </a:rPr>
              <a:t>Top 10 Attributes Driving Customer Attrition</a:t>
            </a:r>
            <a:endParaRPr lang="en-US" sz="1600" dirty="0"/>
          </a:p>
        </p:txBody>
      </p:sp>
      <p:sp>
        <p:nvSpPr>
          <p:cNvPr id="9" name="Shape 7"/>
          <p:cNvSpPr/>
          <p:nvPr/>
        </p:nvSpPr>
        <p:spPr>
          <a:xfrm>
            <a:off x="544182" y="2367773"/>
            <a:ext cx="7509523" cy="3949181"/>
          </a:xfrm>
          <a:prstGeom prst="roundRect">
            <a:avLst>
              <a:gd name="adj" fmla="val 0"/>
            </a:avLst>
          </a:prstGeom>
          <a:solidFill>
            <a:srgbClr val="FFFFFF"/>
          </a:solidFill>
          <a:ln w="22578">
            <a:solidFill>
              <a:srgbClr val="1B365D">
                <a:alpha val="30196"/>
              </a:srgbClr>
            </a:solidFill>
            <a:prstDash val="dash"/>
          </a:ln>
        </p:spPr>
      </p:sp>
      <p:sp>
        <p:nvSpPr>
          <p:cNvPr id="10" name="Shape 8"/>
          <p:cNvSpPr/>
          <p:nvPr/>
        </p:nvSpPr>
        <p:spPr>
          <a:xfrm>
            <a:off x="8462807" y="1684650"/>
            <a:ext cx="3386667" cy="3317197"/>
          </a:xfrm>
          <a:prstGeom prst="roundRect">
            <a:avLst>
              <a:gd name="adj" fmla="val 0"/>
            </a:avLst>
          </a:prstGeom>
          <a:solidFill>
            <a:srgbClr val="20B2AA"/>
          </a:solidFill>
          <a:ln/>
        </p:spPr>
      </p:sp>
      <p:sp>
        <p:nvSpPr>
          <p:cNvPr id="11" name="Shape 9"/>
          <p:cNvSpPr/>
          <p:nvPr/>
        </p:nvSpPr>
        <p:spPr>
          <a:xfrm>
            <a:off x="8671217" y="1893060"/>
            <a:ext cx="347350" cy="347350"/>
          </a:xfrm>
          <a:prstGeom prst="roundRect">
            <a:avLst>
              <a:gd name="adj" fmla="val 0"/>
            </a:avLst>
          </a:prstGeom>
          <a:solidFill>
            <a:srgbClr val="FFFFFF">
              <a:alpha val="20000"/>
            </a:srgbClr>
          </a:solidFill>
          <a:ln/>
        </p:spPr>
      </p:sp>
      <p:sp>
        <p:nvSpPr>
          <p:cNvPr id="12" name="Shape 10"/>
          <p:cNvSpPr/>
          <p:nvPr/>
        </p:nvSpPr>
        <p:spPr>
          <a:xfrm>
            <a:off x="8775422" y="1997265"/>
            <a:ext cx="138940" cy="138940"/>
          </a:xfrm>
          <a:custGeom>
            <a:avLst/>
            <a:gdLst/>
            <a:ahLst/>
            <a:cxnLst/>
            <a:rect l="l" t="t" r="r" b="b"/>
            <a:pathLst>
              <a:path w="138940" h="138940">
                <a:moveTo>
                  <a:pt x="32564" y="15197"/>
                </a:moveTo>
                <a:cubicBezTo>
                  <a:pt x="32564" y="6811"/>
                  <a:pt x="39375" y="0"/>
                  <a:pt x="47761" y="0"/>
                </a:cubicBezTo>
                <a:lnTo>
                  <a:pt x="54274" y="0"/>
                </a:lnTo>
                <a:cubicBezTo>
                  <a:pt x="59077" y="0"/>
                  <a:pt x="62957" y="3881"/>
                  <a:pt x="62957" y="8684"/>
                </a:cubicBezTo>
                <a:lnTo>
                  <a:pt x="62957" y="130256"/>
                </a:lnTo>
                <a:cubicBezTo>
                  <a:pt x="62957" y="135060"/>
                  <a:pt x="59077" y="138940"/>
                  <a:pt x="54274" y="138940"/>
                </a:cubicBezTo>
                <a:lnTo>
                  <a:pt x="45590" y="138940"/>
                </a:lnTo>
                <a:cubicBezTo>
                  <a:pt x="37503" y="138940"/>
                  <a:pt x="30692" y="133404"/>
                  <a:pt x="28765" y="125915"/>
                </a:cubicBezTo>
                <a:cubicBezTo>
                  <a:pt x="28575" y="125915"/>
                  <a:pt x="28412" y="125915"/>
                  <a:pt x="28222" y="125915"/>
                </a:cubicBezTo>
                <a:cubicBezTo>
                  <a:pt x="16228" y="125915"/>
                  <a:pt x="6513" y="116200"/>
                  <a:pt x="6513" y="104205"/>
                </a:cubicBezTo>
                <a:cubicBezTo>
                  <a:pt x="6513" y="99321"/>
                  <a:pt x="8141" y="94816"/>
                  <a:pt x="10855" y="91179"/>
                </a:cubicBezTo>
                <a:cubicBezTo>
                  <a:pt x="5590" y="87218"/>
                  <a:pt x="2171" y="80922"/>
                  <a:pt x="2171" y="73812"/>
                </a:cubicBezTo>
                <a:cubicBezTo>
                  <a:pt x="2171" y="65427"/>
                  <a:pt x="6947" y="58127"/>
                  <a:pt x="13894" y="54518"/>
                </a:cubicBezTo>
                <a:cubicBezTo>
                  <a:pt x="11967" y="51261"/>
                  <a:pt x="10855" y="47462"/>
                  <a:pt x="10855" y="43419"/>
                </a:cubicBezTo>
                <a:cubicBezTo>
                  <a:pt x="10855" y="31424"/>
                  <a:pt x="20570" y="21709"/>
                  <a:pt x="32564" y="21709"/>
                </a:cubicBezTo>
                <a:lnTo>
                  <a:pt x="32564" y="15197"/>
                </a:lnTo>
                <a:close/>
                <a:moveTo>
                  <a:pt x="106376" y="15197"/>
                </a:moveTo>
                <a:lnTo>
                  <a:pt x="106376" y="21709"/>
                </a:lnTo>
                <a:cubicBezTo>
                  <a:pt x="118371" y="21709"/>
                  <a:pt x="128085" y="31424"/>
                  <a:pt x="128085" y="43419"/>
                </a:cubicBezTo>
                <a:cubicBezTo>
                  <a:pt x="128085" y="47489"/>
                  <a:pt x="126973" y="51288"/>
                  <a:pt x="125046" y="54518"/>
                </a:cubicBezTo>
                <a:cubicBezTo>
                  <a:pt x="132020" y="58127"/>
                  <a:pt x="136769" y="65400"/>
                  <a:pt x="136769" y="73812"/>
                </a:cubicBezTo>
                <a:cubicBezTo>
                  <a:pt x="136769" y="80922"/>
                  <a:pt x="133350" y="87218"/>
                  <a:pt x="128085" y="91179"/>
                </a:cubicBezTo>
                <a:cubicBezTo>
                  <a:pt x="130799" y="94816"/>
                  <a:pt x="132427" y="99321"/>
                  <a:pt x="132427" y="104205"/>
                </a:cubicBezTo>
                <a:cubicBezTo>
                  <a:pt x="132427" y="116200"/>
                  <a:pt x="122712" y="125915"/>
                  <a:pt x="110718" y="125915"/>
                </a:cubicBezTo>
                <a:cubicBezTo>
                  <a:pt x="110528" y="125915"/>
                  <a:pt x="110365" y="125915"/>
                  <a:pt x="110175" y="125915"/>
                </a:cubicBezTo>
                <a:cubicBezTo>
                  <a:pt x="108249" y="133404"/>
                  <a:pt x="101437" y="138940"/>
                  <a:pt x="93350" y="138940"/>
                </a:cubicBezTo>
                <a:lnTo>
                  <a:pt x="84667" y="138940"/>
                </a:lnTo>
                <a:cubicBezTo>
                  <a:pt x="79863" y="138940"/>
                  <a:pt x="75983" y="135060"/>
                  <a:pt x="75983" y="130256"/>
                </a:cubicBezTo>
                <a:lnTo>
                  <a:pt x="75983" y="8684"/>
                </a:lnTo>
                <a:cubicBezTo>
                  <a:pt x="75983" y="3881"/>
                  <a:pt x="79863" y="0"/>
                  <a:pt x="84667" y="0"/>
                </a:cubicBezTo>
                <a:lnTo>
                  <a:pt x="91179" y="0"/>
                </a:lnTo>
                <a:cubicBezTo>
                  <a:pt x="99565" y="0"/>
                  <a:pt x="106376" y="6811"/>
                  <a:pt x="106376" y="15197"/>
                </a:cubicBezTo>
                <a:close/>
              </a:path>
            </a:pathLst>
          </a:custGeom>
          <a:solidFill>
            <a:srgbClr val="FFFFFF"/>
          </a:solidFill>
          <a:ln/>
        </p:spPr>
      </p:sp>
      <p:sp>
        <p:nvSpPr>
          <p:cNvPr id="13" name="Text 11"/>
          <p:cNvSpPr/>
          <p:nvPr/>
        </p:nvSpPr>
        <p:spPr>
          <a:xfrm>
            <a:off x="9122773" y="1945162"/>
            <a:ext cx="1484923" cy="243145"/>
          </a:xfrm>
          <a:prstGeom prst="rect">
            <a:avLst/>
          </a:prstGeom>
          <a:noFill/>
          <a:ln/>
        </p:spPr>
        <p:txBody>
          <a:bodyPr wrap="square" lIns="0" tIns="0" rIns="0" bIns="0" rtlCol="0" anchor="ctr"/>
          <a:lstStyle/>
          <a:p>
            <a:pPr>
              <a:lnSpc>
                <a:spcPct val="120000"/>
              </a:lnSpc>
            </a:pPr>
            <a:r>
              <a:rPr lang="en-US" sz="1368" b="1" dirty="0">
                <a:solidFill>
                  <a:srgbClr val="FFFFFF"/>
                </a:solidFill>
                <a:latin typeface="Liter" pitchFamily="34" charset="0"/>
                <a:ea typeface="Liter" pitchFamily="34" charset="-122"/>
                <a:cs typeface="Liter" pitchFamily="34" charset="-120"/>
              </a:rPr>
              <a:t>Algorithm Insights</a:t>
            </a:r>
            <a:endParaRPr lang="en-US" sz="1600" dirty="0"/>
          </a:p>
        </p:txBody>
      </p:sp>
      <p:sp>
        <p:nvSpPr>
          <p:cNvPr id="14" name="Text 12"/>
          <p:cNvSpPr/>
          <p:nvPr/>
        </p:nvSpPr>
        <p:spPr>
          <a:xfrm>
            <a:off x="8671217" y="2379350"/>
            <a:ext cx="3039316" cy="677333"/>
          </a:xfrm>
          <a:prstGeom prst="rect">
            <a:avLst/>
          </a:prstGeom>
          <a:noFill/>
          <a:ln/>
        </p:spPr>
        <p:txBody>
          <a:bodyPr wrap="square" lIns="0" tIns="0" rIns="0" bIns="0" rtlCol="0" anchor="ctr"/>
          <a:lstStyle/>
          <a:p>
            <a:pPr>
              <a:lnSpc>
                <a:spcPct val="140000"/>
              </a:lnSpc>
            </a:pPr>
            <a:r>
              <a:rPr lang="en-US" sz="1094" dirty="0">
                <a:solidFill>
                  <a:srgbClr val="FFFFFF"/>
                </a:solidFill>
                <a:latin typeface="Liter" pitchFamily="34" charset="0"/>
                <a:ea typeface="Liter" pitchFamily="34" charset="-122"/>
                <a:cs typeface="Liter" pitchFamily="34" charset="-120"/>
              </a:rPr>
              <a:t>The algorithm </a:t>
            </a:r>
            <a:r>
              <a:rPr lang="en-US" sz="1094" b="1" dirty="0">
                <a:solidFill>
                  <a:srgbClr val="FFFFFF"/>
                </a:solidFill>
                <a:latin typeface="Liter" pitchFamily="34" charset="0"/>
                <a:ea typeface="Liter" pitchFamily="34" charset="-122"/>
                <a:cs typeface="Liter" pitchFamily="34" charset="-120"/>
              </a:rPr>
              <a:t>bypasses human intuition</a:t>
            </a:r>
            <a:r>
              <a:rPr lang="en-US" sz="1094" dirty="0">
                <a:solidFill>
                  <a:srgbClr val="FFFFFF"/>
                </a:solidFill>
                <a:latin typeface="Liter" pitchFamily="34" charset="0"/>
                <a:ea typeface="Liter" pitchFamily="34" charset="-122"/>
                <a:cs typeface="Liter" pitchFamily="34" charset="-120"/>
              </a:rPr>
              <a:t>, analyzing complex behavioral interactions invisible to traditional analysis.</a:t>
            </a:r>
            <a:endParaRPr lang="en-US" sz="1600" dirty="0"/>
          </a:p>
        </p:txBody>
      </p:sp>
      <p:sp>
        <p:nvSpPr>
          <p:cNvPr id="15" name="Text 13"/>
          <p:cNvSpPr/>
          <p:nvPr/>
        </p:nvSpPr>
        <p:spPr>
          <a:xfrm>
            <a:off x="8671217" y="3195624"/>
            <a:ext cx="3039316" cy="903111"/>
          </a:xfrm>
          <a:prstGeom prst="rect">
            <a:avLst/>
          </a:prstGeom>
          <a:noFill/>
          <a:ln/>
        </p:spPr>
        <p:txBody>
          <a:bodyPr wrap="square" lIns="0" tIns="0" rIns="0" bIns="0" rtlCol="0" anchor="ctr"/>
          <a:lstStyle/>
          <a:p>
            <a:pPr>
              <a:lnSpc>
                <a:spcPct val="140000"/>
              </a:lnSpc>
            </a:pPr>
            <a:r>
              <a:rPr lang="en-US" sz="1094" dirty="0">
                <a:solidFill>
                  <a:srgbClr val="FFFFFF"/>
                </a:solidFill>
                <a:latin typeface="Liter" pitchFamily="34" charset="0"/>
                <a:ea typeface="Liter" pitchFamily="34" charset="-122"/>
                <a:cs typeface="Liter" pitchFamily="34" charset="-120"/>
              </a:rPr>
              <a:t>It highlights that </a:t>
            </a:r>
            <a:r>
              <a:rPr lang="en-US" sz="1094" b="1" dirty="0">
                <a:solidFill>
                  <a:srgbClr val="FFFFFF"/>
                </a:solidFill>
                <a:latin typeface="Liter" pitchFamily="34" charset="0"/>
                <a:ea typeface="Liter" pitchFamily="34" charset="-122"/>
                <a:cs typeface="Liter" pitchFamily="34" charset="-120"/>
              </a:rPr>
              <a:t>long equipment lifecycles</a:t>
            </a:r>
            <a:r>
              <a:rPr lang="en-US" sz="1094" dirty="0">
                <a:solidFill>
                  <a:srgbClr val="FFFFFF"/>
                </a:solidFill>
                <a:latin typeface="Liter" pitchFamily="34" charset="0"/>
                <a:ea typeface="Liter" pitchFamily="34" charset="-122"/>
                <a:cs typeface="Liter" pitchFamily="34" charset="-120"/>
              </a:rPr>
              <a:t> combined with </a:t>
            </a:r>
            <a:r>
              <a:rPr lang="en-US" sz="1094" b="1" dirty="0">
                <a:solidFill>
                  <a:srgbClr val="FFFFFF"/>
                </a:solidFill>
                <a:latin typeface="Liter" pitchFamily="34" charset="0"/>
                <a:ea typeface="Liter" pitchFamily="34" charset="-122"/>
                <a:cs typeface="Liter" pitchFamily="34" charset="-120"/>
              </a:rPr>
              <a:t>sudden drops in monthly usage velocity</a:t>
            </a:r>
            <a:r>
              <a:rPr lang="en-US" sz="1094" dirty="0">
                <a:solidFill>
                  <a:srgbClr val="FFFFFF"/>
                </a:solidFill>
                <a:latin typeface="Liter" pitchFamily="34" charset="0"/>
                <a:ea typeface="Liter" pitchFamily="34" charset="-122"/>
                <a:cs typeface="Liter" pitchFamily="34" charset="-120"/>
              </a:rPr>
              <a:t> are the ultimate signals of an inactive subscriber.</a:t>
            </a:r>
            <a:endParaRPr lang="en-US" sz="1600" dirty="0"/>
          </a:p>
        </p:txBody>
      </p:sp>
      <p:sp>
        <p:nvSpPr>
          <p:cNvPr id="16" name="Text 14"/>
          <p:cNvSpPr/>
          <p:nvPr/>
        </p:nvSpPr>
        <p:spPr>
          <a:xfrm>
            <a:off x="8671217" y="4237675"/>
            <a:ext cx="3039316" cy="451556"/>
          </a:xfrm>
          <a:prstGeom prst="rect">
            <a:avLst/>
          </a:prstGeom>
          <a:noFill/>
          <a:ln/>
        </p:spPr>
        <p:txBody>
          <a:bodyPr wrap="square" lIns="0" tIns="0" rIns="0" bIns="0" rtlCol="0" anchor="ctr"/>
          <a:lstStyle/>
          <a:p>
            <a:pPr>
              <a:lnSpc>
                <a:spcPct val="140000"/>
              </a:lnSpc>
            </a:pPr>
            <a:r>
              <a:rPr lang="en-US" sz="1094" dirty="0">
                <a:solidFill>
                  <a:srgbClr val="FFFFFF"/>
                </a:solidFill>
                <a:latin typeface="Liter" pitchFamily="34" charset="0"/>
                <a:ea typeface="Liter" pitchFamily="34" charset="-122"/>
                <a:cs typeface="Liter" pitchFamily="34" charset="-120"/>
              </a:rPr>
              <a:t>Engineered metrics like </a:t>
            </a:r>
            <a:r>
              <a:rPr lang="en-US" sz="1094" b="1" dirty="0">
                <a:solidFill>
                  <a:srgbClr val="FFFFFF"/>
                </a:solidFill>
                <a:latin typeface="Liter" pitchFamily="34" charset="0"/>
                <a:ea typeface="Liter" pitchFamily="34" charset="-122"/>
                <a:cs typeface="Liter" pitchFamily="34" charset="-120"/>
              </a:rPr>
              <a:t>"Cost Per Minute"</a:t>
            </a:r>
            <a:r>
              <a:rPr lang="en-US" sz="1094" dirty="0">
                <a:solidFill>
                  <a:srgbClr val="FFFFFF"/>
                </a:solidFill>
                <a:latin typeface="Liter" pitchFamily="34" charset="0"/>
                <a:ea typeface="Liter" pitchFamily="34" charset="-122"/>
                <a:cs typeface="Liter" pitchFamily="34" charset="-120"/>
              </a:rPr>
              <a:t> also rank in the top tier, revealing plan misalignment.</a:t>
            </a:r>
            <a:endParaRPr lang="en-US" sz="1600" dirty="0"/>
          </a:p>
        </p:txBody>
      </p:sp>
      <p:sp>
        <p:nvSpPr>
          <p:cNvPr id="17" name="Shape 15"/>
          <p:cNvSpPr/>
          <p:nvPr/>
        </p:nvSpPr>
        <p:spPr>
          <a:xfrm>
            <a:off x="8478245" y="5140786"/>
            <a:ext cx="3367369" cy="1372034"/>
          </a:xfrm>
          <a:prstGeom prst="roundRect">
            <a:avLst>
              <a:gd name="adj" fmla="val 0"/>
            </a:avLst>
          </a:prstGeom>
          <a:solidFill>
            <a:srgbClr val="D9534F">
              <a:alpha val="10196"/>
            </a:srgbClr>
          </a:solidFill>
          <a:ln/>
        </p:spPr>
      </p:sp>
      <p:sp>
        <p:nvSpPr>
          <p:cNvPr id="18" name="Shape 16"/>
          <p:cNvSpPr/>
          <p:nvPr/>
        </p:nvSpPr>
        <p:spPr>
          <a:xfrm>
            <a:off x="8478245" y="5140786"/>
            <a:ext cx="30876" cy="1372034"/>
          </a:xfrm>
          <a:prstGeom prst="roundRect">
            <a:avLst>
              <a:gd name="adj" fmla="val 0"/>
            </a:avLst>
          </a:prstGeom>
          <a:solidFill>
            <a:srgbClr val="D9534F"/>
          </a:solidFill>
          <a:ln/>
        </p:spPr>
      </p:sp>
      <p:sp>
        <p:nvSpPr>
          <p:cNvPr id="19" name="Shape 17"/>
          <p:cNvSpPr/>
          <p:nvPr/>
        </p:nvSpPr>
        <p:spPr>
          <a:xfrm>
            <a:off x="8689068" y="5353055"/>
            <a:ext cx="156308" cy="156308"/>
          </a:xfrm>
          <a:custGeom>
            <a:avLst/>
            <a:gdLst/>
            <a:ahLst/>
            <a:cxnLst/>
            <a:rect l="l" t="t" r="r" b="b"/>
            <a:pathLst>
              <a:path w="156308" h="156308">
                <a:moveTo>
                  <a:pt x="78154" y="0"/>
                </a:moveTo>
                <a:cubicBezTo>
                  <a:pt x="82642" y="0"/>
                  <a:pt x="86763" y="2473"/>
                  <a:pt x="88900" y="6411"/>
                </a:cubicBezTo>
                <a:lnTo>
                  <a:pt x="154842" y="128526"/>
                </a:lnTo>
                <a:cubicBezTo>
                  <a:pt x="156888" y="132312"/>
                  <a:pt x="156796" y="136891"/>
                  <a:pt x="154598" y="140585"/>
                </a:cubicBezTo>
                <a:cubicBezTo>
                  <a:pt x="152400" y="144279"/>
                  <a:pt x="148401" y="146538"/>
                  <a:pt x="144096" y="146538"/>
                </a:cubicBezTo>
                <a:lnTo>
                  <a:pt x="12212" y="146538"/>
                </a:lnTo>
                <a:cubicBezTo>
                  <a:pt x="7907" y="146538"/>
                  <a:pt x="3938" y="144279"/>
                  <a:pt x="1710" y="140585"/>
                </a:cubicBezTo>
                <a:cubicBezTo>
                  <a:pt x="-519" y="136891"/>
                  <a:pt x="-580" y="132312"/>
                  <a:pt x="1465" y="128526"/>
                </a:cubicBezTo>
                <a:lnTo>
                  <a:pt x="67408" y="6411"/>
                </a:lnTo>
                <a:cubicBezTo>
                  <a:pt x="69545" y="2473"/>
                  <a:pt x="73666" y="0"/>
                  <a:pt x="78154" y="0"/>
                </a:cubicBezTo>
                <a:close/>
                <a:moveTo>
                  <a:pt x="78154" y="51288"/>
                </a:moveTo>
                <a:cubicBezTo>
                  <a:pt x="74094" y="51288"/>
                  <a:pt x="70827" y="54555"/>
                  <a:pt x="70827" y="58615"/>
                </a:cubicBezTo>
                <a:lnTo>
                  <a:pt x="70827" y="92808"/>
                </a:lnTo>
                <a:cubicBezTo>
                  <a:pt x="70827" y="96868"/>
                  <a:pt x="74094" y="100135"/>
                  <a:pt x="78154" y="100135"/>
                </a:cubicBezTo>
                <a:cubicBezTo>
                  <a:pt x="82214" y="100135"/>
                  <a:pt x="85481" y="96868"/>
                  <a:pt x="85481" y="92808"/>
                </a:cubicBezTo>
                <a:lnTo>
                  <a:pt x="85481" y="58615"/>
                </a:lnTo>
                <a:cubicBezTo>
                  <a:pt x="85481" y="54555"/>
                  <a:pt x="82214" y="51288"/>
                  <a:pt x="78154" y="51288"/>
                </a:cubicBezTo>
                <a:close/>
                <a:moveTo>
                  <a:pt x="86305" y="117231"/>
                </a:moveTo>
                <a:cubicBezTo>
                  <a:pt x="86490" y="114205"/>
                  <a:pt x="84982" y="111327"/>
                  <a:pt x="82388" y="109758"/>
                </a:cubicBezTo>
                <a:cubicBezTo>
                  <a:pt x="79794" y="108189"/>
                  <a:pt x="76544" y="108189"/>
                  <a:pt x="73950" y="109758"/>
                </a:cubicBezTo>
                <a:cubicBezTo>
                  <a:pt x="71357" y="111327"/>
                  <a:pt x="69848" y="114205"/>
                  <a:pt x="70033" y="117231"/>
                </a:cubicBezTo>
                <a:cubicBezTo>
                  <a:pt x="69848" y="120256"/>
                  <a:pt x="71357" y="123135"/>
                  <a:pt x="73950" y="124704"/>
                </a:cubicBezTo>
                <a:cubicBezTo>
                  <a:pt x="76544" y="126273"/>
                  <a:pt x="79794" y="126273"/>
                  <a:pt x="82388" y="124704"/>
                </a:cubicBezTo>
                <a:cubicBezTo>
                  <a:pt x="84982" y="123135"/>
                  <a:pt x="86490" y="120256"/>
                  <a:pt x="86305" y="117231"/>
                </a:cubicBezTo>
                <a:close/>
              </a:path>
            </a:pathLst>
          </a:custGeom>
          <a:solidFill>
            <a:srgbClr val="D9534F"/>
          </a:solidFill>
          <a:ln/>
        </p:spPr>
      </p:sp>
      <p:sp>
        <p:nvSpPr>
          <p:cNvPr id="20" name="Text 18"/>
          <p:cNvSpPr/>
          <p:nvPr/>
        </p:nvSpPr>
        <p:spPr>
          <a:xfrm>
            <a:off x="8914586" y="5314462"/>
            <a:ext cx="2835508" cy="243145"/>
          </a:xfrm>
          <a:prstGeom prst="rect">
            <a:avLst/>
          </a:prstGeom>
          <a:noFill/>
          <a:ln/>
        </p:spPr>
        <p:txBody>
          <a:bodyPr wrap="square" lIns="0" tIns="0" rIns="0" bIns="0" rtlCol="0" anchor="ctr"/>
          <a:lstStyle/>
          <a:p>
            <a:pPr>
              <a:lnSpc>
                <a:spcPct val="130000"/>
              </a:lnSpc>
            </a:pPr>
            <a:r>
              <a:rPr lang="en-US" sz="1231" b="1" dirty="0">
                <a:solidFill>
                  <a:srgbClr val="1B365D"/>
                </a:solidFill>
                <a:latin typeface="Liter" pitchFamily="34" charset="0"/>
                <a:ea typeface="Liter" pitchFamily="34" charset="-122"/>
                <a:cs typeface="Liter" pitchFamily="34" charset="-120"/>
              </a:rPr>
              <a:t>Critical Finding</a:t>
            </a:r>
            <a:endParaRPr lang="en-US" sz="1600" dirty="0"/>
          </a:p>
        </p:txBody>
      </p:sp>
      <p:sp>
        <p:nvSpPr>
          <p:cNvPr id="21" name="Text 19"/>
          <p:cNvSpPr/>
          <p:nvPr/>
        </p:nvSpPr>
        <p:spPr>
          <a:xfrm>
            <a:off x="8667358" y="5661812"/>
            <a:ext cx="3074051" cy="677333"/>
          </a:xfrm>
          <a:prstGeom prst="rect">
            <a:avLst/>
          </a:prstGeom>
          <a:noFill/>
          <a:ln/>
        </p:spPr>
        <p:txBody>
          <a:bodyPr wrap="square" lIns="0" tIns="0" rIns="0" bIns="0" rtlCol="0" anchor="ctr"/>
          <a:lstStyle/>
          <a:p>
            <a:pPr>
              <a:lnSpc>
                <a:spcPct val="140000"/>
              </a:lnSpc>
            </a:pPr>
            <a:r>
              <a:rPr lang="en-US" sz="1094" dirty="0">
                <a:solidFill>
                  <a:srgbClr val="1B365D"/>
                </a:solidFill>
                <a:latin typeface="Liter" pitchFamily="34" charset="0"/>
                <a:ea typeface="Liter" pitchFamily="34" charset="-122"/>
                <a:cs typeface="Liter" pitchFamily="34" charset="-120"/>
              </a:rPr>
              <a:t>When a user's phone gets </a:t>
            </a:r>
            <a:r>
              <a:rPr lang="en-US" sz="1094" b="1" dirty="0">
                <a:solidFill>
                  <a:srgbClr val="D9534F"/>
                </a:solidFill>
                <a:latin typeface="Liter" pitchFamily="34" charset="0"/>
                <a:ea typeface="Liter" pitchFamily="34" charset="-122"/>
                <a:cs typeface="Liter" pitchFamily="34" charset="-120"/>
              </a:rPr>
              <a:t>old</a:t>
            </a:r>
            <a:r>
              <a:rPr lang="en-US" sz="1094" dirty="0">
                <a:solidFill>
                  <a:srgbClr val="1B365D"/>
                </a:solidFill>
                <a:latin typeface="Liter" pitchFamily="34" charset="0"/>
                <a:ea typeface="Liter" pitchFamily="34" charset="-122"/>
                <a:cs typeface="Liter" pitchFamily="34" charset="-120"/>
              </a:rPr>
              <a:t> and their usage </a:t>
            </a:r>
            <a:r>
              <a:rPr lang="en-US" sz="1094" b="1" dirty="0">
                <a:solidFill>
                  <a:srgbClr val="D9534F"/>
                </a:solidFill>
                <a:latin typeface="Liter" pitchFamily="34" charset="0"/>
                <a:ea typeface="Liter" pitchFamily="34" charset="-122"/>
                <a:cs typeface="Liter" pitchFamily="34" charset="-120"/>
              </a:rPr>
              <a:t>drops</a:t>
            </a:r>
            <a:r>
              <a:rPr lang="en-US" sz="1094" dirty="0">
                <a:solidFill>
                  <a:srgbClr val="1B365D"/>
                </a:solidFill>
                <a:latin typeface="Liter" pitchFamily="34" charset="0"/>
                <a:ea typeface="Liter" pitchFamily="34" charset="-122"/>
                <a:cs typeface="Liter" pitchFamily="34" charset="-120"/>
              </a:rPr>
              <a:t>, they are silently preparing to exit. These are </a:t>
            </a:r>
            <a:r>
              <a:rPr lang="en-US" sz="1094" b="1" dirty="0">
                <a:solidFill>
                  <a:srgbClr val="D9534F"/>
                </a:solidFill>
                <a:latin typeface="Liter" pitchFamily="34" charset="0"/>
                <a:ea typeface="Liter" pitchFamily="34" charset="-122"/>
                <a:cs typeface="Liter" pitchFamily="34" charset="-120"/>
              </a:rPr>
              <a:t>actionable, early-warning signals</a:t>
            </a:r>
            <a:r>
              <a:rPr lang="en-US" sz="1094" dirty="0">
                <a:solidFill>
                  <a:srgbClr val="1B365D"/>
                </a:solidFill>
                <a:latin typeface="Liter" pitchFamily="34" charset="0"/>
                <a:ea typeface="Liter" pitchFamily="34" charset="-122"/>
                <a:cs typeface="Liter" pitchFamily="34" charset="-120"/>
              </a:rPr>
              <a:t>.</a:t>
            </a:r>
            <a:endParaRPr lang="en-US" sz="1600" dirty="0"/>
          </a:p>
        </p:txBody>
      </p:sp>
      <p:pic>
        <p:nvPicPr>
          <p:cNvPr id="22" name="Image 0" descr="https://kimi-img.moonshot.cn/pub/slides/26-06-13-05:55:26-d8m80ji7ch95jlik3m1g.png"/>
          <p:cNvPicPr>
            <a:picLocks noChangeAspect="1"/>
          </p:cNvPicPr>
          <p:nvPr/>
        </p:nvPicPr>
        <p:blipFill>
          <a:blip r:embed="rId3"/>
          <a:stretch>
            <a:fillRect/>
          </a:stretch>
        </p:blipFill>
        <p:spPr>
          <a:xfrm>
            <a:off x="560656" y="2367773"/>
            <a:ext cx="7480435" cy="3949181"/>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8592" y="348592"/>
            <a:ext cx="11564535" cy="209155"/>
          </a:xfrm>
          <a:prstGeom prst="rect">
            <a:avLst/>
          </a:prstGeom>
          <a:noFill/>
          <a:ln/>
        </p:spPr>
        <p:txBody>
          <a:bodyPr wrap="square" lIns="0" tIns="0" rIns="0" bIns="0" rtlCol="0" anchor="ctr"/>
          <a:lstStyle/>
          <a:p>
            <a:pPr>
              <a:lnSpc>
                <a:spcPct val="130000"/>
              </a:lnSpc>
            </a:pPr>
            <a:r>
              <a:rPr lang="en-US" sz="1098" b="1" kern="0" spc="110" dirty="0">
                <a:solidFill>
                  <a:srgbClr val="20B2AA"/>
                </a:solidFill>
                <a:latin typeface="Liter" pitchFamily="34" charset="0"/>
                <a:ea typeface="Liter" pitchFamily="34" charset="-122"/>
                <a:cs typeface="Liter" pitchFamily="34" charset="-120"/>
              </a:rPr>
              <a:t>Proactive Retention</a:t>
            </a:r>
            <a:endParaRPr lang="en-US" sz="1600" dirty="0"/>
          </a:p>
        </p:txBody>
      </p:sp>
      <p:sp>
        <p:nvSpPr>
          <p:cNvPr id="3" name="Text 1"/>
          <p:cNvSpPr/>
          <p:nvPr/>
        </p:nvSpPr>
        <p:spPr>
          <a:xfrm>
            <a:off x="348592" y="627465"/>
            <a:ext cx="11660397" cy="827906"/>
          </a:xfrm>
          <a:prstGeom prst="rect">
            <a:avLst/>
          </a:prstGeom>
          <a:noFill/>
          <a:ln/>
        </p:spPr>
        <p:txBody>
          <a:bodyPr wrap="square" lIns="0" tIns="0" rIns="0" bIns="0" rtlCol="0" anchor="ctr"/>
          <a:lstStyle/>
          <a:p>
            <a:pPr>
              <a:lnSpc>
                <a:spcPct val="100000"/>
              </a:lnSpc>
            </a:pPr>
            <a:r>
              <a:rPr lang="en-US" sz="2608" b="1" dirty="0">
                <a:solidFill>
                  <a:srgbClr val="1B365D"/>
                </a:solidFill>
                <a:latin typeface="Liter" pitchFamily="34" charset="0"/>
                <a:ea typeface="Liter" pitchFamily="34" charset="-122"/>
                <a:cs typeface="Liter" pitchFamily="34" charset="-120"/>
              </a:rPr>
              <a:t>Deploying Automated, Precision Interventions to the Highest-Risk Customer Cohorts</a:t>
            </a:r>
            <a:endParaRPr lang="en-US" sz="1600" dirty="0"/>
          </a:p>
        </p:txBody>
      </p:sp>
      <p:sp>
        <p:nvSpPr>
          <p:cNvPr id="4" name="Shape 2"/>
          <p:cNvSpPr/>
          <p:nvPr/>
        </p:nvSpPr>
        <p:spPr>
          <a:xfrm>
            <a:off x="348592" y="1559949"/>
            <a:ext cx="697184" cy="34859"/>
          </a:xfrm>
          <a:prstGeom prst="roundRect">
            <a:avLst>
              <a:gd name="adj" fmla="val 0"/>
            </a:avLst>
          </a:prstGeom>
          <a:solidFill>
            <a:srgbClr val="20B2AA"/>
          </a:solidFill>
          <a:ln/>
        </p:spPr>
      </p:sp>
      <p:sp>
        <p:nvSpPr>
          <p:cNvPr id="5" name="Shape 3"/>
          <p:cNvSpPr/>
          <p:nvPr/>
        </p:nvSpPr>
        <p:spPr>
          <a:xfrm>
            <a:off x="348592" y="1769104"/>
            <a:ext cx="5612329" cy="4156958"/>
          </a:xfrm>
          <a:prstGeom prst="roundRect">
            <a:avLst>
              <a:gd name="adj" fmla="val 0"/>
            </a:avLst>
          </a:prstGeom>
          <a:solidFill>
            <a:srgbClr val="1B365D"/>
          </a:solidFill>
          <a:ln/>
        </p:spPr>
      </p:sp>
      <p:sp>
        <p:nvSpPr>
          <p:cNvPr id="6" name="Shape 4"/>
          <p:cNvSpPr/>
          <p:nvPr/>
        </p:nvSpPr>
        <p:spPr>
          <a:xfrm>
            <a:off x="627465" y="2047977"/>
            <a:ext cx="557747" cy="557747"/>
          </a:xfrm>
          <a:prstGeom prst="roundRect">
            <a:avLst>
              <a:gd name="adj" fmla="val 0"/>
            </a:avLst>
          </a:prstGeom>
          <a:solidFill>
            <a:srgbClr val="20B2AA"/>
          </a:solidFill>
          <a:ln/>
        </p:spPr>
      </p:sp>
      <p:sp>
        <p:nvSpPr>
          <p:cNvPr id="7" name="Shape 5"/>
          <p:cNvSpPr/>
          <p:nvPr/>
        </p:nvSpPr>
        <p:spPr>
          <a:xfrm>
            <a:off x="810476" y="2196129"/>
            <a:ext cx="196083" cy="261444"/>
          </a:xfrm>
          <a:custGeom>
            <a:avLst/>
            <a:gdLst/>
            <a:ahLst/>
            <a:cxnLst/>
            <a:rect l="l" t="t" r="r" b="b"/>
            <a:pathLst>
              <a:path w="196083" h="261444">
                <a:moveTo>
                  <a:pt x="8170" y="32680"/>
                </a:moveTo>
                <a:cubicBezTo>
                  <a:pt x="8170" y="14655"/>
                  <a:pt x="22825" y="0"/>
                  <a:pt x="40851" y="0"/>
                </a:cubicBezTo>
                <a:lnTo>
                  <a:pt x="155232" y="0"/>
                </a:lnTo>
                <a:cubicBezTo>
                  <a:pt x="173258" y="0"/>
                  <a:pt x="187913" y="14655"/>
                  <a:pt x="187913" y="32680"/>
                </a:cubicBezTo>
                <a:lnTo>
                  <a:pt x="187913" y="228763"/>
                </a:lnTo>
                <a:cubicBezTo>
                  <a:pt x="187913" y="246789"/>
                  <a:pt x="173258" y="261444"/>
                  <a:pt x="155232" y="261444"/>
                </a:cubicBezTo>
                <a:lnTo>
                  <a:pt x="40851" y="261444"/>
                </a:lnTo>
                <a:cubicBezTo>
                  <a:pt x="22825" y="261444"/>
                  <a:pt x="8170" y="246789"/>
                  <a:pt x="8170" y="228763"/>
                </a:cubicBezTo>
                <a:lnTo>
                  <a:pt x="8170" y="32680"/>
                </a:lnTo>
                <a:close/>
                <a:moveTo>
                  <a:pt x="40851" y="32680"/>
                </a:moveTo>
                <a:lnTo>
                  <a:pt x="40851" y="187913"/>
                </a:lnTo>
                <a:lnTo>
                  <a:pt x="155232" y="187913"/>
                </a:lnTo>
                <a:lnTo>
                  <a:pt x="155232" y="32680"/>
                </a:lnTo>
                <a:lnTo>
                  <a:pt x="40851" y="32680"/>
                </a:lnTo>
                <a:close/>
                <a:moveTo>
                  <a:pt x="98041" y="241019"/>
                </a:moveTo>
                <a:cubicBezTo>
                  <a:pt x="107080" y="241019"/>
                  <a:pt x="114382" y="233717"/>
                  <a:pt x="114382" y="224678"/>
                </a:cubicBezTo>
                <a:cubicBezTo>
                  <a:pt x="114382" y="215640"/>
                  <a:pt x="107080" y="208338"/>
                  <a:pt x="98041" y="208338"/>
                </a:cubicBezTo>
                <a:cubicBezTo>
                  <a:pt x="89003" y="208338"/>
                  <a:pt x="81701" y="215640"/>
                  <a:pt x="81701" y="224678"/>
                </a:cubicBezTo>
                <a:cubicBezTo>
                  <a:pt x="81701" y="233717"/>
                  <a:pt x="89003" y="241019"/>
                  <a:pt x="98041" y="241019"/>
                </a:cubicBezTo>
                <a:close/>
              </a:path>
            </a:pathLst>
          </a:custGeom>
          <a:solidFill>
            <a:srgbClr val="FFFFFF"/>
          </a:solidFill>
          <a:ln/>
        </p:spPr>
      </p:sp>
      <p:sp>
        <p:nvSpPr>
          <p:cNvPr id="8" name="Text 6"/>
          <p:cNvSpPr/>
          <p:nvPr/>
        </p:nvSpPr>
        <p:spPr>
          <a:xfrm>
            <a:off x="1324649" y="2065407"/>
            <a:ext cx="2135125" cy="278873"/>
          </a:xfrm>
          <a:prstGeom prst="rect">
            <a:avLst/>
          </a:prstGeom>
          <a:noFill/>
          <a:ln/>
        </p:spPr>
        <p:txBody>
          <a:bodyPr wrap="square" lIns="0" tIns="0" rIns="0" bIns="0" rtlCol="0" anchor="ctr"/>
          <a:lstStyle/>
          <a:p>
            <a:pPr>
              <a:lnSpc>
                <a:spcPct val="110000"/>
              </a:lnSpc>
            </a:pPr>
            <a:r>
              <a:rPr lang="en-US" sz="1647" b="1" dirty="0">
                <a:solidFill>
                  <a:srgbClr val="FFFFFF"/>
                </a:solidFill>
                <a:latin typeface="Liter" pitchFamily="34" charset="0"/>
                <a:ea typeface="Liter" pitchFamily="34" charset="-122"/>
                <a:cs typeface="Liter" pitchFamily="34" charset="-120"/>
              </a:rPr>
              <a:t>Strategic Pillar 1</a:t>
            </a:r>
            <a:endParaRPr lang="en-US" sz="1600" dirty="0"/>
          </a:p>
        </p:txBody>
      </p:sp>
      <p:sp>
        <p:nvSpPr>
          <p:cNvPr id="9" name="Text 7"/>
          <p:cNvSpPr/>
          <p:nvPr/>
        </p:nvSpPr>
        <p:spPr>
          <a:xfrm>
            <a:off x="1324649" y="2344161"/>
            <a:ext cx="2108981" cy="244014"/>
          </a:xfrm>
          <a:prstGeom prst="rect">
            <a:avLst/>
          </a:prstGeom>
          <a:noFill/>
          <a:ln/>
        </p:spPr>
        <p:txBody>
          <a:bodyPr wrap="square" lIns="0" tIns="0" rIns="0" bIns="0" rtlCol="0" anchor="ctr"/>
          <a:lstStyle/>
          <a:p>
            <a:pPr>
              <a:lnSpc>
                <a:spcPct val="130000"/>
              </a:lnSpc>
            </a:pPr>
            <a:r>
              <a:rPr lang="en-US" sz="1235" b="1" dirty="0">
                <a:solidFill>
                  <a:srgbClr val="20B2AA"/>
                </a:solidFill>
                <a:latin typeface="Liter" pitchFamily="34" charset="0"/>
                <a:ea typeface="Liter" pitchFamily="34" charset="-122"/>
                <a:cs typeface="Liter" pitchFamily="34" charset="-120"/>
              </a:rPr>
              <a:t>Targeted Hardware Renewals</a:t>
            </a:r>
            <a:endParaRPr lang="en-US" sz="1600" dirty="0"/>
          </a:p>
        </p:txBody>
      </p:sp>
      <p:sp>
        <p:nvSpPr>
          <p:cNvPr id="10" name="Shape 8"/>
          <p:cNvSpPr/>
          <p:nvPr/>
        </p:nvSpPr>
        <p:spPr>
          <a:xfrm>
            <a:off x="627465" y="2814879"/>
            <a:ext cx="278873" cy="278873"/>
          </a:xfrm>
          <a:prstGeom prst="roundRect">
            <a:avLst>
              <a:gd name="adj" fmla="val 0"/>
            </a:avLst>
          </a:prstGeom>
          <a:solidFill>
            <a:srgbClr val="FFFFFF">
              <a:alpha val="20000"/>
            </a:srgbClr>
          </a:solidFill>
          <a:ln/>
        </p:spPr>
      </p:sp>
      <p:sp>
        <p:nvSpPr>
          <p:cNvPr id="11" name="Shape 9"/>
          <p:cNvSpPr/>
          <p:nvPr/>
        </p:nvSpPr>
        <p:spPr>
          <a:xfrm>
            <a:off x="688469" y="2884598"/>
            <a:ext cx="156866" cy="139437"/>
          </a:xfrm>
          <a:custGeom>
            <a:avLst/>
            <a:gdLst/>
            <a:ahLst/>
            <a:cxnLst/>
            <a:rect l="l" t="t" r="r" b="b"/>
            <a:pathLst>
              <a:path w="156866" h="139437">
                <a:moveTo>
                  <a:pt x="78433" y="-4357"/>
                </a:moveTo>
                <a:cubicBezTo>
                  <a:pt x="83254" y="-4357"/>
                  <a:pt x="87148" y="-463"/>
                  <a:pt x="87148" y="4357"/>
                </a:cubicBezTo>
                <a:lnTo>
                  <a:pt x="87148" y="9341"/>
                </a:lnTo>
                <a:cubicBezTo>
                  <a:pt x="113864" y="13154"/>
                  <a:pt x="134998" y="34287"/>
                  <a:pt x="138810" y="61004"/>
                </a:cubicBezTo>
                <a:lnTo>
                  <a:pt x="143794" y="61004"/>
                </a:lnTo>
                <a:cubicBezTo>
                  <a:pt x="148615" y="61004"/>
                  <a:pt x="152509" y="64898"/>
                  <a:pt x="152509" y="69718"/>
                </a:cubicBezTo>
                <a:cubicBezTo>
                  <a:pt x="152509" y="74539"/>
                  <a:pt x="148615" y="78433"/>
                  <a:pt x="143794" y="78433"/>
                </a:cubicBezTo>
                <a:lnTo>
                  <a:pt x="138810" y="78433"/>
                </a:lnTo>
                <a:cubicBezTo>
                  <a:pt x="134998" y="105149"/>
                  <a:pt x="113864" y="126283"/>
                  <a:pt x="87148" y="130096"/>
                </a:cubicBezTo>
                <a:lnTo>
                  <a:pt x="87148" y="135079"/>
                </a:lnTo>
                <a:cubicBezTo>
                  <a:pt x="87148" y="139900"/>
                  <a:pt x="83254" y="143794"/>
                  <a:pt x="78433" y="143794"/>
                </a:cubicBezTo>
                <a:cubicBezTo>
                  <a:pt x="73613" y="143794"/>
                  <a:pt x="69718" y="139900"/>
                  <a:pt x="69718" y="135079"/>
                </a:cubicBezTo>
                <a:lnTo>
                  <a:pt x="69718" y="130096"/>
                </a:lnTo>
                <a:cubicBezTo>
                  <a:pt x="43002" y="126283"/>
                  <a:pt x="21869" y="105149"/>
                  <a:pt x="18056" y="78433"/>
                </a:cubicBezTo>
                <a:lnTo>
                  <a:pt x="13072" y="78433"/>
                </a:lnTo>
                <a:cubicBezTo>
                  <a:pt x="8252" y="78433"/>
                  <a:pt x="4357" y="74539"/>
                  <a:pt x="4357" y="69718"/>
                </a:cubicBezTo>
                <a:cubicBezTo>
                  <a:pt x="4357" y="64898"/>
                  <a:pt x="8252" y="61004"/>
                  <a:pt x="13072" y="61004"/>
                </a:cubicBezTo>
                <a:lnTo>
                  <a:pt x="18056" y="61004"/>
                </a:lnTo>
                <a:cubicBezTo>
                  <a:pt x="21869" y="34287"/>
                  <a:pt x="43002" y="13154"/>
                  <a:pt x="69718" y="9341"/>
                </a:cubicBezTo>
                <a:lnTo>
                  <a:pt x="69718" y="4357"/>
                </a:lnTo>
                <a:cubicBezTo>
                  <a:pt x="69718" y="-463"/>
                  <a:pt x="73613" y="-4357"/>
                  <a:pt x="78433" y="-4357"/>
                </a:cubicBezTo>
                <a:close/>
                <a:moveTo>
                  <a:pt x="35731" y="78433"/>
                </a:moveTo>
                <a:cubicBezTo>
                  <a:pt x="39189" y="95509"/>
                  <a:pt x="52643" y="108962"/>
                  <a:pt x="69718" y="112421"/>
                </a:cubicBezTo>
                <a:lnTo>
                  <a:pt x="69718" y="108935"/>
                </a:lnTo>
                <a:cubicBezTo>
                  <a:pt x="69718" y="104115"/>
                  <a:pt x="73613" y="100220"/>
                  <a:pt x="78433" y="100220"/>
                </a:cubicBezTo>
                <a:cubicBezTo>
                  <a:pt x="83254" y="100220"/>
                  <a:pt x="87148" y="104115"/>
                  <a:pt x="87148" y="108935"/>
                </a:cubicBezTo>
                <a:lnTo>
                  <a:pt x="87148" y="112421"/>
                </a:lnTo>
                <a:cubicBezTo>
                  <a:pt x="104224" y="108962"/>
                  <a:pt x="117677" y="95509"/>
                  <a:pt x="121136" y="78433"/>
                </a:cubicBezTo>
                <a:lnTo>
                  <a:pt x="117650" y="78433"/>
                </a:lnTo>
                <a:cubicBezTo>
                  <a:pt x="112829" y="78433"/>
                  <a:pt x="108935" y="74539"/>
                  <a:pt x="108935" y="69718"/>
                </a:cubicBezTo>
                <a:cubicBezTo>
                  <a:pt x="108935" y="64898"/>
                  <a:pt x="112829" y="61004"/>
                  <a:pt x="117650" y="61004"/>
                </a:cubicBezTo>
                <a:lnTo>
                  <a:pt x="121136" y="61004"/>
                </a:lnTo>
                <a:cubicBezTo>
                  <a:pt x="117677" y="43928"/>
                  <a:pt x="104224" y="30475"/>
                  <a:pt x="87148" y="27016"/>
                </a:cubicBezTo>
                <a:lnTo>
                  <a:pt x="87148" y="30502"/>
                </a:lnTo>
                <a:cubicBezTo>
                  <a:pt x="87148" y="35322"/>
                  <a:pt x="83254" y="39217"/>
                  <a:pt x="78433" y="39217"/>
                </a:cubicBezTo>
                <a:cubicBezTo>
                  <a:pt x="73613" y="39217"/>
                  <a:pt x="69718" y="35322"/>
                  <a:pt x="69718" y="30502"/>
                </a:cubicBezTo>
                <a:lnTo>
                  <a:pt x="69718" y="27016"/>
                </a:lnTo>
                <a:cubicBezTo>
                  <a:pt x="52643" y="30475"/>
                  <a:pt x="39189" y="43928"/>
                  <a:pt x="35731" y="61004"/>
                </a:cubicBezTo>
                <a:lnTo>
                  <a:pt x="39217" y="61004"/>
                </a:lnTo>
                <a:cubicBezTo>
                  <a:pt x="44037" y="61004"/>
                  <a:pt x="47931" y="64898"/>
                  <a:pt x="47931" y="69718"/>
                </a:cubicBezTo>
                <a:cubicBezTo>
                  <a:pt x="47931" y="74539"/>
                  <a:pt x="44037" y="78433"/>
                  <a:pt x="39217" y="78433"/>
                </a:cubicBezTo>
                <a:lnTo>
                  <a:pt x="35731" y="78433"/>
                </a:lnTo>
                <a:close/>
                <a:moveTo>
                  <a:pt x="78433" y="56646"/>
                </a:moveTo>
                <a:cubicBezTo>
                  <a:pt x="85648" y="56646"/>
                  <a:pt x="91505" y="62504"/>
                  <a:pt x="91505" y="69718"/>
                </a:cubicBezTo>
                <a:cubicBezTo>
                  <a:pt x="91505" y="76933"/>
                  <a:pt x="85648" y="82791"/>
                  <a:pt x="78433" y="82791"/>
                </a:cubicBezTo>
                <a:cubicBezTo>
                  <a:pt x="71218" y="82791"/>
                  <a:pt x="65361" y="76933"/>
                  <a:pt x="65361" y="69718"/>
                </a:cubicBezTo>
                <a:cubicBezTo>
                  <a:pt x="65361" y="62504"/>
                  <a:pt x="71218" y="56646"/>
                  <a:pt x="78433" y="56646"/>
                </a:cubicBezTo>
                <a:close/>
              </a:path>
            </a:pathLst>
          </a:custGeom>
          <a:solidFill>
            <a:srgbClr val="FFFFFF"/>
          </a:solidFill>
          <a:ln/>
        </p:spPr>
      </p:sp>
      <p:sp>
        <p:nvSpPr>
          <p:cNvPr id="12" name="Text 10"/>
          <p:cNvSpPr/>
          <p:nvPr/>
        </p:nvSpPr>
        <p:spPr>
          <a:xfrm>
            <a:off x="976057" y="2832309"/>
            <a:ext cx="531603" cy="244014"/>
          </a:xfrm>
          <a:prstGeom prst="rect">
            <a:avLst/>
          </a:prstGeom>
          <a:noFill/>
          <a:ln/>
        </p:spPr>
        <p:txBody>
          <a:bodyPr wrap="square" lIns="0" tIns="0" rIns="0" bIns="0" rtlCol="0" anchor="ctr"/>
          <a:lstStyle/>
          <a:p>
            <a:pPr>
              <a:lnSpc>
                <a:spcPct val="130000"/>
              </a:lnSpc>
            </a:pPr>
            <a:r>
              <a:rPr lang="en-US" sz="1235" b="1" dirty="0">
                <a:solidFill>
                  <a:srgbClr val="FFFFFF"/>
                </a:solidFill>
                <a:latin typeface="Liter" pitchFamily="34" charset="0"/>
                <a:ea typeface="Liter" pitchFamily="34" charset="-122"/>
                <a:cs typeface="Liter" pitchFamily="34" charset="-120"/>
              </a:rPr>
              <a:t>Action</a:t>
            </a:r>
            <a:endParaRPr lang="en-US" sz="1600" dirty="0"/>
          </a:p>
        </p:txBody>
      </p:sp>
      <p:sp>
        <p:nvSpPr>
          <p:cNvPr id="13" name="Text 11"/>
          <p:cNvSpPr/>
          <p:nvPr/>
        </p:nvSpPr>
        <p:spPr>
          <a:xfrm>
            <a:off x="627465" y="3198330"/>
            <a:ext cx="5124300" cy="679754"/>
          </a:xfrm>
          <a:prstGeom prst="rect">
            <a:avLst/>
          </a:prstGeom>
          <a:noFill/>
          <a:ln/>
        </p:spPr>
        <p:txBody>
          <a:bodyPr wrap="square" lIns="348592" tIns="0" rIns="0" bIns="0" rtlCol="0" anchor="ctr"/>
          <a:lstStyle/>
          <a:p>
            <a:pPr>
              <a:lnSpc>
                <a:spcPct val="140000"/>
              </a:lnSpc>
            </a:pPr>
            <a:r>
              <a:rPr lang="en-US" sz="1098" dirty="0">
                <a:solidFill>
                  <a:srgbClr val="FFFFFF">
                    <a:alpha val="90000"/>
                  </a:srgbClr>
                </a:solidFill>
                <a:latin typeface="Liter" pitchFamily="34" charset="0"/>
                <a:ea typeface="Liter" pitchFamily="34" charset="-122"/>
                <a:cs typeface="Liter" pitchFamily="34" charset="-120"/>
              </a:rPr>
              <a:t>Isolate subscribers in the </a:t>
            </a:r>
            <a:r>
              <a:rPr lang="en-US" sz="1098" b="1" dirty="0">
                <a:solidFill>
                  <a:srgbClr val="FFFFFF">
                    <a:alpha val="90000"/>
                  </a:srgbClr>
                </a:solidFill>
                <a:latin typeface="Liter" pitchFamily="34" charset="0"/>
                <a:ea typeface="Liter" pitchFamily="34" charset="-122"/>
                <a:cs typeface="Liter" pitchFamily="34" charset="-120"/>
              </a:rPr>
              <a:t>highest-risk decile</a:t>
            </a:r>
            <a:r>
              <a:rPr lang="en-US" sz="1098" dirty="0">
                <a:solidFill>
                  <a:srgbClr val="FFFFFF">
                    <a:alpha val="90000"/>
                  </a:srgbClr>
                </a:solidFill>
                <a:latin typeface="Liter" pitchFamily="34" charset="0"/>
                <a:ea typeface="Liter" pitchFamily="34" charset="-122"/>
                <a:cs typeface="Liter" pitchFamily="34" charset="-120"/>
              </a:rPr>
              <a:t> who have equipment lifecycles exceeding 12 months. These customers show the strongest correlation between hardware age and flight probability.</a:t>
            </a:r>
            <a:endParaRPr lang="en-US" sz="1600" dirty="0"/>
          </a:p>
        </p:txBody>
      </p:sp>
      <p:sp>
        <p:nvSpPr>
          <p:cNvPr id="14" name="Shape 12"/>
          <p:cNvSpPr/>
          <p:nvPr/>
        </p:nvSpPr>
        <p:spPr>
          <a:xfrm>
            <a:off x="627465" y="4052380"/>
            <a:ext cx="278873" cy="278873"/>
          </a:xfrm>
          <a:prstGeom prst="roundRect">
            <a:avLst>
              <a:gd name="adj" fmla="val 0"/>
            </a:avLst>
          </a:prstGeom>
          <a:solidFill>
            <a:srgbClr val="20B2AA"/>
          </a:solidFill>
          <a:ln/>
        </p:spPr>
      </p:sp>
      <p:sp>
        <p:nvSpPr>
          <p:cNvPr id="15" name="Shape 13"/>
          <p:cNvSpPr/>
          <p:nvPr/>
        </p:nvSpPr>
        <p:spPr>
          <a:xfrm>
            <a:off x="697184" y="4122099"/>
            <a:ext cx="139437" cy="139437"/>
          </a:xfrm>
          <a:custGeom>
            <a:avLst/>
            <a:gdLst/>
            <a:ahLst/>
            <a:cxnLst/>
            <a:rect l="l" t="t" r="r" b="b"/>
            <a:pathLst>
              <a:path w="139437" h="139437">
                <a:moveTo>
                  <a:pt x="87556" y="18737"/>
                </a:moveTo>
                <a:cubicBezTo>
                  <a:pt x="89626" y="15224"/>
                  <a:pt x="93384" y="13072"/>
                  <a:pt x="97442" y="13072"/>
                </a:cubicBezTo>
                <a:lnTo>
                  <a:pt x="98041" y="13072"/>
                </a:lnTo>
                <a:cubicBezTo>
                  <a:pt x="104060" y="13072"/>
                  <a:pt x="108935" y="17947"/>
                  <a:pt x="108935" y="23966"/>
                </a:cubicBezTo>
                <a:cubicBezTo>
                  <a:pt x="108935" y="29984"/>
                  <a:pt x="104060" y="34859"/>
                  <a:pt x="98041" y="34859"/>
                </a:cubicBezTo>
                <a:lnTo>
                  <a:pt x="78079" y="34859"/>
                </a:lnTo>
                <a:lnTo>
                  <a:pt x="87556" y="18737"/>
                </a:lnTo>
                <a:close/>
                <a:moveTo>
                  <a:pt x="51880" y="18737"/>
                </a:moveTo>
                <a:lnTo>
                  <a:pt x="61358" y="34859"/>
                </a:lnTo>
                <a:lnTo>
                  <a:pt x="41395" y="34859"/>
                </a:lnTo>
                <a:cubicBezTo>
                  <a:pt x="35377" y="34859"/>
                  <a:pt x="30502" y="29984"/>
                  <a:pt x="30502" y="23966"/>
                </a:cubicBezTo>
                <a:cubicBezTo>
                  <a:pt x="30502" y="17947"/>
                  <a:pt x="35377" y="13072"/>
                  <a:pt x="41395" y="13072"/>
                </a:cubicBezTo>
                <a:lnTo>
                  <a:pt x="41994" y="13072"/>
                </a:lnTo>
                <a:cubicBezTo>
                  <a:pt x="46052" y="13072"/>
                  <a:pt x="49838" y="15224"/>
                  <a:pt x="51880" y="18737"/>
                </a:cubicBezTo>
                <a:close/>
                <a:moveTo>
                  <a:pt x="76282" y="12119"/>
                </a:moveTo>
                <a:lnTo>
                  <a:pt x="69718" y="23285"/>
                </a:lnTo>
                <a:lnTo>
                  <a:pt x="63155" y="12119"/>
                </a:lnTo>
                <a:cubicBezTo>
                  <a:pt x="58743" y="4603"/>
                  <a:pt x="50682" y="0"/>
                  <a:pt x="41994" y="0"/>
                </a:cubicBezTo>
                <a:lnTo>
                  <a:pt x="41395" y="0"/>
                </a:lnTo>
                <a:cubicBezTo>
                  <a:pt x="28160" y="0"/>
                  <a:pt x="17430" y="10730"/>
                  <a:pt x="17430" y="23966"/>
                </a:cubicBezTo>
                <a:cubicBezTo>
                  <a:pt x="17430" y="27887"/>
                  <a:pt x="18383" y="31591"/>
                  <a:pt x="20044" y="34859"/>
                </a:cubicBezTo>
                <a:lnTo>
                  <a:pt x="8715" y="34859"/>
                </a:lnTo>
                <a:cubicBezTo>
                  <a:pt x="3894" y="34859"/>
                  <a:pt x="0" y="38754"/>
                  <a:pt x="0" y="43574"/>
                </a:cubicBezTo>
                <a:lnTo>
                  <a:pt x="0" y="52289"/>
                </a:lnTo>
                <a:cubicBezTo>
                  <a:pt x="0" y="57109"/>
                  <a:pt x="3894" y="61004"/>
                  <a:pt x="8715" y="61004"/>
                </a:cubicBezTo>
                <a:lnTo>
                  <a:pt x="130722" y="61004"/>
                </a:lnTo>
                <a:cubicBezTo>
                  <a:pt x="135542" y="61004"/>
                  <a:pt x="139437" y="57109"/>
                  <a:pt x="139437" y="52289"/>
                </a:cubicBezTo>
                <a:lnTo>
                  <a:pt x="139437" y="43574"/>
                </a:lnTo>
                <a:cubicBezTo>
                  <a:pt x="139437" y="38754"/>
                  <a:pt x="135542" y="34859"/>
                  <a:pt x="130722" y="34859"/>
                </a:cubicBezTo>
                <a:lnTo>
                  <a:pt x="119393" y="34859"/>
                </a:lnTo>
                <a:cubicBezTo>
                  <a:pt x="121054" y="31591"/>
                  <a:pt x="122007" y="27887"/>
                  <a:pt x="122007" y="23966"/>
                </a:cubicBezTo>
                <a:cubicBezTo>
                  <a:pt x="122007" y="10730"/>
                  <a:pt x="111277" y="0"/>
                  <a:pt x="98041" y="0"/>
                </a:cubicBezTo>
                <a:lnTo>
                  <a:pt x="97442" y="0"/>
                </a:lnTo>
                <a:cubicBezTo>
                  <a:pt x="88755" y="0"/>
                  <a:pt x="80694" y="4603"/>
                  <a:pt x="76282" y="12092"/>
                </a:cubicBezTo>
                <a:close/>
                <a:moveTo>
                  <a:pt x="130722" y="74076"/>
                </a:moveTo>
                <a:lnTo>
                  <a:pt x="76254" y="74076"/>
                </a:lnTo>
                <a:lnTo>
                  <a:pt x="76254" y="130722"/>
                </a:lnTo>
                <a:lnTo>
                  <a:pt x="113292" y="130722"/>
                </a:lnTo>
                <a:cubicBezTo>
                  <a:pt x="122906" y="130722"/>
                  <a:pt x="130722" y="122906"/>
                  <a:pt x="130722" y="113292"/>
                </a:cubicBezTo>
                <a:lnTo>
                  <a:pt x="130722" y="74076"/>
                </a:lnTo>
                <a:close/>
                <a:moveTo>
                  <a:pt x="63182" y="74076"/>
                </a:moveTo>
                <a:lnTo>
                  <a:pt x="8715" y="74076"/>
                </a:lnTo>
                <a:lnTo>
                  <a:pt x="8715" y="113292"/>
                </a:lnTo>
                <a:cubicBezTo>
                  <a:pt x="8715" y="122906"/>
                  <a:pt x="16531" y="130722"/>
                  <a:pt x="26144" y="130722"/>
                </a:cubicBezTo>
                <a:lnTo>
                  <a:pt x="63182" y="130722"/>
                </a:lnTo>
                <a:lnTo>
                  <a:pt x="63182" y="74076"/>
                </a:lnTo>
                <a:close/>
              </a:path>
            </a:pathLst>
          </a:custGeom>
          <a:solidFill>
            <a:srgbClr val="FFFFFF"/>
          </a:solidFill>
          <a:ln/>
        </p:spPr>
      </p:sp>
      <p:sp>
        <p:nvSpPr>
          <p:cNvPr id="16" name="Text 14"/>
          <p:cNvSpPr/>
          <p:nvPr/>
        </p:nvSpPr>
        <p:spPr>
          <a:xfrm>
            <a:off x="976057" y="4069810"/>
            <a:ext cx="714613" cy="244014"/>
          </a:xfrm>
          <a:prstGeom prst="rect">
            <a:avLst/>
          </a:prstGeom>
          <a:noFill/>
          <a:ln/>
        </p:spPr>
        <p:txBody>
          <a:bodyPr wrap="square" lIns="0" tIns="0" rIns="0" bIns="0" rtlCol="0" anchor="ctr"/>
          <a:lstStyle/>
          <a:p>
            <a:pPr>
              <a:lnSpc>
                <a:spcPct val="130000"/>
              </a:lnSpc>
            </a:pPr>
            <a:r>
              <a:rPr lang="en-US" sz="1235" b="1" dirty="0">
                <a:solidFill>
                  <a:srgbClr val="FFFFFF"/>
                </a:solidFill>
                <a:latin typeface="Liter" pitchFamily="34" charset="0"/>
                <a:ea typeface="Liter" pitchFamily="34" charset="-122"/>
                <a:cs typeface="Liter" pitchFamily="34" charset="-120"/>
              </a:rPr>
              <a:t>Incentive</a:t>
            </a:r>
            <a:endParaRPr lang="en-US" sz="1600" dirty="0"/>
          </a:p>
        </p:txBody>
      </p:sp>
      <p:sp>
        <p:nvSpPr>
          <p:cNvPr id="17" name="Text 15"/>
          <p:cNvSpPr/>
          <p:nvPr/>
        </p:nvSpPr>
        <p:spPr>
          <a:xfrm>
            <a:off x="627465" y="4435831"/>
            <a:ext cx="5124300" cy="679754"/>
          </a:xfrm>
          <a:prstGeom prst="rect">
            <a:avLst/>
          </a:prstGeom>
          <a:noFill/>
          <a:ln/>
        </p:spPr>
        <p:txBody>
          <a:bodyPr wrap="square" lIns="348592" tIns="0" rIns="0" bIns="0" rtlCol="0" anchor="ctr"/>
          <a:lstStyle/>
          <a:p>
            <a:pPr>
              <a:lnSpc>
                <a:spcPct val="140000"/>
              </a:lnSpc>
            </a:pPr>
            <a:r>
              <a:rPr lang="en-US" sz="1098" dirty="0">
                <a:solidFill>
                  <a:srgbClr val="FFFFFF">
                    <a:alpha val="90000"/>
                  </a:srgbClr>
                </a:solidFill>
                <a:latin typeface="Liter" pitchFamily="34" charset="0"/>
                <a:ea typeface="Liter" pitchFamily="34" charset="-122"/>
                <a:cs typeface="Liter" pitchFamily="34" charset="-120"/>
              </a:rPr>
              <a:t>Push a </a:t>
            </a:r>
            <a:r>
              <a:rPr lang="en-US" sz="1098" b="1" dirty="0">
                <a:solidFill>
                  <a:srgbClr val="FFFFFF">
                    <a:alpha val="90000"/>
                  </a:srgbClr>
                </a:solidFill>
                <a:latin typeface="Liter" pitchFamily="34" charset="0"/>
                <a:ea typeface="Liter" pitchFamily="34" charset="-122"/>
                <a:cs typeface="Liter" pitchFamily="34" charset="-120"/>
              </a:rPr>
              <a:t>proactive, personalized app notification</a:t>
            </a:r>
            <a:r>
              <a:rPr lang="en-US" sz="1098" dirty="0">
                <a:solidFill>
                  <a:srgbClr val="FFFFFF">
                    <a:alpha val="90000"/>
                  </a:srgbClr>
                </a:solidFill>
                <a:latin typeface="Liter" pitchFamily="34" charset="0"/>
                <a:ea typeface="Liter" pitchFamily="34" charset="-122"/>
                <a:cs typeface="Liter" pitchFamily="34" charset="-120"/>
              </a:rPr>
              <a:t> offering an attractive, subsidized handset upgrade paired with a contract extension. Transform tech fatigue into loyalty.</a:t>
            </a:r>
            <a:endParaRPr lang="en-US" sz="1600" dirty="0"/>
          </a:p>
        </p:txBody>
      </p:sp>
      <p:sp>
        <p:nvSpPr>
          <p:cNvPr id="18" name="Shape 16"/>
          <p:cNvSpPr/>
          <p:nvPr/>
        </p:nvSpPr>
        <p:spPr>
          <a:xfrm>
            <a:off x="627465" y="5293755"/>
            <a:ext cx="5054582" cy="7746"/>
          </a:xfrm>
          <a:prstGeom prst="roundRect">
            <a:avLst>
              <a:gd name="adj" fmla="val 0"/>
            </a:avLst>
          </a:prstGeom>
          <a:solidFill>
            <a:srgbClr val="FFFFFF">
              <a:alpha val="20000"/>
            </a:srgbClr>
          </a:solidFill>
          <a:ln/>
        </p:spPr>
      </p:sp>
      <p:sp>
        <p:nvSpPr>
          <p:cNvPr id="19" name="Shape 17"/>
          <p:cNvSpPr/>
          <p:nvPr/>
        </p:nvSpPr>
        <p:spPr>
          <a:xfrm>
            <a:off x="644895" y="5495164"/>
            <a:ext cx="122007" cy="122007"/>
          </a:xfrm>
          <a:custGeom>
            <a:avLst/>
            <a:gdLst/>
            <a:ahLst/>
            <a:cxnLst/>
            <a:rect l="l" t="t" r="r" b="b"/>
            <a:pathLst>
              <a:path w="122007" h="122007">
                <a:moveTo>
                  <a:pt x="15251" y="15251"/>
                </a:moveTo>
                <a:cubicBezTo>
                  <a:pt x="15251" y="11033"/>
                  <a:pt x="11843" y="7625"/>
                  <a:pt x="7625" y="7625"/>
                </a:cubicBezTo>
                <a:cubicBezTo>
                  <a:pt x="3408" y="7625"/>
                  <a:pt x="0" y="11033"/>
                  <a:pt x="0" y="15251"/>
                </a:cubicBezTo>
                <a:lnTo>
                  <a:pt x="0" y="95318"/>
                </a:lnTo>
                <a:cubicBezTo>
                  <a:pt x="0" y="105851"/>
                  <a:pt x="8531" y="114382"/>
                  <a:pt x="19064" y="114382"/>
                </a:cubicBezTo>
                <a:lnTo>
                  <a:pt x="114382" y="114382"/>
                </a:lnTo>
                <a:cubicBezTo>
                  <a:pt x="118600" y="114382"/>
                  <a:pt x="122007" y="110974"/>
                  <a:pt x="122007" y="106756"/>
                </a:cubicBezTo>
                <a:cubicBezTo>
                  <a:pt x="122007" y="102538"/>
                  <a:pt x="118600" y="99131"/>
                  <a:pt x="114382" y="99131"/>
                </a:cubicBezTo>
                <a:lnTo>
                  <a:pt x="19064" y="99131"/>
                </a:lnTo>
                <a:cubicBezTo>
                  <a:pt x="16967" y="99131"/>
                  <a:pt x="15251" y="97415"/>
                  <a:pt x="15251" y="95318"/>
                </a:cubicBezTo>
                <a:lnTo>
                  <a:pt x="15251" y="15251"/>
                </a:lnTo>
                <a:close/>
                <a:moveTo>
                  <a:pt x="112142" y="35887"/>
                </a:moveTo>
                <a:cubicBezTo>
                  <a:pt x="115120" y="32909"/>
                  <a:pt x="115120" y="28071"/>
                  <a:pt x="112142" y="25092"/>
                </a:cubicBezTo>
                <a:cubicBezTo>
                  <a:pt x="109163" y="22114"/>
                  <a:pt x="104326" y="22114"/>
                  <a:pt x="101347" y="25092"/>
                </a:cubicBezTo>
                <a:lnTo>
                  <a:pt x="76254" y="50209"/>
                </a:lnTo>
                <a:lnTo>
                  <a:pt x="62576" y="36554"/>
                </a:lnTo>
                <a:cubicBezTo>
                  <a:pt x="59598" y="33576"/>
                  <a:pt x="54760" y="33576"/>
                  <a:pt x="51782" y="36554"/>
                </a:cubicBezTo>
                <a:lnTo>
                  <a:pt x="28905" y="59431"/>
                </a:lnTo>
                <a:cubicBezTo>
                  <a:pt x="25927" y="62410"/>
                  <a:pt x="25927" y="67247"/>
                  <a:pt x="28905" y="70226"/>
                </a:cubicBezTo>
                <a:cubicBezTo>
                  <a:pt x="31884" y="73204"/>
                  <a:pt x="36721" y="73204"/>
                  <a:pt x="39700" y="70226"/>
                </a:cubicBezTo>
                <a:lnTo>
                  <a:pt x="57191" y="52735"/>
                </a:lnTo>
                <a:lnTo>
                  <a:pt x="70869" y="66413"/>
                </a:lnTo>
                <a:cubicBezTo>
                  <a:pt x="73848" y="69392"/>
                  <a:pt x="78685" y="69392"/>
                  <a:pt x="81664" y="66413"/>
                </a:cubicBezTo>
                <a:lnTo>
                  <a:pt x="112166" y="35911"/>
                </a:lnTo>
                <a:close/>
              </a:path>
            </a:pathLst>
          </a:custGeom>
          <a:solidFill>
            <a:srgbClr val="20B2AA"/>
          </a:solidFill>
          <a:ln/>
        </p:spPr>
      </p:sp>
      <p:sp>
        <p:nvSpPr>
          <p:cNvPr id="20" name="Text 18"/>
          <p:cNvSpPr/>
          <p:nvPr/>
        </p:nvSpPr>
        <p:spPr>
          <a:xfrm>
            <a:off x="832173" y="5471926"/>
            <a:ext cx="4910878" cy="174296"/>
          </a:xfrm>
          <a:prstGeom prst="rect">
            <a:avLst/>
          </a:prstGeom>
          <a:noFill/>
          <a:ln/>
        </p:spPr>
        <p:txBody>
          <a:bodyPr wrap="square" lIns="0" tIns="0" rIns="0" bIns="0" rtlCol="0" anchor="ctr"/>
          <a:lstStyle/>
          <a:p>
            <a:pPr>
              <a:lnSpc>
                <a:spcPct val="120000"/>
              </a:lnSpc>
            </a:pPr>
            <a:r>
              <a:rPr lang="en-US" sz="961" dirty="0">
                <a:solidFill>
                  <a:srgbClr val="FFFFFF">
                    <a:alpha val="70000"/>
                  </a:srgbClr>
                </a:solidFill>
                <a:latin typeface="Liter" pitchFamily="34" charset="0"/>
                <a:ea typeface="Liter" pitchFamily="34" charset="-122"/>
                <a:cs typeface="Liter" pitchFamily="34" charset="-120"/>
              </a:rPr>
              <a:t>Expected Impact: 15-25% reduction in hardware-driven churn</a:t>
            </a:r>
            <a:endParaRPr lang="en-US" sz="1600" dirty="0"/>
          </a:p>
        </p:txBody>
      </p:sp>
      <p:sp>
        <p:nvSpPr>
          <p:cNvPr id="21" name="Shape 19"/>
          <p:cNvSpPr/>
          <p:nvPr/>
        </p:nvSpPr>
        <p:spPr>
          <a:xfrm>
            <a:off x="6235921" y="1769104"/>
            <a:ext cx="5612329" cy="4156958"/>
          </a:xfrm>
          <a:prstGeom prst="roundRect">
            <a:avLst>
              <a:gd name="adj" fmla="val 0"/>
            </a:avLst>
          </a:prstGeom>
          <a:solidFill>
            <a:srgbClr val="20B2AA"/>
          </a:solidFill>
          <a:ln/>
        </p:spPr>
      </p:sp>
      <p:sp>
        <p:nvSpPr>
          <p:cNvPr id="22" name="Shape 20"/>
          <p:cNvSpPr/>
          <p:nvPr/>
        </p:nvSpPr>
        <p:spPr>
          <a:xfrm>
            <a:off x="6514794" y="2047977"/>
            <a:ext cx="557747" cy="557747"/>
          </a:xfrm>
          <a:prstGeom prst="roundRect">
            <a:avLst>
              <a:gd name="adj" fmla="val 0"/>
            </a:avLst>
          </a:prstGeom>
          <a:solidFill>
            <a:srgbClr val="FFFFFF"/>
          </a:solidFill>
          <a:ln/>
        </p:spPr>
      </p:sp>
      <p:sp>
        <p:nvSpPr>
          <p:cNvPr id="23" name="Shape 21"/>
          <p:cNvSpPr/>
          <p:nvPr/>
        </p:nvSpPr>
        <p:spPr>
          <a:xfrm>
            <a:off x="6697805" y="2196129"/>
            <a:ext cx="196083" cy="261444"/>
          </a:xfrm>
          <a:custGeom>
            <a:avLst/>
            <a:gdLst/>
            <a:ahLst/>
            <a:cxnLst/>
            <a:rect l="l" t="t" r="r" b="b"/>
            <a:pathLst>
              <a:path w="196083" h="261444">
                <a:moveTo>
                  <a:pt x="0" y="32680"/>
                </a:moveTo>
                <a:cubicBezTo>
                  <a:pt x="0" y="14655"/>
                  <a:pt x="14655" y="0"/>
                  <a:pt x="32680" y="0"/>
                </a:cubicBezTo>
                <a:lnTo>
                  <a:pt x="109020" y="0"/>
                </a:lnTo>
                <a:cubicBezTo>
                  <a:pt x="117701" y="0"/>
                  <a:pt x="126024" y="3421"/>
                  <a:pt x="132152" y="9549"/>
                </a:cubicBezTo>
                <a:lnTo>
                  <a:pt x="186534" y="63982"/>
                </a:lnTo>
                <a:cubicBezTo>
                  <a:pt x="192662" y="70110"/>
                  <a:pt x="196083" y="78433"/>
                  <a:pt x="196083" y="87114"/>
                </a:cubicBezTo>
                <a:lnTo>
                  <a:pt x="196083" y="228763"/>
                </a:lnTo>
                <a:cubicBezTo>
                  <a:pt x="196083" y="246789"/>
                  <a:pt x="181428" y="261444"/>
                  <a:pt x="163402" y="261444"/>
                </a:cubicBezTo>
                <a:lnTo>
                  <a:pt x="32680" y="261444"/>
                </a:lnTo>
                <a:cubicBezTo>
                  <a:pt x="14655" y="261444"/>
                  <a:pt x="0" y="246789"/>
                  <a:pt x="0" y="228763"/>
                </a:cubicBezTo>
                <a:lnTo>
                  <a:pt x="0" y="32680"/>
                </a:lnTo>
                <a:close/>
                <a:moveTo>
                  <a:pt x="106212" y="29872"/>
                </a:moveTo>
                <a:lnTo>
                  <a:pt x="106212" y="77616"/>
                </a:lnTo>
                <a:cubicBezTo>
                  <a:pt x="106212" y="84408"/>
                  <a:pt x="111675" y="89871"/>
                  <a:pt x="118467" y="89871"/>
                </a:cubicBezTo>
                <a:lnTo>
                  <a:pt x="166211" y="89871"/>
                </a:lnTo>
                <a:lnTo>
                  <a:pt x="106212" y="29872"/>
                </a:lnTo>
                <a:close/>
                <a:moveTo>
                  <a:pt x="32680" y="44936"/>
                </a:moveTo>
                <a:cubicBezTo>
                  <a:pt x="32680" y="51727"/>
                  <a:pt x="38144" y="57191"/>
                  <a:pt x="44936" y="57191"/>
                </a:cubicBezTo>
                <a:lnTo>
                  <a:pt x="69446" y="57191"/>
                </a:lnTo>
                <a:cubicBezTo>
                  <a:pt x="76237" y="57191"/>
                  <a:pt x="81701" y="51727"/>
                  <a:pt x="81701" y="44936"/>
                </a:cubicBezTo>
                <a:cubicBezTo>
                  <a:pt x="81701" y="38144"/>
                  <a:pt x="76237" y="32680"/>
                  <a:pt x="69446" y="32680"/>
                </a:cubicBezTo>
                <a:lnTo>
                  <a:pt x="44936" y="32680"/>
                </a:lnTo>
                <a:cubicBezTo>
                  <a:pt x="38144" y="32680"/>
                  <a:pt x="32680" y="38144"/>
                  <a:pt x="32680" y="44936"/>
                </a:cubicBezTo>
                <a:close/>
                <a:moveTo>
                  <a:pt x="32680" y="93956"/>
                </a:moveTo>
                <a:cubicBezTo>
                  <a:pt x="32680" y="100748"/>
                  <a:pt x="38144" y="106212"/>
                  <a:pt x="44936" y="106212"/>
                </a:cubicBezTo>
                <a:lnTo>
                  <a:pt x="69446" y="106212"/>
                </a:lnTo>
                <a:cubicBezTo>
                  <a:pt x="76237" y="106212"/>
                  <a:pt x="81701" y="100748"/>
                  <a:pt x="81701" y="93956"/>
                </a:cubicBezTo>
                <a:cubicBezTo>
                  <a:pt x="81701" y="87165"/>
                  <a:pt x="76237" y="81701"/>
                  <a:pt x="69446" y="81701"/>
                </a:cubicBezTo>
                <a:lnTo>
                  <a:pt x="44936" y="81701"/>
                </a:lnTo>
                <a:cubicBezTo>
                  <a:pt x="38144" y="81701"/>
                  <a:pt x="32680" y="87165"/>
                  <a:pt x="32680" y="93956"/>
                </a:cubicBezTo>
                <a:close/>
                <a:moveTo>
                  <a:pt x="89871" y="132764"/>
                </a:moveTo>
                <a:lnTo>
                  <a:pt x="89871" y="134807"/>
                </a:lnTo>
                <a:cubicBezTo>
                  <a:pt x="75165" y="134960"/>
                  <a:pt x="63318" y="146909"/>
                  <a:pt x="63318" y="161615"/>
                </a:cubicBezTo>
                <a:cubicBezTo>
                  <a:pt x="63318" y="174738"/>
                  <a:pt x="72765" y="185921"/>
                  <a:pt x="85735" y="188066"/>
                </a:cubicBezTo>
                <a:lnTo>
                  <a:pt x="107029" y="191640"/>
                </a:lnTo>
                <a:cubicBezTo>
                  <a:pt x="110092" y="192151"/>
                  <a:pt x="112339" y="194806"/>
                  <a:pt x="112339" y="197921"/>
                </a:cubicBezTo>
                <a:cubicBezTo>
                  <a:pt x="112339" y="201445"/>
                  <a:pt x="109480" y="204304"/>
                  <a:pt x="105956" y="204304"/>
                </a:cubicBezTo>
                <a:lnTo>
                  <a:pt x="77616" y="204253"/>
                </a:lnTo>
                <a:cubicBezTo>
                  <a:pt x="71999" y="204253"/>
                  <a:pt x="67404" y="208849"/>
                  <a:pt x="67404" y="214466"/>
                </a:cubicBezTo>
                <a:cubicBezTo>
                  <a:pt x="67404" y="220083"/>
                  <a:pt x="71999" y="224678"/>
                  <a:pt x="77616" y="224678"/>
                </a:cubicBezTo>
                <a:lnTo>
                  <a:pt x="89871" y="224678"/>
                </a:lnTo>
                <a:lnTo>
                  <a:pt x="89871" y="226721"/>
                </a:lnTo>
                <a:cubicBezTo>
                  <a:pt x="89871" y="232338"/>
                  <a:pt x="94467" y="236934"/>
                  <a:pt x="100084" y="236934"/>
                </a:cubicBezTo>
                <a:cubicBezTo>
                  <a:pt x="105701" y="236934"/>
                  <a:pt x="110297" y="232338"/>
                  <a:pt x="110297" y="226721"/>
                </a:cubicBezTo>
                <a:lnTo>
                  <a:pt x="110297" y="224321"/>
                </a:lnTo>
                <a:cubicBezTo>
                  <a:pt x="123062" y="222227"/>
                  <a:pt x="132764" y="211198"/>
                  <a:pt x="132764" y="197870"/>
                </a:cubicBezTo>
                <a:cubicBezTo>
                  <a:pt x="132764" y="184747"/>
                  <a:pt x="123318" y="173564"/>
                  <a:pt x="110348" y="171419"/>
                </a:cubicBezTo>
                <a:lnTo>
                  <a:pt x="89054" y="167845"/>
                </a:lnTo>
                <a:cubicBezTo>
                  <a:pt x="85991" y="167334"/>
                  <a:pt x="83744" y="164679"/>
                  <a:pt x="83744" y="161564"/>
                </a:cubicBezTo>
                <a:cubicBezTo>
                  <a:pt x="83744" y="158041"/>
                  <a:pt x="86603" y="155181"/>
                  <a:pt x="90127" y="155181"/>
                </a:cubicBezTo>
                <a:lnTo>
                  <a:pt x="114382" y="155181"/>
                </a:lnTo>
                <a:cubicBezTo>
                  <a:pt x="119999" y="155181"/>
                  <a:pt x="124594" y="150586"/>
                  <a:pt x="124594" y="144969"/>
                </a:cubicBezTo>
                <a:cubicBezTo>
                  <a:pt x="124594" y="139352"/>
                  <a:pt x="119999" y="134756"/>
                  <a:pt x="114382" y="134756"/>
                </a:cubicBezTo>
                <a:lnTo>
                  <a:pt x="110297" y="134756"/>
                </a:lnTo>
                <a:lnTo>
                  <a:pt x="110297" y="132713"/>
                </a:lnTo>
                <a:cubicBezTo>
                  <a:pt x="110297" y="127096"/>
                  <a:pt x="105701" y="122501"/>
                  <a:pt x="100084" y="122501"/>
                </a:cubicBezTo>
                <a:cubicBezTo>
                  <a:pt x="94467" y="122501"/>
                  <a:pt x="89871" y="127096"/>
                  <a:pt x="89871" y="132713"/>
                </a:cubicBezTo>
                <a:close/>
              </a:path>
            </a:pathLst>
          </a:custGeom>
          <a:solidFill>
            <a:srgbClr val="20B2AA"/>
          </a:solidFill>
          <a:ln/>
        </p:spPr>
      </p:sp>
      <p:sp>
        <p:nvSpPr>
          <p:cNvPr id="24" name="Text 22"/>
          <p:cNvSpPr/>
          <p:nvPr/>
        </p:nvSpPr>
        <p:spPr>
          <a:xfrm>
            <a:off x="7211978" y="2065407"/>
            <a:ext cx="2047977" cy="278873"/>
          </a:xfrm>
          <a:prstGeom prst="rect">
            <a:avLst/>
          </a:prstGeom>
          <a:noFill/>
          <a:ln/>
        </p:spPr>
        <p:txBody>
          <a:bodyPr wrap="square" lIns="0" tIns="0" rIns="0" bIns="0" rtlCol="0" anchor="ctr"/>
          <a:lstStyle/>
          <a:p>
            <a:pPr>
              <a:lnSpc>
                <a:spcPct val="110000"/>
              </a:lnSpc>
            </a:pPr>
            <a:r>
              <a:rPr lang="en-US" sz="1647" b="1" dirty="0">
                <a:solidFill>
                  <a:srgbClr val="FFFFFF"/>
                </a:solidFill>
                <a:latin typeface="Liter" pitchFamily="34" charset="0"/>
                <a:ea typeface="Liter" pitchFamily="34" charset="-122"/>
                <a:cs typeface="Liter" pitchFamily="34" charset="-120"/>
              </a:rPr>
              <a:t>Strategic Pillar 2</a:t>
            </a:r>
            <a:endParaRPr lang="en-US" sz="1600" dirty="0"/>
          </a:p>
        </p:txBody>
      </p:sp>
      <p:sp>
        <p:nvSpPr>
          <p:cNvPr id="25" name="Text 23"/>
          <p:cNvSpPr/>
          <p:nvPr/>
        </p:nvSpPr>
        <p:spPr>
          <a:xfrm>
            <a:off x="7211978" y="2344161"/>
            <a:ext cx="2021833" cy="244014"/>
          </a:xfrm>
          <a:prstGeom prst="rect">
            <a:avLst/>
          </a:prstGeom>
          <a:noFill/>
          <a:ln/>
        </p:spPr>
        <p:txBody>
          <a:bodyPr wrap="square" lIns="0" tIns="0" rIns="0" bIns="0" rtlCol="0" anchor="ctr"/>
          <a:lstStyle/>
          <a:p>
            <a:pPr>
              <a:lnSpc>
                <a:spcPct val="130000"/>
              </a:lnSpc>
            </a:pPr>
            <a:r>
              <a:rPr lang="en-US" sz="1235" b="1" dirty="0">
                <a:solidFill>
                  <a:srgbClr val="FFFFFF"/>
                </a:solidFill>
                <a:latin typeface="Liter" pitchFamily="34" charset="0"/>
                <a:ea typeface="Liter" pitchFamily="34" charset="-122"/>
                <a:cs typeface="Liter" pitchFamily="34" charset="-120"/>
              </a:rPr>
              <a:t>Bill Shock &amp; Plan Rightsizing</a:t>
            </a:r>
            <a:endParaRPr lang="en-US" sz="1600" dirty="0"/>
          </a:p>
        </p:txBody>
      </p:sp>
      <p:sp>
        <p:nvSpPr>
          <p:cNvPr id="26" name="Shape 24"/>
          <p:cNvSpPr/>
          <p:nvPr/>
        </p:nvSpPr>
        <p:spPr>
          <a:xfrm>
            <a:off x="6514794" y="2814879"/>
            <a:ext cx="278873" cy="278873"/>
          </a:xfrm>
          <a:prstGeom prst="roundRect">
            <a:avLst>
              <a:gd name="adj" fmla="val 0"/>
            </a:avLst>
          </a:prstGeom>
          <a:solidFill>
            <a:srgbClr val="FFFFFF">
              <a:alpha val="20000"/>
            </a:srgbClr>
          </a:solidFill>
          <a:ln/>
        </p:spPr>
      </p:sp>
      <p:sp>
        <p:nvSpPr>
          <p:cNvPr id="27" name="Shape 25"/>
          <p:cNvSpPr/>
          <p:nvPr/>
        </p:nvSpPr>
        <p:spPr>
          <a:xfrm>
            <a:off x="6575798" y="2884598"/>
            <a:ext cx="156866" cy="139437"/>
          </a:xfrm>
          <a:custGeom>
            <a:avLst/>
            <a:gdLst/>
            <a:ahLst/>
            <a:cxnLst/>
            <a:rect l="l" t="t" r="r" b="b"/>
            <a:pathLst>
              <a:path w="156866" h="139437">
                <a:moveTo>
                  <a:pt x="78433" y="-4357"/>
                </a:moveTo>
                <a:cubicBezTo>
                  <a:pt x="83254" y="-4357"/>
                  <a:pt x="87148" y="-463"/>
                  <a:pt x="87148" y="4357"/>
                </a:cubicBezTo>
                <a:lnTo>
                  <a:pt x="87148" y="9341"/>
                </a:lnTo>
                <a:cubicBezTo>
                  <a:pt x="113864" y="13154"/>
                  <a:pt x="134998" y="34287"/>
                  <a:pt x="138810" y="61004"/>
                </a:cubicBezTo>
                <a:lnTo>
                  <a:pt x="143794" y="61004"/>
                </a:lnTo>
                <a:cubicBezTo>
                  <a:pt x="148615" y="61004"/>
                  <a:pt x="152509" y="64898"/>
                  <a:pt x="152509" y="69718"/>
                </a:cubicBezTo>
                <a:cubicBezTo>
                  <a:pt x="152509" y="74539"/>
                  <a:pt x="148615" y="78433"/>
                  <a:pt x="143794" y="78433"/>
                </a:cubicBezTo>
                <a:lnTo>
                  <a:pt x="138810" y="78433"/>
                </a:lnTo>
                <a:cubicBezTo>
                  <a:pt x="134998" y="105149"/>
                  <a:pt x="113864" y="126283"/>
                  <a:pt x="87148" y="130096"/>
                </a:cubicBezTo>
                <a:lnTo>
                  <a:pt x="87148" y="135079"/>
                </a:lnTo>
                <a:cubicBezTo>
                  <a:pt x="87148" y="139900"/>
                  <a:pt x="83254" y="143794"/>
                  <a:pt x="78433" y="143794"/>
                </a:cubicBezTo>
                <a:cubicBezTo>
                  <a:pt x="73613" y="143794"/>
                  <a:pt x="69718" y="139900"/>
                  <a:pt x="69718" y="135079"/>
                </a:cubicBezTo>
                <a:lnTo>
                  <a:pt x="69718" y="130096"/>
                </a:lnTo>
                <a:cubicBezTo>
                  <a:pt x="43002" y="126283"/>
                  <a:pt x="21869" y="105149"/>
                  <a:pt x="18056" y="78433"/>
                </a:cubicBezTo>
                <a:lnTo>
                  <a:pt x="13072" y="78433"/>
                </a:lnTo>
                <a:cubicBezTo>
                  <a:pt x="8252" y="78433"/>
                  <a:pt x="4357" y="74539"/>
                  <a:pt x="4357" y="69718"/>
                </a:cubicBezTo>
                <a:cubicBezTo>
                  <a:pt x="4357" y="64898"/>
                  <a:pt x="8252" y="61004"/>
                  <a:pt x="13072" y="61004"/>
                </a:cubicBezTo>
                <a:lnTo>
                  <a:pt x="18056" y="61004"/>
                </a:lnTo>
                <a:cubicBezTo>
                  <a:pt x="21869" y="34287"/>
                  <a:pt x="43002" y="13154"/>
                  <a:pt x="69718" y="9341"/>
                </a:cubicBezTo>
                <a:lnTo>
                  <a:pt x="69718" y="4357"/>
                </a:lnTo>
                <a:cubicBezTo>
                  <a:pt x="69718" y="-463"/>
                  <a:pt x="73613" y="-4357"/>
                  <a:pt x="78433" y="-4357"/>
                </a:cubicBezTo>
                <a:close/>
                <a:moveTo>
                  <a:pt x="35731" y="78433"/>
                </a:moveTo>
                <a:cubicBezTo>
                  <a:pt x="39189" y="95509"/>
                  <a:pt x="52643" y="108962"/>
                  <a:pt x="69718" y="112421"/>
                </a:cubicBezTo>
                <a:lnTo>
                  <a:pt x="69718" y="108935"/>
                </a:lnTo>
                <a:cubicBezTo>
                  <a:pt x="69718" y="104115"/>
                  <a:pt x="73613" y="100220"/>
                  <a:pt x="78433" y="100220"/>
                </a:cubicBezTo>
                <a:cubicBezTo>
                  <a:pt x="83254" y="100220"/>
                  <a:pt x="87148" y="104115"/>
                  <a:pt x="87148" y="108935"/>
                </a:cubicBezTo>
                <a:lnTo>
                  <a:pt x="87148" y="112421"/>
                </a:lnTo>
                <a:cubicBezTo>
                  <a:pt x="104224" y="108962"/>
                  <a:pt x="117677" y="95509"/>
                  <a:pt x="121136" y="78433"/>
                </a:cubicBezTo>
                <a:lnTo>
                  <a:pt x="117650" y="78433"/>
                </a:lnTo>
                <a:cubicBezTo>
                  <a:pt x="112829" y="78433"/>
                  <a:pt x="108935" y="74539"/>
                  <a:pt x="108935" y="69718"/>
                </a:cubicBezTo>
                <a:cubicBezTo>
                  <a:pt x="108935" y="64898"/>
                  <a:pt x="112829" y="61004"/>
                  <a:pt x="117650" y="61004"/>
                </a:cubicBezTo>
                <a:lnTo>
                  <a:pt x="121136" y="61004"/>
                </a:lnTo>
                <a:cubicBezTo>
                  <a:pt x="117677" y="43928"/>
                  <a:pt x="104224" y="30475"/>
                  <a:pt x="87148" y="27016"/>
                </a:cubicBezTo>
                <a:lnTo>
                  <a:pt x="87148" y="30502"/>
                </a:lnTo>
                <a:cubicBezTo>
                  <a:pt x="87148" y="35322"/>
                  <a:pt x="83254" y="39217"/>
                  <a:pt x="78433" y="39217"/>
                </a:cubicBezTo>
                <a:cubicBezTo>
                  <a:pt x="73613" y="39217"/>
                  <a:pt x="69718" y="35322"/>
                  <a:pt x="69718" y="30502"/>
                </a:cubicBezTo>
                <a:lnTo>
                  <a:pt x="69718" y="27016"/>
                </a:lnTo>
                <a:cubicBezTo>
                  <a:pt x="52643" y="30475"/>
                  <a:pt x="39189" y="43928"/>
                  <a:pt x="35731" y="61004"/>
                </a:cubicBezTo>
                <a:lnTo>
                  <a:pt x="39217" y="61004"/>
                </a:lnTo>
                <a:cubicBezTo>
                  <a:pt x="44037" y="61004"/>
                  <a:pt x="47931" y="64898"/>
                  <a:pt x="47931" y="69718"/>
                </a:cubicBezTo>
                <a:cubicBezTo>
                  <a:pt x="47931" y="74539"/>
                  <a:pt x="44037" y="78433"/>
                  <a:pt x="39217" y="78433"/>
                </a:cubicBezTo>
                <a:lnTo>
                  <a:pt x="35731" y="78433"/>
                </a:lnTo>
                <a:close/>
                <a:moveTo>
                  <a:pt x="78433" y="56646"/>
                </a:moveTo>
                <a:cubicBezTo>
                  <a:pt x="85648" y="56646"/>
                  <a:pt x="91505" y="62504"/>
                  <a:pt x="91505" y="69718"/>
                </a:cubicBezTo>
                <a:cubicBezTo>
                  <a:pt x="91505" y="76933"/>
                  <a:pt x="85648" y="82791"/>
                  <a:pt x="78433" y="82791"/>
                </a:cubicBezTo>
                <a:cubicBezTo>
                  <a:pt x="71218" y="82791"/>
                  <a:pt x="65361" y="76933"/>
                  <a:pt x="65361" y="69718"/>
                </a:cubicBezTo>
                <a:cubicBezTo>
                  <a:pt x="65361" y="62504"/>
                  <a:pt x="71218" y="56646"/>
                  <a:pt x="78433" y="56646"/>
                </a:cubicBezTo>
                <a:close/>
              </a:path>
            </a:pathLst>
          </a:custGeom>
          <a:solidFill>
            <a:srgbClr val="FFFFFF"/>
          </a:solidFill>
          <a:ln/>
        </p:spPr>
      </p:sp>
      <p:sp>
        <p:nvSpPr>
          <p:cNvPr id="28" name="Text 26"/>
          <p:cNvSpPr/>
          <p:nvPr/>
        </p:nvSpPr>
        <p:spPr>
          <a:xfrm>
            <a:off x="6863386" y="2832309"/>
            <a:ext cx="531603" cy="244014"/>
          </a:xfrm>
          <a:prstGeom prst="rect">
            <a:avLst/>
          </a:prstGeom>
          <a:noFill/>
          <a:ln/>
        </p:spPr>
        <p:txBody>
          <a:bodyPr wrap="square" lIns="0" tIns="0" rIns="0" bIns="0" rtlCol="0" anchor="ctr"/>
          <a:lstStyle/>
          <a:p>
            <a:pPr>
              <a:lnSpc>
                <a:spcPct val="130000"/>
              </a:lnSpc>
            </a:pPr>
            <a:r>
              <a:rPr lang="en-US" sz="1235" b="1" dirty="0">
                <a:solidFill>
                  <a:srgbClr val="FFFFFF"/>
                </a:solidFill>
                <a:latin typeface="Liter" pitchFamily="34" charset="0"/>
                <a:ea typeface="Liter" pitchFamily="34" charset="-122"/>
                <a:cs typeface="Liter" pitchFamily="34" charset="-120"/>
              </a:rPr>
              <a:t>Action</a:t>
            </a:r>
            <a:endParaRPr lang="en-US" sz="1600" dirty="0"/>
          </a:p>
        </p:txBody>
      </p:sp>
      <p:sp>
        <p:nvSpPr>
          <p:cNvPr id="29" name="Text 27"/>
          <p:cNvSpPr/>
          <p:nvPr/>
        </p:nvSpPr>
        <p:spPr>
          <a:xfrm>
            <a:off x="6514794" y="3198330"/>
            <a:ext cx="5124300" cy="679754"/>
          </a:xfrm>
          <a:prstGeom prst="rect">
            <a:avLst/>
          </a:prstGeom>
          <a:noFill/>
          <a:ln/>
        </p:spPr>
        <p:txBody>
          <a:bodyPr wrap="square" lIns="348592" tIns="0" rIns="0" bIns="0" rtlCol="0" anchor="ctr"/>
          <a:lstStyle/>
          <a:p>
            <a:pPr>
              <a:lnSpc>
                <a:spcPct val="140000"/>
              </a:lnSpc>
            </a:pPr>
            <a:r>
              <a:rPr lang="en-US" sz="1098" dirty="0">
                <a:solidFill>
                  <a:srgbClr val="FFFFFF">
                    <a:alpha val="90000"/>
                  </a:srgbClr>
                </a:solidFill>
                <a:latin typeface="Liter" pitchFamily="34" charset="0"/>
                <a:ea typeface="Liter" pitchFamily="34" charset="-122"/>
                <a:cs typeface="Liter" pitchFamily="34" charset="-120"/>
              </a:rPr>
              <a:t>Identify high-value users whose risk scores are driven by </a:t>
            </a:r>
            <a:r>
              <a:rPr lang="en-US" sz="1098" b="1" dirty="0">
                <a:solidFill>
                  <a:srgbClr val="FFFFFF">
                    <a:alpha val="90000"/>
                  </a:srgbClr>
                </a:solidFill>
                <a:latin typeface="Liter" pitchFamily="34" charset="0"/>
                <a:ea typeface="Liter" pitchFamily="34" charset="-122"/>
                <a:cs typeface="Liter" pitchFamily="34" charset="-120"/>
              </a:rPr>
              <a:t>high overage charges</a:t>
            </a:r>
            <a:r>
              <a:rPr lang="en-US" sz="1098" dirty="0">
                <a:solidFill>
                  <a:srgbClr val="FFFFFF">
                    <a:alpha val="90000"/>
                  </a:srgbClr>
                </a:solidFill>
                <a:latin typeface="Liter" pitchFamily="34" charset="0"/>
                <a:ea typeface="Liter" pitchFamily="34" charset="-122"/>
                <a:cs typeface="Liter" pitchFamily="34" charset="-120"/>
              </a:rPr>
              <a:t> and sudden drops in voice/data usage. These subscribers are experiencing bill shock and plan misalignment.</a:t>
            </a:r>
            <a:endParaRPr lang="en-US" sz="1600" dirty="0"/>
          </a:p>
        </p:txBody>
      </p:sp>
      <p:sp>
        <p:nvSpPr>
          <p:cNvPr id="30" name="Shape 28"/>
          <p:cNvSpPr/>
          <p:nvPr/>
        </p:nvSpPr>
        <p:spPr>
          <a:xfrm>
            <a:off x="6514794" y="4052380"/>
            <a:ext cx="278873" cy="278873"/>
          </a:xfrm>
          <a:prstGeom prst="roundRect">
            <a:avLst>
              <a:gd name="adj" fmla="val 0"/>
            </a:avLst>
          </a:prstGeom>
          <a:solidFill>
            <a:srgbClr val="FFFFFF"/>
          </a:solidFill>
          <a:ln/>
        </p:spPr>
      </p:sp>
      <p:sp>
        <p:nvSpPr>
          <p:cNvPr id="31" name="Shape 29"/>
          <p:cNvSpPr/>
          <p:nvPr/>
        </p:nvSpPr>
        <p:spPr>
          <a:xfrm>
            <a:off x="6575798" y="4122099"/>
            <a:ext cx="156866" cy="139437"/>
          </a:xfrm>
          <a:custGeom>
            <a:avLst/>
            <a:gdLst/>
            <a:ahLst/>
            <a:cxnLst/>
            <a:rect l="l" t="t" r="r" b="b"/>
            <a:pathLst>
              <a:path w="156866" h="139437">
                <a:moveTo>
                  <a:pt x="76146" y="8442"/>
                </a:moveTo>
                <a:cubicBezTo>
                  <a:pt x="72306" y="3132"/>
                  <a:pt x="66151" y="0"/>
                  <a:pt x="59615" y="0"/>
                </a:cubicBezTo>
                <a:cubicBezTo>
                  <a:pt x="48340" y="0"/>
                  <a:pt x="39217" y="9123"/>
                  <a:pt x="39217" y="20398"/>
                </a:cubicBezTo>
                <a:lnTo>
                  <a:pt x="39217" y="21052"/>
                </a:lnTo>
                <a:cubicBezTo>
                  <a:pt x="39217" y="38590"/>
                  <a:pt x="61548" y="57381"/>
                  <a:pt x="72496" y="65524"/>
                </a:cubicBezTo>
                <a:cubicBezTo>
                  <a:pt x="76037" y="68166"/>
                  <a:pt x="80803" y="68166"/>
                  <a:pt x="84343" y="65524"/>
                </a:cubicBezTo>
                <a:cubicBezTo>
                  <a:pt x="95291" y="57354"/>
                  <a:pt x="117623" y="38590"/>
                  <a:pt x="117623" y="21052"/>
                </a:cubicBezTo>
                <a:lnTo>
                  <a:pt x="117623" y="20398"/>
                </a:lnTo>
                <a:cubicBezTo>
                  <a:pt x="117623" y="9123"/>
                  <a:pt x="108499" y="0"/>
                  <a:pt x="97224" y="0"/>
                </a:cubicBezTo>
                <a:cubicBezTo>
                  <a:pt x="90688" y="0"/>
                  <a:pt x="84534" y="3132"/>
                  <a:pt x="80694" y="8442"/>
                </a:cubicBezTo>
                <a:lnTo>
                  <a:pt x="78433" y="11629"/>
                </a:lnTo>
                <a:lnTo>
                  <a:pt x="76146" y="8442"/>
                </a:lnTo>
                <a:close/>
                <a:moveTo>
                  <a:pt x="29766" y="93003"/>
                </a:moveTo>
                <a:lnTo>
                  <a:pt x="18165" y="104578"/>
                </a:lnTo>
                <a:lnTo>
                  <a:pt x="8715" y="104578"/>
                </a:lnTo>
                <a:cubicBezTo>
                  <a:pt x="3894" y="104578"/>
                  <a:pt x="0" y="108472"/>
                  <a:pt x="0" y="113292"/>
                </a:cubicBezTo>
                <a:lnTo>
                  <a:pt x="0" y="130722"/>
                </a:lnTo>
                <a:cubicBezTo>
                  <a:pt x="0" y="135542"/>
                  <a:pt x="3894" y="139437"/>
                  <a:pt x="8715" y="139437"/>
                </a:cubicBezTo>
                <a:lnTo>
                  <a:pt x="95999" y="139437"/>
                </a:lnTo>
                <a:cubicBezTo>
                  <a:pt x="103897" y="139437"/>
                  <a:pt x="111604" y="136904"/>
                  <a:pt x="117977" y="132220"/>
                </a:cubicBezTo>
                <a:lnTo>
                  <a:pt x="152454" y="106811"/>
                </a:lnTo>
                <a:cubicBezTo>
                  <a:pt x="157302" y="103243"/>
                  <a:pt x="158337" y="96435"/>
                  <a:pt x="154769" y="91587"/>
                </a:cubicBezTo>
                <a:cubicBezTo>
                  <a:pt x="151202" y="86739"/>
                  <a:pt x="144393" y="85705"/>
                  <a:pt x="139546" y="89272"/>
                </a:cubicBezTo>
                <a:lnTo>
                  <a:pt x="106920" y="113292"/>
                </a:lnTo>
                <a:lnTo>
                  <a:pt x="76254" y="113292"/>
                </a:lnTo>
                <a:cubicBezTo>
                  <a:pt x="72632" y="113292"/>
                  <a:pt x="69718" y="110378"/>
                  <a:pt x="69718" y="106756"/>
                </a:cubicBezTo>
                <a:cubicBezTo>
                  <a:pt x="69718" y="103134"/>
                  <a:pt x="72632" y="100220"/>
                  <a:pt x="76254" y="100220"/>
                </a:cubicBezTo>
                <a:lnTo>
                  <a:pt x="95863" y="100220"/>
                </a:lnTo>
                <a:cubicBezTo>
                  <a:pt x="100683" y="100220"/>
                  <a:pt x="104578" y="96326"/>
                  <a:pt x="104578" y="91505"/>
                </a:cubicBezTo>
                <a:cubicBezTo>
                  <a:pt x="104578" y="86685"/>
                  <a:pt x="100683" y="82791"/>
                  <a:pt x="95863" y="82791"/>
                </a:cubicBezTo>
                <a:lnTo>
                  <a:pt x="54413" y="82791"/>
                </a:lnTo>
                <a:cubicBezTo>
                  <a:pt x="45181" y="82791"/>
                  <a:pt x="36303" y="86467"/>
                  <a:pt x="29766" y="93003"/>
                </a:cubicBezTo>
                <a:close/>
              </a:path>
            </a:pathLst>
          </a:custGeom>
          <a:solidFill>
            <a:srgbClr val="20B2AA"/>
          </a:solidFill>
          <a:ln/>
        </p:spPr>
      </p:sp>
      <p:sp>
        <p:nvSpPr>
          <p:cNvPr id="32" name="Text 30"/>
          <p:cNvSpPr/>
          <p:nvPr/>
        </p:nvSpPr>
        <p:spPr>
          <a:xfrm>
            <a:off x="6863386" y="4069810"/>
            <a:ext cx="714613" cy="244014"/>
          </a:xfrm>
          <a:prstGeom prst="rect">
            <a:avLst/>
          </a:prstGeom>
          <a:noFill/>
          <a:ln/>
        </p:spPr>
        <p:txBody>
          <a:bodyPr wrap="square" lIns="0" tIns="0" rIns="0" bIns="0" rtlCol="0" anchor="ctr"/>
          <a:lstStyle/>
          <a:p>
            <a:pPr>
              <a:lnSpc>
                <a:spcPct val="130000"/>
              </a:lnSpc>
            </a:pPr>
            <a:r>
              <a:rPr lang="en-US" sz="1235" b="1" dirty="0">
                <a:solidFill>
                  <a:srgbClr val="FFFFFF"/>
                </a:solidFill>
                <a:latin typeface="Liter" pitchFamily="34" charset="0"/>
                <a:ea typeface="Liter" pitchFamily="34" charset="-122"/>
                <a:cs typeface="Liter" pitchFamily="34" charset="-120"/>
              </a:rPr>
              <a:t>Incentive</a:t>
            </a:r>
            <a:endParaRPr lang="en-US" sz="1600" dirty="0"/>
          </a:p>
        </p:txBody>
      </p:sp>
      <p:sp>
        <p:nvSpPr>
          <p:cNvPr id="33" name="Text 31"/>
          <p:cNvSpPr/>
          <p:nvPr/>
        </p:nvSpPr>
        <p:spPr>
          <a:xfrm>
            <a:off x="6514794" y="4435831"/>
            <a:ext cx="5124300" cy="679754"/>
          </a:xfrm>
          <a:prstGeom prst="rect">
            <a:avLst/>
          </a:prstGeom>
          <a:noFill/>
          <a:ln/>
        </p:spPr>
        <p:txBody>
          <a:bodyPr wrap="square" lIns="348592" tIns="0" rIns="0" bIns="0" rtlCol="0" anchor="ctr"/>
          <a:lstStyle/>
          <a:p>
            <a:pPr>
              <a:lnSpc>
                <a:spcPct val="140000"/>
              </a:lnSpc>
            </a:pPr>
            <a:r>
              <a:rPr lang="en-US" sz="1098" dirty="0">
                <a:solidFill>
                  <a:srgbClr val="FFFFFF">
                    <a:alpha val="90000"/>
                  </a:srgbClr>
                </a:solidFill>
                <a:latin typeface="Liter" pitchFamily="34" charset="0"/>
                <a:ea typeface="Liter" pitchFamily="34" charset="-122"/>
                <a:cs typeface="Liter" pitchFamily="34" charset="-120"/>
              </a:rPr>
              <a:t>Have customer care </a:t>
            </a:r>
            <a:r>
              <a:rPr lang="en-US" sz="1098" b="1" dirty="0">
                <a:solidFill>
                  <a:srgbClr val="FFFFFF">
                    <a:alpha val="90000"/>
                  </a:srgbClr>
                </a:solidFill>
                <a:latin typeface="Liter" pitchFamily="34" charset="0"/>
                <a:ea typeface="Liter" pitchFamily="34" charset="-122"/>
                <a:cs typeface="Liter" pitchFamily="34" charset="-120"/>
              </a:rPr>
              <a:t>proactively reach out</a:t>
            </a:r>
            <a:r>
              <a:rPr lang="en-US" sz="1098" dirty="0">
                <a:solidFill>
                  <a:srgbClr val="FFFFFF">
                    <a:alpha val="90000"/>
                  </a:srgbClr>
                </a:solidFill>
                <a:latin typeface="Liter" pitchFamily="34" charset="0"/>
                <a:ea typeface="Liter" pitchFamily="34" charset="-122"/>
                <a:cs typeface="Liter" pitchFamily="34" charset="-120"/>
              </a:rPr>
              <a:t> to offer right-sized, unlimited tier upgrades, waiving current overages to restore brand loyalty and prevent silent departure.</a:t>
            </a:r>
            <a:endParaRPr lang="en-US" sz="1600" dirty="0"/>
          </a:p>
        </p:txBody>
      </p:sp>
      <p:sp>
        <p:nvSpPr>
          <p:cNvPr id="34" name="Shape 32"/>
          <p:cNvSpPr/>
          <p:nvPr/>
        </p:nvSpPr>
        <p:spPr>
          <a:xfrm>
            <a:off x="6514794" y="5293755"/>
            <a:ext cx="5054582" cy="7746"/>
          </a:xfrm>
          <a:prstGeom prst="roundRect">
            <a:avLst>
              <a:gd name="adj" fmla="val 0"/>
            </a:avLst>
          </a:prstGeom>
          <a:solidFill>
            <a:srgbClr val="FFFFFF">
              <a:alpha val="30196"/>
            </a:srgbClr>
          </a:solidFill>
          <a:ln/>
        </p:spPr>
      </p:sp>
      <p:sp>
        <p:nvSpPr>
          <p:cNvPr id="35" name="Shape 33"/>
          <p:cNvSpPr/>
          <p:nvPr/>
        </p:nvSpPr>
        <p:spPr>
          <a:xfrm>
            <a:off x="6532224" y="5495164"/>
            <a:ext cx="122007" cy="122007"/>
          </a:xfrm>
          <a:custGeom>
            <a:avLst/>
            <a:gdLst/>
            <a:ahLst/>
            <a:cxnLst/>
            <a:rect l="l" t="t" r="r" b="b"/>
            <a:pathLst>
              <a:path w="122007" h="122007">
                <a:moveTo>
                  <a:pt x="15251" y="15251"/>
                </a:moveTo>
                <a:cubicBezTo>
                  <a:pt x="15251" y="11033"/>
                  <a:pt x="11843" y="7625"/>
                  <a:pt x="7625" y="7625"/>
                </a:cubicBezTo>
                <a:cubicBezTo>
                  <a:pt x="3408" y="7625"/>
                  <a:pt x="0" y="11033"/>
                  <a:pt x="0" y="15251"/>
                </a:cubicBezTo>
                <a:lnTo>
                  <a:pt x="0" y="95318"/>
                </a:lnTo>
                <a:cubicBezTo>
                  <a:pt x="0" y="105851"/>
                  <a:pt x="8531" y="114382"/>
                  <a:pt x="19064" y="114382"/>
                </a:cubicBezTo>
                <a:lnTo>
                  <a:pt x="114382" y="114382"/>
                </a:lnTo>
                <a:cubicBezTo>
                  <a:pt x="118600" y="114382"/>
                  <a:pt x="122007" y="110974"/>
                  <a:pt x="122007" y="106756"/>
                </a:cubicBezTo>
                <a:cubicBezTo>
                  <a:pt x="122007" y="102538"/>
                  <a:pt x="118600" y="99131"/>
                  <a:pt x="114382" y="99131"/>
                </a:cubicBezTo>
                <a:lnTo>
                  <a:pt x="19064" y="99131"/>
                </a:lnTo>
                <a:cubicBezTo>
                  <a:pt x="16967" y="99131"/>
                  <a:pt x="15251" y="97415"/>
                  <a:pt x="15251" y="95318"/>
                </a:cubicBezTo>
                <a:lnTo>
                  <a:pt x="15251" y="15251"/>
                </a:lnTo>
                <a:close/>
                <a:moveTo>
                  <a:pt x="112142" y="35887"/>
                </a:moveTo>
                <a:cubicBezTo>
                  <a:pt x="115120" y="32909"/>
                  <a:pt x="115120" y="28071"/>
                  <a:pt x="112142" y="25092"/>
                </a:cubicBezTo>
                <a:cubicBezTo>
                  <a:pt x="109163" y="22114"/>
                  <a:pt x="104326" y="22114"/>
                  <a:pt x="101347" y="25092"/>
                </a:cubicBezTo>
                <a:lnTo>
                  <a:pt x="76254" y="50209"/>
                </a:lnTo>
                <a:lnTo>
                  <a:pt x="62576" y="36554"/>
                </a:lnTo>
                <a:cubicBezTo>
                  <a:pt x="59598" y="33576"/>
                  <a:pt x="54760" y="33576"/>
                  <a:pt x="51782" y="36554"/>
                </a:cubicBezTo>
                <a:lnTo>
                  <a:pt x="28905" y="59431"/>
                </a:lnTo>
                <a:cubicBezTo>
                  <a:pt x="25927" y="62410"/>
                  <a:pt x="25927" y="67247"/>
                  <a:pt x="28905" y="70226"/>
                </a:cubicBezTo>
                <a:cubicBezTo>
                  <a:pt x="31884" y="73204"/>
                  <a:pt x="36721" y="73204"/>
                  <a:pt x="39700" y="70226"/>
                </a:cubicBezTo>
                <a:lnTo>
                  <a:pt x="57191" y="52735"/>
                </a:lnTo>
                <a:lnTo>
                  <a:pt x="70869" y="66413"/>
                </a:lnTo>
                <a:cubicBezTo>
                  <a:pt x="73848" y="69392"/>
                  <a:pt x="78685" y="69392"/>
                  <a:pt x="81664" y="66413"/>
                </a:cubicBezTo>
                <a:lnTo>
                  <a:pt x="112166" y="35911"/>
                </a:lnTo>
                <a:close/>
              </a:path>
            </a:pathLst>
          </a:custGeom>
          <a:solidFill>
            <a:srgbClr val="FFFFFF"/>
          </a:solidFill>
          <a:ln/>
        </p:spPr>
      </p:sp>
      <p:sp>
        <p:nvSpPr>
          <p:cNvPr id="36" name="Text 34"/>
          <p:cNvSpPr/>
          <p:nvPr/>
        </p:nvSpPr>
        <p:spPr>
          <a:xfrm>
            <a:off x="6719502" y="5471926"/>
            <a:ext cx="4910878" cy="174296"/>
          </a:xfrm>
          <a:prstGeom prst="rect">
            <a:avLst/>
          </a:prstGeom>
          <a:noFill/>
          <a:ln/>
        </p:spPr>
        <p:txBody>
          <a:bodyPr wrap="square" lIns="0" tIns="0" rIns="0" bIns="0" rtlCol="0" anchor="ctr"/>
          <a:lstStyle/>
          <a:p>
            <a:pPr>
              <a:lnSpc>
                <a:spcPct val="120000"/>
              </a:lnSpc>
            </a:pPr>
            <a:r>
              <a:rPr lang="en-US" sz="961" dirty="0">
                <a:solidFill>
                  <a:srgbClr val="FFFFFF">
                    <a:alpha val="90000"/>
                  </a:srgbClr>
                </a:solidFill>
                <a:latin typeface="Liter" pitchFamily="34" charset="0"/>
                <a:ea typeface="Liter" pitchFamily="34" charset="-122"/>
                <a:cs typeface="Liter" pitchFamily="34" charset="-120"/>
              </a:rPr>
              <a:t>Expected Impact: 20-30% reduction in bill-shock-driven churn</a:t>
            </a:r>
            <a:endParaRPr lang="en-US" sz="1600" dirty="0"/>
          </a:p>
        </p:txBody>
      </p:sp>
      <p:sp>
        <p:nvSpPr>
          <p:cNvPr id="37" name="Shape 35"/>
          <p:cNvSpPr/>
          <p:nvPr/>
        </p:nvSpPr>
        <p:spPr>
          <a:xfrm>
            <a:off x="356338" y="6072279"/>
            <a:ext cx="11484165" cy="555810"/>
          </a:xfrm>
          <a:prstGeom prst="roundRect">
            <a:avLst>
              <a:gd name="adj" fmla="val 0"/>
            </a:avLst>
          </a:prstGeom>
          <a:solidFill>
            <a:srgbClr val="1B365D">
              <a:alpha val="5098"/>
            </a:srgbClr>
          </a:solidFill>
          <a:ln w="22578">
            <a:solidFill>
              <a:srgbClr val="1B365D">
                <a:alpha val="20000"/>
              </a:srgbClr>
            </a:solidFill>
            <a:prstDash val="solid"/>
          </a:ln>
        </p:spPr>
      </p:sp>
      <p:sp>
        <p:nvSpPr>
          <p:cNvPr id="38" name="Shape 36"/>
          <p:cNvSpPr/>
          <p:nvPr/>
        </p:nvSpPr>
        <p:spPr>
          <a:xfrm>
            <a:off x="575419" y="6219458"/>
            <a:ext cx="326805" cy="261444"/>
          </a:xfrm>
          <a:custGeom>
            <a:avLst/>
            <a:gdLst/>
            <a:ahLst/>
            <a:cxnLst/>
            <a:rect l="l" t="t" r="r" b="b"/>
            <a:pathLst>
              <a:path w="326805" h="261444">
                <a:moveTo>
                  <a:pt x="179743" y="0"/>
                </a:moveTo>
                <a:cubicBezTo>
                  <a:pt x="179743" y="-9038"/>
                  <a:pt x="172441" y="-16340"/>
                  <a:pt x="163402" y="-16340"/>
                </a:cubicBezTo>
                <a:cubicBezTo>
                  <a:pt x="154364" y="-16340"/>
                  <a:pt x="147062" y="-9038"/>
                  <a:pt x="147062" y="0"/>
                </a:cubicBezTo>
                <a:lnTo>
                  <a:pt x="147062" y="32680"/>
                </a:lnTo>
                <a:lnTo>
                  <a:pt x="98041" y="32680"/>
                </a:lnTo>
                <a:cubicBezTo>
                  <a:pt x="70978" y="32680"/>
                  <a:pt x="49021" y="54638"/>
                  <a:pt x="49021" y="81701"/>
                </a:cubicBezTo>
                <a:lnTo>
                  <a:pt x="49021" y="196083"/>
                </a:lnTo>
                <a:cubicBezTo>
                  <a:pt x="49021" y="223146"/>
                  <a:pt x="70978" y="245104"/>
                  <a:pt x="98041" y="245104"/>
                </a:cubicBezTo>
                <a:lnTo>
                  <a:pt x="228763" y="245104"/>
                </a:lnTo>
                <a:cubicBezTo>
                  <a:pt x="255827" y="245104"/>
                  <a:pt x="277784" y="223146"/>
                  <a:pt x="277784" y="196083"/>
                </a:cubicBezTo>
                <a:lnTo>
                  <a:pt x="277784" y="81701"/>
                </a:lnTo>
                <a:cubicBezTo>
                  <a:pt x="277784" y="54638"/>
                  <a:pt x="255827" y="32680"/>
                  <a:pt x="228763" y="32680"/>
                </a:cubicBezTo>
                <a:lnTo>
                  <a:pt x="179743" y="32680"/>
                </a:lnTo>
                <a:lnTo>
                  <a:pt x="179743" y="0"/>
                </a:lnTo>
                <a:close/>
                <a:moveTo>
                  <a:pt x="81701" y="187913"/>
                </a:moveTo>
                <a:cubicBezTo>
                  <a:pt x="81701" y="181121"/>
                  <a:pt x="87165" y="175658"/>
                  <a:pt x="93956" y="175658"/>
                </a:cubicBezTo>
                <a:lnTo>
                  <a:pt x="110297" y="175658"/>
                </a:lnTo>
                <a:cubicBezTo>
                  <a:pt x="117088" y="175658"/>
                  <a:pt x="122552" y="181121"/>
                  <a:pt x="122552" y="187913"/>
                </a:cubicBezTo>
                <a:cubicBezTo>
                  <a:pt x="122552" y="194704"/>
                  <a:pt x="117088" y="200168"/>
                  <a:pt x="110297" y="200168"/>
                </a:cubicBezTo>
                <a:lnTo>
                  <a:pt x="93956" y="200168"/>
                </a:lnTo>
                <a:cubicBezTo>
                  <a:pt x="87165" y="200168"/>
                  <a:pt x="81701" y="194704"/>
                  <a:pt x="81701" y="187913"/>
                </a:cubicBezTo>
                <a:close/>
                <a:moveTo>
                  <a:pt x="142977" y="187913"/>
                </a:moveTo>
                <a:cubicBezTo>
                  <a:pt x="142977" y="181121"/>
                  <a:pt x="148441" y="175658"/>
                  <a:pt x="155232" y="175658"/>
                </a:cubicBezTo>
                <a:lnTo>
                  <a:pt x="171573" y="175658"/>
                </a:lnTo>
                <a:cubicBezTo>
                  <a:pt x="178364" y="175658"/>
                  <a:pt x="183828" y="181121"/>
                  <a:pt x="183828" y="187913"/>
                </a:cubicBezTo>
                <a:cubicBezTo>
                  <a:pt x="183828" y="194704"/>
                  <a:pt x="178364" y="200168"/>
                  <a:pt x="171573" y="200168"/>
                </a:cubicBezTo>
                <a:lnTo>
                  <a:pt x="155232" y="200168"/>
                </a:lnTo>
                <a:cubicBezTo>
                  <a:pt x="148441" y="200168"/>
                  <a:pt x="142977" y="194704"/>
                  <a:pt x="142977" y="187913"/>
                </a:cubicBezTo>
                <a:close/>
                <a:moveTo>
                  <a:pt x="204253" y="187913"/>
                </a:moveTo>
                <a:cubicBezTo>
                  <a:pt x="204253" y="181121"/>
                  <a:pt x="209717" y="175658"/>
                  <a:pt x="216508" y="175658"/>
                </a:cubicBezTo>
                <a:lnTo>
                  <a:pt x="232848" y="175658"/>
                </a:lnTo>
                <a:cubicBezTo>
                  <a:pt x="239640" y="175658"/>
                  <a:pt x="245104" y="181121"/>
                  <a:pt x="245104" y="187913"/>
                </a:cubicBezTo>
                <a:cubicBezTo>
                  <a:pt x="245104" y="194704"/>
                  <a:pt x="239640" y="200168"/>
                  <a:pt x="232848" y="200168"/>
                </a:cubicBezTo>
                <a:lnTo>
                  <a:pt x="216508" y="200168"/>
                </a:lnTo>
                <a:cubicBezTo>
                  <a:pt x="209717" y="200168"/>
                  <a:pt x="204253" y="194704"/>
                  <a:pt x="204253" y="187913"/>
                </a:cubicBezTo>
                <a:close/>
                <a:moveTo>
                  <a:pt x="114382" y="89871"/>
                </a:moveTo>
                <a:cubicBezTo>
                  <a:pt x="127909" y="89871"/>
                  <a:pt x="138892" y="100854"/>
                  <a:pt x="138892" y="114382"/>
                </a:cubicBezTo>
                <a:cubicBezTo>
                  <a:pt x="138892" y="127909"/>
                  <a:pt x="127909" y="138892"/>
                  <a:pt x="114382" y="138892"/>
                </a:cubicBezTo>
                <a:cubicBezTo>
                  <a:pt x="100854" y="138892"/>
                  <a:pt x="89871" y="127909"/>
                  <a:pt x="89871" y="114382"/>
                </a:cubicBezTo>
                <a:cubicBezTo>
                  <a:pt x="89871" y="100854"/>
                  <a:pt x="100854" y="89871"/>
                  <a:pt x="114382" y="89871"/>
                </a:cubicBezTo>
                <a:close/>
                <a:moveTo>
                  <a:pt x="187913" y="114382"/>
                </a:moveTo>
                <a:cubicBezTo>
                  <a:pt x="187913" y="100854"/>
                  <a:pt x="198896" y="89871"/>
                  <a:pt x="212423" y="89871"/>
                </a:cubicBezTo>
                <a:cubicBezTo>
                  <a:pt x="225951" y="89871"/>
                  <a:pt x="236934" y="100854"/>
                  <a:pt x="236934" y="114382"/>
                </a:cubicBezTo>
                <a:cubicBezTo>
                  <a:pt x="236934" y="127909"/>
                  <a:pt x="225951" y="138892"/>
                  <a:pt x="212423" y="138892"/>
                </a:cubicBezTo>
                <a:cubicBezTo>
                  <a:pt x="198896" y="138892"/>
                  <a:pt x="187913" y="127909"/>
                  <a:pt x="187913" y="114382"/>
                </a:cubicBezTo>
                <a:close/>
                <a:moveTo>
                  <a:pt x="32680" y="114382"/>
                </a:moveTo>
                <a:cubicBezTo>
                  <a:pt x="32680" y="105344"/>
                  <a:pt x="25378" y="98041"/>
                  <a:pt x="16340" y="98041"/>
                </a:cubicBezTo>
                <a:cubicBezTo>
                  <a:pt x="7302" y="98041"/>
                  <a:pt x="0" y="105344"/>
                  <a:pt x="0" y="114382"/>
                </a:cubicBezTo>
                <a:lnTo>
                  <a:pt x="0" y="163402"/>
                </a:lnTo>
                <a:cubicBezTo>
                  <a:pt x="0" y="172441"/>
                  <a:pt x="7302" y="179743"/>
                  <a:pt x="16340" y="179743"/>
                </a:cubicBezTo>
                <a:cubicBezTo>
                  <a:pt x="25378" y="179743"/>
                  <a:pt x="32680" y="172441"/>
                  <a:pt x="32680" y="163402"/>
                </a:cubicBezTo>
                <a:lnTo>
                  <a:pt x="32680" y="114382"/>
                </a:lnTo>
                <a:close/>
                <a:moveTo>
                  <a:pt x="310465" y="98041"/>
                </a:moveTo>
                <a:cubicBezTo>
                  <a:pt x="301426" y="98041"/>
                  <a:pt x="294124" y="105344"/>
                  <a:pt x="294124" y="114382"/>
                </a:cubicBezTo>
                <a:lnTo>
                  <a:pt x="294124" y="163402"/>
                </a:lnTo>
                <a:cubicBezTo>
                  <a:pt x="294124" y="172441"/>
                  <a:pt x="301426" y="179743"/>
                  <a:pt x="310465" y="179743"/>
                </a:cubicBezTo>
                <a:cubicBezTo>
                  <a:pt x="319503" y="179743"/>
                  <a:pt x="326805" y="172441"/>
                  <a:pt x="326805" y="163402"/>
                </a:cubicBezTo>
                <a:lnTo>
                  <a:pt x="326805" y="114382"/>
                </a:lnTo>
                <a:cubicBezTo>
                  <a:pt x="326805" y="105344"/>
                  <a:pt x="319503" y="98041"/>
                  <a:pt x="310465" y="98041"/>
                </a:cubicBezTo>
                <a:close/>
              </a:path>
            </a:pathLst>
          </a:custGeom>
          <a:solidFill>
            <a:srgbClr val="20B2AA"/>
          </a:solidFill>
          <a:ln/>
        </p:spPr>
      </p:sp>
      <p:sp>
        <p:nvSpPr>
          <p:cNvPr id="39" name="Text 37"/>
          <p:cNvSpPr/>
          <p:nvPr/>
        </p:nvSpPr>
        <p:spPr>
          <a:xfrm>
            <a:off x="1039482" y="6228173"/>
            <a:ext cx="10091734" cy="244014"/>
          </a:xfrm>
          <a:prstGeom prst="rect">
            <a:avLst/>
          </a:prstGeom>
          <a:noFill/>
          <a:ln/>
        </p:spPr>
        <p:txBody>
          <a:bodyPr wrap="square" lIns="0" tIns="0" rIns="0" bIns="0" rtlCol="0" anchor="ctr"/>
          <a:lstStyle/>
          <a:p>
            <a:pPr>
              <a:lnSpc>
                <a:spcPct val="130000"/>
              </a:lnSpc>
            </a:pPr>
            <a:r>
              <a:rPr lang="en-US" sz="1235" b="1" dirty="0">
                <a:solidFill>
                  <a:srgbClr val="1B365D"/>
                </a:solidFill>
                <a:latin typeface="Liter" pitchFamily="34" charset="0"/>
                <a:ea typeface="Liter" pitchFamily="34" charset="-122"/>
                <a:cs typeface="Liter" pitchFamily="34" charset="-120"/>
              </a:rPr>
              <a:t>Automated Execution: Both pillars are triggered automatically by the AI engine when risk thresholds are breached, ensuring zero-delay intervention</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1142" y="371142"/>
            <a:ext cx="11523945" cy="222685"/>
          </a:xfrm>
          <a:prstGeom prst="rect">
            <a:avLst/>
          </a:prstGeom>
          <a:noFill/>
          <a:ln/>
        </p:spPr>
        <p:txBody>
          <a:bodyPr wrap="square" lIns="0" tIns="0" rIns="0" bIns="0" rtlCol="0" anchor="ctr"/>
          <a:lstStyle/>
          <a:p>
            <a:pPr>
              <a:lnSpc>
                <a:spcPct val="130000"/>
              </a:lnSpc>
            </a:pPr>
            <a:r>
              <a:rPr lang="en-US" sz="1169" b="1" kern="0" spc="117" dirty="0">
                <a:solidFill>
                  <a:srgbClr val="20B2AA"/>
                </a:solidFill>
                <a:latin typeface="Liter" pitchFamily="34" charset="0"/>
                <a:ea typeface="Liter" pitchFamily="34" charset="-122"/>
                <a:cs typeface="Liter" pitchFamily="34" charset="-120"/>
              </a:rPr>
              <a:t>The ROI</a:t>
            </a:r>
            <a:endParaRPr lang="en-US" sz="1600" dirty="0"/>
          </a:p>
        </p:txBody>
      </p:sp>
      <p:sp>
        <p:nvSpPr>
          <p:cNvPr id="3" name="Text 1"/>
          <p:cNvSpPr/>
          <p:nvPr/>
        </p:nvSpPr>
        <p:spPr>
          <a:xfrm>
            <a:off x="371142" y="668055"/>
            <a:ext cx="11616731" cy="835068"/>
          </a:xfrm>
          <a:prstGeom prst="rect">
            <a:avLst/>
          </a:prstGeom>
          <a:noFill/>
          <a:ln/>
        </p:spPr>
        <p:txBody>
          <a:bodyPr wrap="square" lIns="0" tIns="0" rIns="0" bIns="0" rtlCol="0" anchor="ctr"/>
          <a:lstStyle/>
          <a:p>
            <a:pPr>
              <a:lnSpc>
                <a:spcPct val="100000"/>
              </a:lnSpc>
            </a:pPr>
            <a:r>
              <a:rPr lang="en-US" sz="2630" b="1" dirty="0">
                <a:solidFill>
                  <a:srgbClr val="1B365D"/>
                </a:solidFill>
                <a:latin typeface="Liter" pitchFamily="34" charset="0"/>
                <a:ea typeface="Liter" pitchFamily="34" charset="-122"/>
                <a:cs typeface="Liter" pitchFamily="34" charset="-120"/>
              </a:rPr>
              <a:t>Predictive Targeting Restricts Spend to Vulnerable Tiers, Maximizing Financial ROI</a:t>
            </a:r>
            <a:endParaRPr lang="en-US" sz="1600" dirty="0"/>
          </a:p>
        </p:txBody>
      </p:sp>
      <p:sp>
        <p:nvSpPr>
          <p:cNvPr id="4" name="Shape 2"/>
          <p:cNvSpPr/>
          <p:nvPr/>
        </p:nvSpPr>
        <p:spPr>
          <a:xfrm>
            <a:off x="371142" y="1614466"/>
            <a:ext cx="742283" cy="37114"/>
          </a:xfrm>
          <a:prstGeom prst="roundRect">
            <a:avLst>
              <a:gd name="adj" fmla="val 0"/>
            </a:avLst>
          </a:prstGeom>
          <a:solidFill>
            <a:srgbClr val="20B2AA"/>
          </a:solidFill>
          <a:ln/>
        </p:spPr>
      </p:sp>
      <p:sp>
        <p:nvSpPr>
          <p:cNvPr id="5" name="Shape 3"/>
          <p:cNvSpPr/>
          <p:nvPr/>
        </p:nvSpPr>
        <p:spPr>
          <a:xfrm>
            <a:off x="371142" y="1764468"/>
            <a:ext cx="7106381" cy="4953574"/>
          </a:xfrm>
          <a:prstGeom prst="roundRect">
            <a:avLst>
              <a:gd name="adj" fmla="val 0"/>
            </a:avLst>
          </a:prstGeom>
          <a:solidFill>
            <a:srgbClr val="1B365D">
              <a:alpha val="5098"/>
            </a:srgbClr>
          </a:solidFill>
          <a:ln w="22578">
            <a:solidFill>
              <a:srgbClr val="1B365D">
                <a:alpha val="20000"/>
              </a:srgbClr>
            </a:solidFill>
            <a:prstDash val="solid"/>
          </a:ln>
        </p:spPr>
      </p:sp>
      <p:sp>
        <p:nvSpPr>
          <p:cNvPr id="6" name="Shape 4"/>
          <p:cNvSpPr/>
          <p:nvPr/>
        </p:nvSpPr>
        <p:spPr>
          <a:xfrm>
            <a:off x="573208" y="2002103"/>
            <a:ext cx="371142" cy="371142"/>
          </a:xfrm>
          <a:prstGeom prst="roundRect">
            <a:avLst>
              <a:gd name="adj" fmla="val 0"/>
            </a:avLst>
          </a:prstGeom>
          <a:solidFill>
            <a:srgbClr val="1B365D"/>
          </a:solidFill>
          <a:ln/>
        </p:spPr>
      </p:sp>
      <p:sp>
        <p:nvSpPr>
          <p:cNvPr id="7" name="Shape 5"/>
          <p:cNvSpPr/>
          <p:nvPr/>
        </p:nvSpPr>
        <p:spPr>
          <a:xfrm>
            <a:off x="684550" y="2113445"/>
            <a:ext cx="148457" cy="148457"/>
          </a:xfrm>
          <a:custGeom>
            <a:avLst/>
            <a:gdLst/>
            <a:ahLst/>
            <a:cxnLst/>
            <a:rect l="l" t="t" r="r" b="b"/>
            <a:pathLst>
              <a:path w="148457" h="148457">
                <a:moveTo>
                  <a:pt x="18557" y="18557"/>
                </a:moveTo>
                <a:cubicBezTo>
                  <a:pt x="18557" y="13425"/>
                  <a:pt x="14411" y="9279"/>
                  <a:pt x="9279" y="9279"/>
                </a:cubicBezTo>
                <a:cubicBezTo>
                  <a:pt x="4146" y="9279"/>
                  <a:pt x="0" y="13425"/>
                  <a:pt x="0" y="18557"/>
                </a:cubicBezTo>
                <a:lnTo>
                  <a:pt x="0" y="115982"/>
                </a:lnTo>
                <a:cubicBezTo>
                  <a:pt x="0" y="128798"/>
                  <a:pt x="10380" y="139178"/>
                  <a:pt x="23196" y="139178"/>
                </a:cubicBezTo>
                <a:lnTo>
                  <a:pt x="139178" y="139178"/>
                </a:lnTo>
                <a:cubicBezTo>
                  <a:pt x="144310" y="139178"/>
                  <a:pt x="148457" y="135032"/>
                  <a:pt x="148457" y="129900"/>
                </a:cubicBezTo>
                <a:cubicBezTo>
                  <a:pt x="148457" y="124767"/>
                  <a:pt x="144310" y="120621"/>
                  <a:pt x="139178" y="120621"/>
                </a:cubicBezTo>
                <a:lnTo>
                  <a:pt x="23196" y="120621"/>
                </a:lnTo>
                <a:cubicBezTo>
                  <a:pt x="20645" y="120621"/>
                  <a:pt x="18557" y="118533"/>
                  <a:pt x="18557" y="115982"/>
                </a:cubicBezTo>
                <a:lnTo>
                  <a:pt x="18557" y="18557"/>
                </a:lnTo>
                <a:close/>
                <a:moveTo>
                  <a:pt x="136453" y="43667"/>
                </a:moveTo>
                <a:cubicBezTo>
                  <a:pt x="140077" y="40043"/>
                  <a:pt x="140077" y="34157"/>
                  <a:pt x="136453" y="30532"/>
                </a:cubicBezTo>
                <a:cubicBezTo>
                  <a:pt x="132828" y="26908"/>
                  <a:pt x="126942" y="26908"/>
                  <a:pt x="123318" y="30532"/>
                </a:cubicBezTo>
                <a:lnTo>
                  <a:pt x="92785" y="61093"/>
                </a:lnTo>
                <a:lnTo>
                  <a:pt x="76142" y="44479"/>
                </a:lnTo>
                <a:cubicBezTo>
                  <a:pt x="72518" y="40855"/>
                  <a:pt x="66632" y="40855"/>
                  <a:pt x="63007" y="44479"/>
                </a:cubicBezTo>
                <a:lnTo>
                  <a:pt x="35171" y="72315"/>
                </a:lnTo>
                <a:cubicBezTo>
                  <a:pt x="31547" y="75939"/>
                  <a:pt x="31547" y="81825"/>
                  <a:pt x="35171" y="85450"/>
                </a:cubicBezTo>
                <a:cubicBezTo>
                  <a:pt x="38796" y="89074"/>
                  <a:pt x="44682" y="89074"/>
                  <a:pt x="48306" y="85450"/>
                </a:cubicBezTo>
                <a:lnTo>
                  <a:pt x="69589" y="64167"/>
                </a:lnTo>
                <a:lnTo>
                  <a:pt x="86232" y="80810"/>
                </a:lnTo>
                <a:cubicBezTo>
                  <a:pt x="89857" y="84435"/>
                  <a:pt x="95743" y="84435"/>
                  <a:pt x="99367" y="80810"/>
                </a:cubicBezTo>
                <a:lnTo>
                  <a:pt x="136482" y="43696"/>
                </a:lnTo>
                <a:close/>
              </a:path>
            </a:pathLst>
          </a:custGeom>
          <a:solidFill>
            <a:srgbClr val="FFFFFF"/>
          </a:solidFill>
          <a:ln/>
        </p:spPr>
      </p:sp>
      <p:sp>
        <p:nvSpPr>
          <p:cNvPr id="8" name="Text 6"/>
          <p:cNvSpPr/>
          <p:nvPr/>
        </p:nvSpPr>
        <p:spPr>
          <a:xfrm>
            <a:off x="1055692" y="2057774"/>
            <a:ext cx="2078393" cy="259799"/>
          </a:xfrm>
          <a:prstGeom prst="rect">
            <a:avLst/>
          </a:prstGeom>
          <a:noFill/>
          <a:ln/>
        </p:spPr>
        <p:txBody>
          <a:bodyPr wrap="square" lIns="0" tIns="0" rIns="0" bIns="0" rtlCol="0" anchor="ctr"/>
          <a:lstStyle/>
          <a:p>
            <a:pPr>
              <a:lnSpc>
                <a:spcPct val="120000"/>
              </a:lnSpc>
            </a:pPr>
            <a:r>
              <a:rPr lang="en-US" sz="1461" b="1" dirty="0">
                <a:solidFill>
                  <a:srgbClr val="1B365D"/>
                </a:solidFill>
                <a:latin typeface="Liter" pitchFamily="34" charset="0"/>
                <a:ea typeface="Liter" pitchFamily="34" charset="-122"/>
                <a:cs typeface="Liter" pitchFamily="34" charset="-120"/>
              </a:rPr>
              <a:t>Performance Dashboard</a:t>
            </a:r>
            <a:endParaRPr lang="en-US" sz="1600" dirty="0"/>
          </a:p>
        </p:txBody>
      </p:sp>
      <p:sp>
        <p:nvSpPr>
          <p:cNvPr id="9" name="Shape 7"/>
          <p:cNvSpPr/>
          <p:nvPr/>
        </p:nvSpPr>
        <p:spPr>
          <a:xfrm>
            <a:off x="581455" y="2529949"/>
            <a:ext cx="3309322" cy="1955710"/>
          </a:xfrm>
          <a:prstGeom prst="roundRect">
            <a:avLst>
              <a:gd name="adj" fmla="val 0"/>
            </a:avLst>
          </a:prstGeom>
          <a:solidFill>
            <a:srgbClr val="FFFFFF"/>
          </a:solidFill>
          <a:ln w="22578">
            <a:solidFill>
              <a:srgbClr val="1B365D">
                <a:alpha val="30196"/>
              </a:srgbClr>
            </a:solidFill>
            <a:prstDash val="dash"/>
          </a:ln>
        </p:spPr>
      </p:sp>
      <p:sp>
        <p:nvSpPr>
          <p:cNvPr id="10" name="Shape 8"/>
          <p:cNvSpPr/>
          <p:nvPr/>
        </p:nvSpPr>
        <p:spPr>
          <a:xfrm>
            <a:off x="4053667" y="2529949"/>
            <a:ext cx="3279204" cy="1955710"/>
          </a:xfrm>
          <a:prstGeom prst="roundRect">
            <a:avLst>
              <a:gd name="adj" fmla="val 0"/>
            </a:avLst>
          </a:prstGeom>
          <a:solidFill>
            <a:srgbClr val="FFFFFF"/>
          </a:solidFill>
          <a:ln w="22578">
            <a:solidFill>
              <a:srgbClr val="20B2AA">
                <a:alpha val="30196"/>
              </a:srgbClr>
            </a:solidFill>
            <a:prstDash val="dash"/>
          </a:ln>
        </p:spPr>
      </p:sp>
      <p:sp>
        <p:nvSpPr>
          <p:cNvPr id="11" name="Shape 9"/>
          <p:cNvSpPr/>
          <p:nvPr/>
        </p:nvSpPr>
        <p:spPr>
          <a:xfrm>
            <a:off x="581455" y="4652029"/>
            <a:ext cx="3309322" cy="1955710"/>
          </a:xfrm>
          <a:prstGeom prst="roundRect">
            <a:avLst>
              <a:gd name="adj" fmla="val 0"/>
            </a:avLst>
          </a:prstGeom>
          <a:solidFill>
            <a:srgbClr val="FFFFFF"/>
          </a:solidFill>
          <a:ln w="22578">
            <a:solidFill>
              <a:srgbClr val="D9534F">
                <a:alpha val="30196"/>
              </a:srgbClr>
            </a:solidFill>
            <a:prstDash val="dash"/>
          </a:ln>
        </p:spPr>
      </p:sp>
      <p:sp>
        <p:nvSpPr>
          <p:cNvPr id="12" name="Shape 10"/>
          <p:cNvSpPr/>
          <p:nvPr/>
        </p:nvSpPr>
        <p:spPr>
          <a:xfrm>
            <a:off x="4053667" y="4652029"/>
            <a:ext cx="3279204" cy="1955710"/>
          </a:xfrm>
          <a:prstGeom prst="roundRect">
            <a:avLst>
              <a:gd name="adj" fmla="val 0"/>
            </a:avLst>
          </a:prstGeom>
          <a:solidFill>
            <a:srgbClr val="FFFFFF"/>
          </a:solidFill>
          <a:ln w="22578">
            <a:solidFill>
              <a:srgbClr val="1B365D">
                <a:alpha val="30196"/>
              </a:srgbClr>
            </a:solidFill>
            <a:prstDash val="dash"/>
          </a:ln>
        </p:spPr>
      </p:sp>
      <p:sp>
        <p:nvSpPr>
          <p:cNvPr id="13" name="Shape 11"/>
          <p:cNvSpPr/>
          <p:nvPr/>
        </p:nvSpPr>
        <p:spPr>
          <a:xfrm>
            <a:off x="7597455" y="1762922"/>
            <a:ext cx="4390418" cy="2519637"/>
          </a:xfrm>
          <a:prstGeom prst="roundRect">
            <a:avLst>
              <a:gd name="adj" fmla="val 0"/>
            </a:avLst>
          </a:prstGeom>
          <a:solidFill>
            <a:srgbClr val="20B2AA"/>
          </a:solidFill>
          <a:ln/>
        </p:spPr>
        <p:txBody>
          <a:bodyPr/>
          <a:lstStyle/>
          <a:p>
            <a:endParaRPr lang="en-IN" dirty="0"/>
          </a:p>
        </p:txBody>
      </p:sp>
      <p:sp>
        <p:nvSpPr>
          <p:cNvPr id="14" name="Text 12"/>
          <p:cNvSpPr/>
          <p:nvPr/>
        </p:nvSpPr>
        <p:spPr>
          <a:xfrm>
            <a:off x="7664073" y="1909318"/>
            <a:ext cx="4323799" cy="556712"/>
          </a:xfrm>
          <a:prstGeom prst="rect">
            <a:avLst/>
          </a:prstGeom>
          <a:noFill/>
          <a:ln/>
        </p:spPr>
        <p:txBody>
          <a:bodyPr wrap="square" lIns="0" tIns="0" rIns="0" bIns="0" rtlCol="0" anchor="ctr"/>
          <a:lstStyle/>
          <a:p>
            <a:pPr algn="ctr">
              <a:lnSpc>
                <a:spcPct val="80000"/>
              </a:lnSpc>
            </a:pPr>
            <a:r>
              <a:rPr lang="en-US" sz="4384" b="1" dirty="0">
                <a:solidFill>
                  <a:srgbClr val="FFFFFF"/>
                </a:solidFill>
                <a:latin typeface="Liter" pitchFamily="34" charset="0"/>
                <a:ea typeface="Liter" pitchFamily="34" charset="-122"/>
                <a:cs typeface="Liter" pitchFamily="34" charset="-120"/>
              </a:rPr>
              <a:t>$18,400.00</a:t>
            </a:r>
            <a:endParaRPr lang="en-US" sz="1600" dirty="0"/>
          </a:p>
        </p:txBody>
      </p:sp>
      <p:sp>
        <p:nvSpPr>
          <p:cNvPr id="15" name="Text 13"/>
          <p:cNvSpPr/>
          <p:nvPr/>
        </p:nvSpPr>
        <p:spPr>
          <a:xfrm>
            <a:off x="7738301" y="2529949"/>
            <a:ext cx="4156785" cy="296913"/>
          </a:xfrm>
          <a:prstGeom prst="rect">
            <a:avLst/>
          </a:prstGeom>
          <a:noFill/>
          <a:ln/>
        </p:spPr>
        <p:txBody>
          <a:bodyPr wrap="square" lIns="0" tIns="0" rIns="0" bIns="0" rtlCol="0" anchor="ctr"/>
          <a:lstStyle/>
          <a:p>
            <a:pPr algn="ctr">
              <a:lnSpc>
                <a:spcPct val="110000"/>
              </a:lnSpc>
            </a:pPr>
            <a:r>
              <a:rPr lang="en-US" sz="1753" b="1" dirty="0">
                <a:solidFill>
                  <a:srgbClr val="FFFFFF"/>
                </a:solidFill>
                <a:latin typeface="Liter" pitchFamily="34" charset="0"/>
                <a:ea typeface="Liter" pitchFamily="34" charset="-122"/>
                <a:cs typeface="Liter" pitchFamily="34" charset="-120"/>
              </a:rPr>
              <a:t>Simulated Campaign Net Profit</a:t>
            </a:r>
            <a:endParaRPr lang="en-US" sz="1600" dirty="0"/>
          </a:p>
        </p:txBody>
      </p:sp>
      <p:sp>
        <p:nvSpPr>
          <p:cNvPr id="16" name="Shape 14"/>
          <p:cNvSpPr/>
          <p:nvPr/>
        </p:nvSpPr>
        <p:spPr>
          <a:xfrm>
            <a:off x="9445553" y="2915150"/>
            <a:ext cx="593826" cy="37114"/>
          </a:xfrm>
          <a:prstGeom prst="roundRect">
            <a:avLst>
              <a:gd name="adj" fmla="val 0"/>
            </a:avLst>
          </a:prstGeom>
          <a:solidFill>
            <a:srgbClr val="FFFFFF"/>
          </a:solidFill>
          <a:ln/>
        </p:spPr>
      </p:sp>
      <p:sp>
        <p:nvSpPr>
          <p:cNvPr id="17" name="Text 15"/>
          <p:cNvSpPr/>
          <p:nvPr/>
        </p:nvSpPr>
        <p:spPr>
          <a:xfrm>
            <a:off x="7677991" y="3063078"/>
            <a:ext cx="4128950" cy="1085589"/>
          </a:xfrm>
          <a:prstGeom prst="rect">
            <a:avLst/>
          </a:prstGeom>
          <a:noFill/>
          <a:ln/>
        </p:spPr>
        <p:txBody>
          <a:bodyPr wrap="square" lIns="0" tIns="0" rIns="0" bIns="0" rtlCol="0" anchor="ctr"/>
          <a:lstStyle/>
          <a:p>
            <a:pPr algn="ctr">
              <a:lnSpc>
                <a:spcPct val="140000"/>
              </a:lnSpc>
            </a:pPr>
            <a:r>
              <a:rPr lang="en-US" sz="1315" dirty="0">
                <a:solidFill>
                  <a:srgbClr val="FFFFFF"/>
                </a:solidFill>
                <a:latin typeface="Liter" pitchFamily="34" charset="0"/>
                <a:ea typeface="Liter" pitchFamily="34" charset="-122"/>
                <a:cs typeface="Liter" pitchFamily="34" charset="-120"/>
              </a:rPr>
              <a:t>High-value retention campaigns driven by this AI engine yield an </a:t>
            </a:r>
            <a:r>
              <a:rPr lang="en-US" sz="1315" b="1" dirty="0">
                <a:solidFill>
                  <a:srgbClr val="FFFFFF"/>
                </a:solidFill>
                <a:latin typeface="Liter" pitchFamily="34" charset="0"/>
                <a:ea typeface="Liter" pitchFamily="34" charset="-122"/>
                <a:cs typeface="Liter" pitchFamily="34" charset="-120"/>
              </a:rPr>
              <a:t>optimized return on investment</a:t>
            </a:r>
            <a:r>
              <a:rPr lang="en-US" sz="1315" dirty="0">
                <a:solidFill>
                  <a:srgbClr val="FFFFFF"/>
                </a:solidFill>
                <a:latin typeface="Liter" pitchFamily="34" charset="0"/>
                <a:ea typeface="Liter" pitchFamily="34" charset="-122"/>
                <a:cs typeface="Liter" pitchFamily="34" charset="-120"/>
              </a:rPr>
              <a:t>, converting a historical cost center into a direct revenue protector.</a:t>
            </a:r>
            <a:endParaRPr lang="en-US" sz="1600" dirty="0"/>
          </a:p>
        </p:txBody>
      </p:sp>
      <p:sp>
        <p:nvSpPr>
          <p:cNvPr id="18" name="Shape 16"/>
          <p:cNvSpPr/>
          <p:nvPr/>
        </p:nvSpPr>
        <p:spPr>
          <a:xfrm>
            <a:off x="7597455" y="4752031"/>
            <a:ext cx="4390418" cy="1855708"/>
          </a:xfrm>
          <a:prstGeom prst="roundRect">
            <a:avLst>
              <a:gd name="adj" fmla="val 0"/>
            </a:avLst>
          </a:prstGeom>
          <a:solidFill>
            <a:srgbClr val="1B365D"/>
          </a:solidFill>
          <a:ln/>
        </p:spPr>
      </p:sp>
      <p:sp>
        <p:nvSpPr>
          <p:cNvPr id="19" name="Shape 17"/>
          <p:cNvSpPr/>
          <p:nvPr/>
        </p:nvSpPr>
        <p:spPr>
          <a:xfrm>
            <a:off x="7738301" y="5018271"/>
            <a:ext cx="125260" cy="167014"/>
          </a:xfrm>
          <a:custGeom>
            <a:avLst/>
            <a:gdLst/>
            <a:ahLst/>
            <a:cxnLst/>
            <a:rect l="l" t="t" r="r" b="b"/>
            <a:pathLst>
              <a:path w="125260" h="167014">
                <a:moveTo>
                  <a:pt x="20877" y="0"/>
                </a:moveTo>
                <a:cubicBezTo>
                  <a:pt x="9362" y="0"/>
                  <a:pt x="0" y="9362"/>
                  <a:pt x="0" y="20877"/>
                </a:cubicBezTo>
                <a:lnTo>
                  <a:pt x="0" y="146137"/>
                </a:lnTo>
                <a:cubicBezTo>
                  <a:pt x="0" y="157652"/>
                  <a:pt x="9362" y="167014"/>
                  <a:pt x="20877" y="167014"/>
                </a:cubicBezTo>
                <a:lnTo>
                  <a:pt x="104384" y="167014"/>
                </a:lnTo>
                <a:cubicBezTo>
                  <a:pt x="115898" y="167014"/>
                  <a:pt x="125260" y="157652"/>
                  <a:pt x="125260" y="146137"/>
                </a:cubicBezTo>
                <a:lnTo>
                  <a:pt x="125260" y="20877"/>
                </a:lnTo>
                <a:cubicBezTo>
                  <a:pt x="125260" y="9362"/>
                  <a:pt x="115898" y="0"/>
                  <a:pt x="104384" y="0"/>
                </a:cubicBezTo>
                <a:lnTo>
                  <a:pt x="20877" y="0"/>
                </a:lnTo>
                <a:close/>
                <a:moveTo>
                  <a:pt x="31315" y="20877"/>
                </a:moveTo>
                <a:lnTo>
                  <a:pt x="93945" y="20877"/>
                </a:lnTo>
                <a:cubicBezTo>
                  <a:pt x="99719" y="20877"/>
                  <a:pt x="104384" y="25541"/>
                  <a:pt x="104384" y="31315"/>
                </a:cubicBezTo>
                <a:lnTo>
                  <a:pt x="104384" y="41753"/>
                </a:lnTo>
                <a:cubicBezTo>
                  <a:pt x="104384" y="47527"/>
                  <a:pt x="99719" y="52192"/>
                  <a:pt x="93945" y="52192"/>
                </a:cubicBezTo>
                <a:lnTo>
                  <a:pt x="31315" y="52192"/>
                </a:lnTo>
                <a:cubicBezTo>
                  <a:pt x="25541" y="52192"/>
                  <a:pt x="20877" y="47527"/>
                  <a:pt x="20877" y="41753"/>
                </a:cubicBezTo>
                <a:lnTo>
                  <a:pt x="20877" y="31315"/>
                </a:lnTo>
                <a:cubicBezTo>
                  <a:pt x="20877" y="25541"/>
                  <a:pt x="25541" y="20877"/>
                  <a:pt x="31315" y="20877"/>
                </a:cubicBezTo>
                <a:close/>
                <a:moveTo>
                  <a:pt x="36534" y="75678"/>
                </a:moveTo>
                <a:cubicBezTo>
                  <a:pt x="36534" y="79999"/>
                  <a:pt x="33026" y="83507"/>
                  <a:pt x="28705" y="83507"/>
                </a:cubicBezTo>
                <a:cubicBezTo>
                  <a:pt x="24385" y="83507"/>
                  <a:pt x="20877" y="79999"/>
                  <a:pt x="20877" y="75678"/>
                </a:cubicBezTo>
                <a:cubicBezTo>
                  <a:pt x="20877" y="71357"/>
                  <a:pt x="24385" y="67849"/>
                  <a:pt x="28705" y="67849"/>
                </a:cubicBezTo>
                <a:cubicBezTo>
                  <a:pt x="33026" y="67849"/>
                  <a:pt x="36534" y="71357"/>
                  <a:pt x="36534" y="75678"/>
                </a:cubicBezTo>
                <a:close/>
                <a:moveTo>
                  <a:pt x="62630" y="83507"/>
                </a:moveTo>
                <a:cubicBezTo>
                  <a:pt x="58309" y="83507"/>
                  <a:pt x="54801" y="79999"/>
                  <a:pt x="54801" y="75678"/>
                </a:cubicBezTo>
                <a:cubicBezTo>
                  <a:pt x="54801" y="71357"/>
                  <a:pt x="58309" y="67849"/>
                  <a:pt x="62630" y="67849"/>
                </a:cubicBezTo>
                <a:cubicBezTo>
                  <a:pt x="66951" y="67849"/>
                  <a:pt x="70459" y="71357"/>
                  <a:pt x="70459" y="75678"/>
                </a:cubicBezTo>
                <a:cubicBezTo>
                  <a:pt x="70459" y="79999"/>
                  <a:pt x="66951" y="83507"/>
                  <a:pt x="62630" y="83507"/>
                </a:cubicBezTo>
                <a:close/>
                <a:moveTo>
                  <a:pt x="104384" y="75678"/>
                </a:moveTo>
                <a:cubicBezTo>
                  <a:pt x="104384" y="79999"/>
                  <a:pt x="100876" y="83507"/>
                  <a:pt x="96555" y="83507"/>
                </a:cubicBezTo>
                <a:cubicBezTo>
                  <a:pt x="92234" y="83507"/>
                  <a:pt x="88726" y="79999"/>
                  <a:pt x="88726" y="75678"/>
                </a:cubicBezTo>
                <a:cubicBezTo>
                  <a:pt x="88726" y="71357"/>
                  <a:pt x="92234" y="67849"/>
                  <a:pt x="96555" y="67849"/>
                </a:cubicBezTo>
                <a:cubicBezTo>
                  <a:pt x="100876" y="67849"/>
                  <a:pt x="104384" y="71357"/>
                  <a:pt x="104384" y="75678"/>
                </a:cubicBezTo>
                <a:close/>
                <a:moveTo>
                  <a:pt x="28705" y="114822"/>
                </a:moveTo>
                <a:cubicBezTo>
                  <a:pt x="24385" y="114822"/>
                  <a:pt x="20877" y="111314"/>
                  <a:pt x="20877" y="106993"/>
                </a:cubicBezTo>
                <a:cubicBezTo>
                  <a:pt x="20877" y="102672"/>
                  <a:pt x="24385" y="99164"/>
                  <a:pt x="28705" y="99164"/>
                </a:cubicBezTo>
                <a:cubicBezTo>
                  <a:pt x="33026" y="99164"/>
                  <a:pt x="36534" y="102672"/>
                  <a:pt x="36534" y="106993"/>
                </a:cubicBezTo>
                <a:cubicBezTo>
                  <a:pt x="36534" y="111314"/>
                  <a:pt x="33026" y="114822"/>
                  <a:pt x="28705" y="114822"/>
                </a:cubicBezTo>
                <a:close/>
                <a:moveTo>
                  <a:pt x="70459" y="106993"/>
                </a:moveTo>
                <a:cubicBezTo>
                  <a:pt x="70459" y="111314"/>
                  <a:pt x="66951" y="114822"/>
                  <a:pt x="62630" y="114822"/>
                </a:cubicBezTo>
                <a:cubicBezTo>
                  <a:pt x="58309" y="114822"/>
                  <a:pt x="54801" y="111314"/>
                  <a:pt x="54801" y="106993"/>
                </a:cubicBezTo>
                <a:cubicBezTo>
                  <a:pt x="54801" y="102672"/>
                  <a:pt x="58309" y="99164"/>
                  <a:pt x="62630" y="99164"/>
                </a:cubicBezTo>
                <a:cubicBezTo>
                  <a:pt x="66951" y="99164"/>
                  <a:pt x="70459" y="102672"/>
                  <a:pt x="70459" y="106993"/>
                </a:cubicBezTo>
                <a:close/>
                <a:moveTo>
                  <a:pt x="96555" y="114822"/>
                </a:moveTo>
                <a:cubicBezTo>
                  <a:pt x="92234" y="114822"/>
                  <a:pt x="88726" y="111314"/>
                  <a:pt x="88726" y="106993"/>
                </a:cubicBezTo>
                <a:cubicBezTo>
                  <a:pt x="88726" y="102672"/>
                  <a:pt x="92234" y="99164"/>
                  <a:pt x="96555" y="99164"/>
                </a:cubicBezTo>
                <a:cubicBezTo>
                  <a:pt x="100876" y="99164"/>
                  <a:pt x="104384" y="102672"/>
                  <a:pt x="104384" y="106993"/>
                </a:cubicBezTo>
                <a:cubicBezTo>
                  <a:pt x="104384" y="111314"/>
                  <a:pt x="100876" y="114822"/>
                  <a:pt x="96555" y="114822"/>
                </a:cubicBezTo>
                <a:close/>
                <a:moveTo>
                  <a:pt x="20877" y="138308"/>
                </a:moveTo>
                <a:cubicBezTo>
                  <a:pt x="20877" y="133970"/>
                  <a:pt x="24367" y="130479"/>
                  <a:pt x="28705" y="130479"/>
                </a:cubicBezTo>
                <a:lnTo>
                  <a:pt x="65240" y="130479"/>
                </a:lnTo>
                <a:cubicBezTo>
                  <a:pt x="69578" y="130479"/>
                  <a:pt x="73068" y="133970"/>
                  <a:pt x="73068" y="138308"/>
                </a:cubicBezTo>
                <a:cubicBezTo>
                  <a:pt x="73068" y="142647"/>
                  <a:pt x="69578" y="146137"/>
                  <a:pt x="65240" y="146137"/>
                </a:cubicBezTo>
                <a:lnTo>
                  <a:pt x="28705" y="146137"/>
                </a:lnTo>
                <a:cubicBezTo>
                  <a:pt x="24367" y="146137"/>
                  <a:pt x="20877" y="142647"/>
                  <a:pt x="20877" y="138308"/>
                </a:cubicBezTo>
                <a:close/>
                <a:moveTo>
                  <a:pt x="96555" y="130479"/>
                </a:moveTo>
                <a:cubicBezTo>
                  <a:pt x="100893" y="130479"/>
                  <a:pt x="104384" y="133970"/>
                  <a:pt x="104384" y="138308"/>
                </a:cubicBezTo>
                <a:cubicBezTo>
                  <a:pt x="104384" y="142647"/>
                  <a:pt x="100893" y="146137"/>
                  <a:pt x="96555" y="146137"/>
                </a:cubicBezTo>
                <a:cubicBezTo>
                  <a:pt x="92216" y="146137"/>
                  <a:pt x="88726" y="142647"/>
                  <a:pt x="88726" y="138308"/>
                </a:cubicBezTo>
                <a:cubicBezTo>
                  <a:pt x="88726" y="133970"/>
                  <a:pt x="92216" y="130479"/>
                  <a:pt x="96555" y="130479"/>
                </a:cubicBezTo>
                <a:close/>
              </a:path>
            </a:pathLst>
          </a:custGeom>
          <a:solidFill>
            <a:srgbClr val="20B2AA"/>
          </a:solidFill>
          <a:ln/>
        </p:spPr>
      </p:sp>
      <p:sp>
        <p:nvSpPr>
          <p:cNvPr id="20" name="Text 18"/>
          <p:cNvSpPr/>
          <p:nvPr/>
        </p:nvSpPr>
        <p:spPr>
          <a:xfrm>
            <a:off x="7959546" y="4925486"/>
            <a:ext cx="3935541" cy="259799"/>
          </a:xfrm>
          <a:prstGeom prst="rect">
            <a:avLst/>
          </a:prstGeom>
          <a:noFill/>
          <a:ln/>
        </p:spPr>
        <p:txBody>
          <a:bodyPr wrap="square" lIns="0" tIns="0" rIns="0" bIns="0" rtlCol="0" anchor="ctr"/>
          <a:lstStyle/>
          <a:p>
            <a:pPr>
              <a:lnSpc>
                <a:spcPct val="130000"/>
              </a:lnSpc>
            </a:pPr>
            <a:r>
              <a:rPr lang="en-US" sz="1315" b="1" dirty="0">
                <a:solidFill>
                  <a:srgbClr val="FFFFFF"/>
                </a:solidFill>
                <a:latin typeface="Liter" pitchFamily="34" charset="0"/>
                <a:ea typeface="Liter" pitchFamily="34" charset="-122"/>
                <a:cs typeface="Liter" pitchFamily="34" charset="-120"/>
              </a:rPr>
              <a:t>Financial Logic</a:t>
            </a:r>
            <a:endParaRPr lang="en-US" sz="1600" dirty="0"/>
          </a:p>
        </p:txBody>
      </p:sp>
      <p:sp>
        <p:nvSpPr>
          <p:cNvPr id="21" name="Shape 19"/>
          <p:cNvSpPr/>
          <p:nvPr/>
        </p:nvSpPr>
        <p:spPr>
          <a:xfrm>
            <a:off x="7838943" y="5445084"/>
            <a:ext cx="74228" cy="74228"/>
          </a:xfrm>
          <a:prstGeom prst="roundRect">
            <a:avLst>
              <a:gd name="adj" fmla="val 50000"/>
            </a:avLst>
          </a:prstGeom>
          <a:solidFill>
            <a:srgbClr val="20B2AA"/>
          </a:solidFill>
          <a:ln/>
        </p:spPr>
      </p:sp>
      <p:sp>
        <p:nvSpPr>
          <p:cNvPr id="22" name="Text 20"/>
          <p:cNvSpPr/>
          <p:nvPr/>
        </p:nvSpPr>
        <p:spPr>
          <a:xfrm>
            <a:off x="8064672" y="5296628"/>
            <a:ext cx="2542320" cy="222685"/>
          </a:xfrm>
          <a:prstGeom prst="rect">
            <a:avLst/>
          </a:prstGeom>
          <a:noFill/>
          <a:ln/>
        </p:spPr>
        <p:txBody>
          <a:bodyPr wrap="square" lIns="0" tIns="0" rIns="0" bIns="0" rtlCol="0" anchor="ctr"/>
          <a:lstStyle/>
          <a:p>
            <a:pPr>
              <a:lnSpc>
                <a:spcPct val="130000"/>
              </a:lnSpc>
            </a:pPr>
            <a:r>
              <a:rPr lang="en-US" sz="1169" dirty="0">
                <a:solidFill>
                  <a:srgbClr val="FFFFFF">
                    <a:alpha val="90000"/>
                  </a:srgbClr>
                </a:solidFill>
                <a:latin typeface="Liter" pitchFamily="34" charset="0"/>
                <a:ea typeface="Liter" pitchFamily="34" charset="-122"/>
                <a:cs typeface="Liter" pitchFamily="34" charset="-120"/>
              </a:rPr>
              <a:t>Focus spend on top 10% riskiest users</a:t>
            </a:r>
            <a:endParaRPr lang="en-US" sz="1600" dirty="0"/>
          </a:p>
        </p:txBody>
      </p:sp>
      <p:sp>
        <p:nvSpPr>
          <p:cNvPr id="23" name="Shape 21"/>
          <p:cNvSpPr/>
          <p:nvPr/>
        </p:nvSpPr>
        <p:spPr>
          <a:xfrm>
            <a:off x="7838943" y="5779112"/>
            <a:ext cx="74228" cy="74228"/>
          </a:xfrm>
          <a:prstGeom prst="roundRect">
            <a:avLst>
              <a:gd name="adj" fmla="val 0"/>
            </a:avLst>
          </a:prstGeom>
          <a:solidFill>
            <a:srgbClr val="20B2AA"/>
          </a:solidFill>
          <a:ln/>
        </p:spPr>
      </p:sp>
      <p:sp>
        <p:nvSpPr>
          <p:cNvPr id="24" name="Text 22"/>
          <p:cNvSpPr/>
          <p:nvPr/>
        </p:nvSpPr>
        <p:spPr>
          <a:xfrm>
            <a:off x="8086247" y="5629884"/>
            <a:ext cx="2718612" cy="222685"/>
          </a:xfrm>
          <a:prstGeom prst="rect">
            <a:avLst/>
          </a:prstGeom>
          <a:noFill/>
          <a:ln/>
        </p:spPr>
        <p:txBody>
          <a:bodyPr wrap="square" lIns="0" tIns="0" rIns="0" bIns="0" rtlCol="0" anchor="ctr"/>
          <a:lstStyle/>
          <a:p>
            <a:pPr>
              <a:lnSpc>
                <a:spcPct val="130000"/>
              </a:lnSpc>
            </a:pPr>
            <a:r>
              <a:rPr lang="en-US" sz="1169" dirty="0">
                <a:solidFill>
                  <a:srgbClr val="FFFFFF">
                    <a:alpha val="90000"/>
                  </a:srgbClr>
                </a:solidFill>
                <a:latin typeface="Liter" pitchFamily="34" charset="0"/>
                <a:ea typeface="Liter" pitchFamily="34" charset="-122"/>
                <a:cs typeface="Liter" pitchFamily="34" charset="-120"/>
              </a:rPr>
              <a:t>Avoid wasting capital on loyal customers</a:t>
            </a:r>
            <a:endParaRPr lang="en-US" sz="1600" dirty="0"/>
          </a:p>
        </p:txBody>
      </p:sp>
      <p:sp>
        <p:nvSpPr>
          <p:cNvPr id="25" name="Shape 23"/>
          <p:cNvSpPr/>
          <p:nvPr/>
        </p:nvSpPr>
        <p:spPr>
          <a:xfrm>
            <a:off x="7838943" y="6076025"/>
            <a:ext cx="74228" cy="74228"/>
          </a:xfrm>
          <a:prstGeom prst="roundRect">
            <a:avLst>
              <a:gd name="adj" fmla="val 0"/>
            </a:avLst>
          </a:prstGeom>
          <a:solidFill>
            <a:srgbClr val="20B2AA"/>
          </a:solidFill>
          <a:ln/>
        </p:spPr>
      </p:sp>
      <p:sp>
        <p:nvSpPr>
          <p:cNvPr id="26" name="Text 24"/>
          <p:cNvSpPr/>
          <p:nvPr/>
        </p:nvSpPr>
        <p:spPr>
          <a:xfrm>
            <a:off x="8035215" y="5964682"/>
            <a:ext cx="3414502" cy="222685"/>
          </a:xfrm>
          <a:prstGeom prst="rect">
            <a:avLst/>
          </a:prstGeom>
          <a:noFill/>
          <a:ln/>
        </p:spPr>
        <p:txBody>
          <a:bodyPr wrap="square" lIns="0" tIns="0" rIns="0" bIns="0" rtlCol="0" anchor="ctr"/>
          <a:lstStyle/>
          <a:p>
            <a:pPr>
              <a:lnSpc>
                <a:spcPct val="130000"/>
              </a:lnSpc>
            </a:pPr>
            <a:r>
              <a:rPr lang="en-US" sz="1169" dirty="0">
                <a:solidFill>
                  <a:srgbClr val="FFFFFF">
                    <a:alpha val="90000"/>
                  </a:srgbClr>
                </a:solidFill>
                <a:latin typeface="Liter" pitchFamily="34" charset="0"/>
                <a:ea typeface="Liter" pitchFamily="34" charset="-122"/>
                <a:cs typeface="Liter" pitchFamily="34" charset="-120"/>
              </a:rPr>
              <a:t>Gross revenue protected outweighs incentive costs</a:t>
            </a:r>
            <a:endParaRPr lang="en-US" sz="1600" dirty="0"/>
          </a:p>
        </p:txBody>
      </p:sp>
      <p:sp>
        <p:nvSpPr>
          <p:cNvPr id="27" name="Shape 25"/>
          <p:cNvSpPr/>
          <p:nvPr/>
        </p:nvSpPr>
        <p:spPr>
          <a:xfrm>
            <a:off x="7838943" y="6374229"/>
            <a:ext cx="74228" cy="74228"/>
          </a:xfrm>
          <a:prstGeom prst="roundRect">
            <a:avLst>
              <a:gd name="adj" fmla="val 0"/>
            </a:avLst>
          </a:prstGeom>
          <a:solidFill>
            <a:srgbClr val="D9534F"/>
          </a:solidFill>
          <a:ln/>
        </p:spPr>
      </p:sp>
      <p:sp>
        <p:nvSpPr>
          <p:cNvPr id="28" name="Text 26"/>
          <p:cNvSpPr/>
          <p:nvPr/>
        </p:nvSpPr>
        <p:spPr>
          <a:xfrm>
            <a:off x="8072329" y="6225773"/>
            <a:ext cx="2746447" cy="222685"/>
          </a:xfrm>
          <a:prstGeom prst="rect">
            <a:avLst/>
          </a:prstGeom>
          <a:noFill/>
          <a:ln/>
        </p:spPr>
        <p:txBody>
          <a:bodyPr wrap="square" lIns="0" tIns="0" rIns="0" bIns="0" rtlCol="0" anchor="ctr"/>
          <a:lstStyle/>
          <a:p>
            <a:pPr>
              <a:lnSpc>
                <a:spcPct val="130000"/>
              </a:lnSpc>
            </a:pPr>
            <a:r>
              <a:rPr lang="en-US" sz="1169" dirty="0">
                <a:solidFill>
                  <a:srgbClr val="FFFFFF">
                    <a:alpha val="90000"/>
                  </a:srgbClr>
                </a:solidFill>
                <a:latin typeface="Liter" pitchFamily="34" charset="0"/>
                <a:ea typeface="Liter" pitchFamily="34" charset="-122"/>
                <a:cs typeface="Liter" pitchFamily="34" charset="-120"/>
              </a:rPr>
              <a:t>Massive net profit secured for operations</a:t>
            </a:r>
            <a:endParaRPr lang="en-US" sz="1600" dirty="0"/>
          </a:p>
        </p:txBody>
      </p:sp>
      <p:pic>
        <p:nvPicPr>
          <p:cNvPr id="29" name="Image 0" descr="https://kimi-img.moonshot.cn/pub/slides/26-06-13-06:14:02-d8m89aivb1udbi2gu7g0.png"/>
          <p:cNvPicPr>
            <a:picLocks noChangeAspect="1"/>
          </p:cNvPicPr>
          <p:nvPr/>
        </p:nvPicPr>
        <p:blipFill>
          <a:blip r:embed="rId3"/>
          <a:stretch>
            <a:fillRect/>
          </a:stretch>
        </p:blipFill>
        <p:spPr>
          <a:xfrm>
            <a:off x="606762" y="2529949"/>
            <a:ext cx="3284015" cy="1955710"/>
          </a:xfrm>
          <a:prstGeom prst="rect">
            <a:avLst/>
          </a:prstGeom>
        </p:spPr>
      </p:pic>
      <p:pic>
        <p:nvPicPr>
          <p:cNvPr id="30" name="Image 1" descr="https://kimi-img.moonshot.cn/pub/slides/26-06-13-06:15:48-d8m8a51kotdbl8b5kd00.png"/>
          <p:cNvPicPr>
            <a:picLocks noChangeAspect="1"/>
          </p:cNvPicPr>
          <p:nvPr/>
        </p:nvPicPr>
        <p:blipFill>
          <a:blip r:embed="rId4"/>
          <a:stretch>
            <a:fillRect/>
          </a:stretch>
        </p:blipFill>
        <p:spPr>
          <a:xfrm>
            <a:off x="4053667" y="2529949"/>
            <a:ext cx="3279204" cy="1955710"/>
          </a:xfrm>
          <a:prstGeom prst="rect">
            <a:avLst/>
          </a:prstGeom>
        </p:spPr>
      </p:pic>
      <p:pic>
        <p:nvPicPr>
          <p:cNvPr id="31" name="Image 2" descr="https://kimi-img.moonshot.cn/pub/slides/26-06-13-06:17:32-d8m8av0c86scc44h2ukg.png"/>
          <p:cNvPicPr>
            <a:picLocks noChangeAspect="1"/>
          </p:cNvPicPr>
          <p:nvPr/>
        </p:nvPicPr>
        <p:blipFill>
          <a:blip r:embed="rId5"/>
          <a:stretch>
            <a:fillRect/>
          </a:stretch>
        </p:blipFill>
        <p:spPr>
          <a:xfrm>
            <a:off x="606762" y="4652029"/>
            <a:ext cx="3284015" cy="1955710"/>
          </a:xfrm>
          <a:prstGeom prst="rect">
            <a:avLst/>
          </a:prstGeom>
        </p:spPr>
      </p:pic>
      <p:pic>
        <p:nvPicPr>
          <p:cNvPr id="32" name="Image 3" descr="https://kimi-img.moonshot.cn/pub/slides/26-06-13-06:19:48-d8m8c10v025av60ltik0.png"/>
          <p:cNvPicPr>
            <a:picLocks noChangeAspect="1"/>
          </p:cNvPicPr>
          <p:nvPr/>
        </p:nvPicPr>
        <p:blipFill>
          <a:blip r:embed="rId6"/>
          <a:stretch>
            <a:fillRect/>
          </a:stretch>
        </p:blipFill>
        <p:spPr>
          <a:xfrm>
            <a:off x="4053667" y="4652029"/>
            <a:ext cx="3279204" cy="195571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20B2AA"/>
                </a:solidFill>
                <a:latin typeface="Liter" pitchFamily="34" charset="0"/>
                <a:ea typeface="Liter" pitchFamily="34" charset="-122"/>
                <a:cs typeface="Liter" pitchFamily="34" charset="-120"/>
              </a:rPr>
              <a:t>Executive Conclusion</a:t>
            </a:r>
            <a:endParaRPr lang="en-US" sz="1600" dirty="0"/>
          </a:p>
        </p:txBody>
      </p:sp>
      <p:sp>
        <p:nvSpPr>
          <p:cNvPr id="3" name="Text 1"/>
          <p:cNvSpPr/>
          <p:nvPr/>
        </p:nvSpPr>
        <p:spPr>
          <a:xfrm>
            <a:off x="317500" y="571500"/>
            <a:ext cx="11707813" cy="381000"/>
          </a:xfrm>
          <a:prstGeom prst="rect">
            <a:avLst/>
          </a:prstGeom>
          <a:noFill/>
          <a:ln/>
        </p:spPr>
        <p:txBody>
          <a:bodyPr wrap="square" lIns="0" tIns="0" rIns="0" bIns="0" rtlCol="0" anchor="ctr"/>
          <a:lstStyle/>
          <a:p>
            <a:pPr>
              <a:lnSpc>
                <a:spcPct val="100000"/>
              </a:lnSpc>
            </a:pPr>
            <a:r>
              <a:rPr lang="en-US" sz="2375" b="1" dirty="0">
                <a:solidFill>
                  <a:srgbClr val="1B365D"/>
                </a:solidFill>
                <a:latin typeface="Liter" pitchFamily="34" charset="0"/>
                <a:ea typeface="Liter" pitchFamily="34" charset="-122"/>
                <a:cs typeface="Liter" pitchFamily="34" charset="-120"/>
              </a:rPr>
              <a:t>Translating Complex Data into a Predictive and Profitable Business Engine</a:t>
            </a:r>
            <a:endParaRPr lang="en-US" sz="1600" dirty="0"/>
          </a:p>
        </p:txBody>
      </p:sp>
      <p:sp>
        <p:nvSpPr>
          <p:cNvPr id="4" name="Shape 2"/>
          <p:cNvSpPr/>
          <p:nvPr/>
        </p:nvSpPr>
        <p:spPr>
          <a:xfrm>
            <a:off x="317500" y="1043781"/>
            <a:ext cx="635000" cy="31750"/>
          </a:xfrm>
          <a:prstGeom prst="roundRect">
            <a:avLst>
              <a:gd name="adj" fmla="val 0"/>
            </a:avLst>
          </a:prstGeom>
          <a:solidFill>
            <a:srgbClr val="20B2AA"/>
          </a:solidFill>
          <a:ln/>
        </p:spPr>
      </p:sp>
      <p:sp>
        <p:nvSpPr>
          <p:cNvPr id="5" name="Shape 3"/>
          <p:cNvSpPr/>
          <p:nvPr/>
        </p:nvSpPr>
        <p:spPr>
          <a:xfrm>
            <a:off x="331611" y="1266031"/>
            <a:ext cx="11539361" cy="1190625"/>
          </a:xfrm>
          <a:prstGeom prst="roundRect">
            <a:avLst>
              <a:gd name="adj" fmla="val 0"/>
            </a:avLst>
          </a:prstGeom>
          <a:solidFill>
            <a:srgbClr val="1B365D">
              <a:alpha val="5098"/>
            </a:srgbClr>
          </a:solidFill>
          <a:ln/>
        </p:spPr>
      </p:sp>
      <p:sp>
        <p:nvSpPr>
          <p:cNvPr id="6" name="Shape 4"/>
          <p:cNvSpPr/>
          <p:nvPr/>
        </p:nvSpPr>
        <p:spPr>
          <a:xfrm>
            <a:off x="331611" y="1266031"/>
            <a:ext cx="28222" cy="1190625"/>
          </a:xfrm>
          <a:prstGeom prst="roundRect">
            <a:avLst>
              <a:gd name="adj" fmla="val 0"/>
            </a:avLst>
          </a:prstGeom>
          <a:solidFill>
            <a:srgbClr val="1B365D"/>
          </a:solidFill>
          <a:ln/>
        </p:spPr>
      </p:sp>
      <p:sp>
        <p:nvSpPr>
          <p:cNvPr id="7" name="Shape 5"/>
          <p:cNvSpPr/>
          <p:nvPr/>
        </p:nvSpPr>
        <p:spPr>
          <a:xfrm>
            <a:off x="536222" y="1456531"/>
            <a:ext cx="508000" cy="508000"/>
          </a:xfrm>
          <a:prstGeom prst="roundRect">
            <a:avLst>
              <a:gd name="adj" fmla="val 0"/>
            </a:avLst>
          </a:prstGeom>
          <a:solidFill>
            <a:srgbClr val="1B365D"/>
          </a:solidFill>
          <a:ln/>
        </p:spPr>
      </p:sp>
      <p:sp>
        <p:nvSpPr>
          <p:cNvPr id="8" name="Shape 6"/>
          <p:cNvSpPr/>
          <p:nvPr/>
        </p:nvSpPr>
        <p:spPr>
          <a:xfrm>
            <a:off x="694972" y="1615281"/>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FFFFFF"/>
          </a:solidFill>
          <a:ln/>
        </p:spPr>
      </p:sp>
      <p:sp>
        <p:nvSpPr>
          <p:cNvPr id="9" name="Text 7"/>
          <p:cNvSpPr/>
          <p:nvPr/>
        </p:nvSpPr>
        <p:spPr>
          <a:xfrm>
            <a:off x="1202972" y="1456531"/>
            <a:ext cx="10572750" cy="254000"/>
          </a:xfrm>
          <a:prstGeom prst="rect">
            <a:avLst/>
          </a:prstGeom>
          <a:noFill/>
          <a:ln/>
        </p:spPr>
        <p:txBody>
          <a:bodyPr wrap="square" lIns="0" tIns="0" rIns="0" bIns="0" rtlCol="0" anchor="ctr"/>
          <a:lstStyle/>
          <a:p>
            <a:pPr>
              <a:lnSpc>
                <a:spcPct val="110000"/>
              </a:lnSpc>
            </a:pPr>
            <a:r>
              <a:rPr lang="en-US" sz="1500" b="1" dirty="0">
                <a:solidFill>
                  <a:srgbClr val="1B365D"/>
                </a:solidFill>
                <a:latin typeface="Liter" pitchFamily="34" charset="0"/>
                <a:ea typeface="Liter" pitchFamily="34" charset="-122"/>
                <a:cs typeface="Liter" pitchFamily="34" charset="-120"/>
              </a:rPr>
              <a:t>Diagnosing the Root Cause</a:t>
            </a:r>
            <a:endParaRPr lang="en-US" sz="1600" dirty="0"/>
          </a:p>
        </p:txBody>
      </p:sp>
      <p:sp>
        <p:nvSpPr>
          <p:cNvPr id="10" name="Text 8"/>
          <p:cNvSpPr/>
          <p:nvPr/>
        </p:nvSpPr>
        <p:spPr>
          <a:xfrm>
            <a:off x="1202972" y="1805673"/>
            <a:ext cx="10548938" cy="468313"/>
          </a:xfrm>
          <a:prstGeom prst="rect">
            <a:avLst/>
          </a:prstGeom>
          <a:noFill/>
          <a:ln/>
        </p:spPr>
        <p:txBody>
          <a:bodyPr wrap="square" lIns="0" tIns="0" rIns="0" bIns="0" rtlCol="0" anchor="ctr"/>
          <a:lstStyle/>
          <a:p>
            <a:pPr>
              <a:lnSpc>
                <a:spcPct val="140000"/>
              </a:lnSpc>
            </a:pPr>
            <a:r>
              <a:rPr lang="en-US" sz="1125" dirty="0">
                <a:solidFill>
                  <a:srgbClr val="1B365D"/>
                </a:solidFill>
                <a:latin typeface="Liter" pitchFamily="34" charset="0"/>
                <a:ea typeface="Liter" pitchFamily="34" charset="-122"/>
                <a:cs typeface="Liter" pitchFamily="34" charset="-120"/>
              </a:rPr>
              <a:t>We moved beyond surface-level metrics to </a:t>
            </a:r>
            <a:r>
              <a:rPr lang="en-US" sz="1125" b="1" dirty="0">
                <a:solidFill>
                  <a:srgbClr val="1B365D"/>
                </a:solidFill>
                <a:latin typeface="Liter" pitchFamily="34" charset="0"/>
                <a:ea typeface="Liter" pitchFamily="34" charset="-122"/>
                <a:cs typeface="Liter" pitchFamily="34" charset="-120"/>
              </a:rPr>
              <a:t>pinpoint hardware fatigue and sudden usage drops</a:t>
            </a:r>
            <a:r>
              <a:rPr lang="en-US" sz="1125" dirty="0">
                <a:solidFill>
                  <a:srgbClr val="1B365D"/>
                </a:solidFill>
                <a:latin typeface="Liter" pitchFamily="34" charset="0"/>
                <a:ea typeface="Liter" pitchFamily="34" charset="-122"/>
                <a:cs typeface="Liter" pitchFamily="34" charset="-120"/>
              </a:rPr>
              <a:t> as the primary behavioral triggers for churn. Our exploratory analysis revealed that customers operating on older handsets with declining usage velocity are silently preparing to exit—providing clear, actionable early-warning signals.</a:t>
            </a:r>
            <a:endParaRPr lang="en-US" sz="1600" dirty="0"/>
          </a:p>
        </p:txBody>
      </p:sp>
      <p:sp>
        <p:nvSpPr>
          <p:cNvPr id="11" name="Shape 9"/>
          <p:cNvSpPr/>
          <p:nvPr/>
        </p:nvSpPr>
        <p:spPr>
          <a:xfrm>
            <a:off x="331611" y="2619266"/>
            <a:ext cx="11539361" cy="1428750"/>
          </a:xfrm>
          <a:prstGeom prst="roundRect">
            <a:avLst>
              <a:gd name="adj" fmla="val 0"/>
            </a:avLst>
          </a:prstGeom>
          <a:solidFill>
            <a:srgbClr val="20B2AA">
              <a:alpha val="5098"/>
            </a:srgbClr>
          </a:solidFill>
          <a:ln/>
        </p:spPr>
      </p:sp>
      <p:sp>
        <p:nvSpPr>
          <p:cNvPr id="12" name="Shape 10"/>
          <p:cNvSpPr/>
          <p:nvPr/>
        </p:nvSpPr>
        <p:spPr>
          <a:xfrm>
            <a:off x="331611" y="2619266"/>
            <a:ext cx="28222" cy="1428750"/>
          </a:xfrm>
          <a:prstGeom prst="roundRect">
            <a:avLst>
              <a:gd name="adj" fmla="val 0"/>
            </a:avLst>
          </a:prstGeom>
          <a:solidFill>
            <a:srgbClr val="20B2AA"/>
          </a:solidFill>
          <a:ln/>
        </p:spPr>
      </p:sp>
      <p:sp>
        <p:nvSpPr>
          <p:cNvPr id="13" name="Shape 11"/>
          <p:cNvSpPr/>
          <p:nvPr/>
        </p:nvSpPr>
        <p:spPr>
          <a:xfrm>
            <a:off x="536222" y="2809766"/>
            <a:ext cx="508000" cy="508000"/>
          </a:xfrm>
          <a:prstGeom prst="roundRect">
            <a:avLst>
              <a:gd name="adj" fmla="val 0"/>
            </a:avLst>
          </a:prstGeom>
          <a:solidFill>
            <a:srgbClr val="20B2AA"/>
          </a:solidFill>
          <a:ln/>
        </p:spPr>
      </p:sp>
      <p:sp>
        <p:nvSpPr>
          <p:cNvPr id="14" name="Shape 12"/>
          <p:cNvSpPr/>
          <p:nvPr/>
        </p:nvSpPr>
        <p:spPr>
          <a:xfrm>
            <a:off x="694972" y="2968516"/>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FFFFF"/>
          </a:solidFill>
          <a:ln/>
        </p:spPr>
      </p:sp>
      <p:sp>
        <p:nvSpPr>
          <p:cNvPr id="15" name="Text 13"/>
          <p:cNvSpPr/>
          <p:nvPr/>
        </p:nvSpPr>
        <p:spPr>
          <a:xfrm>
            <a:off x="1202972" y="2809766"/>
            <a:ext cx="10572750" cy="254000"/>
          </a:xfrm>
          <a:prstGeom prst="rect">
            <a:avLst/>
          </a:prstGeom>
          <a:noFill/>
          <a:ln/>
        </p:spPr>
        <p:txBody>
          <a:bodyPr wrap="square" lIns="0" tIns="0" rIns="0" bIns="0" rtlCol="0" anchor="ctr"/>
          <a:lstStyle/>
          <a:p>
            <a:pPr>
              <a:lnSpc>
                <a:spcPct val="110000"/>
              </a:lnSpc>
            </a:pPr>
            <a:r>
              <a:rPr lang="en-US" sz="1500" b="1" dirty="0">
                <a:solidFill>
                  <a:srgbClr val="1B365D"/>
                </a:solidFill>
                <a:latin typeface="Liter" pitchFamily="34" charset="0"/>
                <a:ea typeface="Liter" pitchFamily="34" charset="-122"/>
                <a:cs typeface="Liter" pitchFamily="34" charset="-120"/>
              </a:rPr>
              <a:t>Empowering the Algorithm</a:t>
            </a:r>
            <a:endParaRPr lang="en-US" sz="1600" dirty="0"/>
          </a:p>
        </p:txBody>
      </p:sp>
      <p:sp>
        <p:nvSpPr>
          <p:cNvPr id="16" name="Text 14"/>
          <p:cNvSpPr/>
          <p:nvPr/>
        </p:nvSpPr>
        <p:spPr>
          <a:xfrm>
            <a:off x="1202972" y="3158904"/>
            <a:ext cx="10548938" cy="698500"/>
          </a:xfrm>
          <a:prstGeom prst="rect">
            <a:avLst/>
          </a:prstGeom>
          <a:noFill/>
          <a:ln/>
        </p:spPr>
        <p:txBody>
          <a:bodyPr wrap="square" lIns="0" tIns="0" rIns="0" bIns="0" rtlCol="0" anchor="ctr"/>
          <a:lstStyle/>
          <a:p>
            <a:pPr>
              <a:lnSpc>
                <a:spcPct val="140000"/>
              </a:lnSpc>
            </a:pPr>
            <a:r>
              <a:rPr lang="en-US" sz="1125" dirty="0">
                <a:solidFill>
                  <a:srgbClr val="1B365D"/>
                </a:solidFill>
                <a:latin typeface="Liter" pitchFamily="34" charset="0"/>
                <a:ea typeface="Liter" pitchFamily="34" charset="-122"/>
                <a:cs typeface="Liter" pitchFamily="34" charset="-120"/>
              </a:rPr>
              <a:t>By engineering </a:t>
            </a:r>
            <a:r>
              <a:rPr lang="en-US" sz="1125" b="1" dirty="0">
                <a:solidFill>
                  <a:srgbClr val="1B365D"/>
                </a:solidFill>
                <a:latin typeface="Liter" pitchFamily="34" charset="0"/>
                <a:ea typeface="Liter" pitchFamily="34" charset="-122"/>
                <a:cs typeface="Liter" pitchFamily="34" charset="-120"/>
              </a:rPr>
              <a:t>domain-specific financial signals</a:t>
            </a:r>
            <a:r>
              <a:rPr lang="en-US" sz="1125" dirty="0">
                <a:solidFill>
                  <a:srgbClr val="1B365D"/>
                </a:solidFill>
                <a:latin typeface="Liter" pitchFamily="34" charset="0"/>
                <a:ea typeface="Liter" pitchFamily="34" charset="-122"/>
                <a:cs typeface="Liter" pitchFamily="34" charset="-120"/>
              </a:rPr>
              <a:t> and utilizing SMOTE to balance the data, we trained an XGBoost model optimized specifically for the complexities of human behavior. This approach overcomes the accuracy paradox, ensuring the model identifies true flight risks rather than playing it safe with statistically correct but commercially useless predictions.</a:t>
            </a:r>
            <a:endParaRPr lang="en-US" sz="1600" dirty="0"/>
          </a:p>
        </p:txBody>
      </p:sp>
      <p:sp>
        <p:nvSpPr>
          <p:cNvPr id="17" name="Shape 15"/>
          <p:cNvSpPr/>
          <p:nvPr/>
        </p:nvSpPr>
        <p:spPr>
          <a:xfrm>
            <a:off x="331611" y="4204670"/>
            <a:ext cx="11539361" cy="1190625"/>
          </a:xfrm>
          <a:prstGeom prst="roundRect">
            <a:avLst>
              <a:gd name="adj" fmla="val 0"/>
            </a:avLst>
          </a:prstGeom>
          <a:solidFill>
            <a:srgbClr val="D9534F">
              <a:alpha val="5098"/>
            </a:srgbClr>
          </a:solidFill>
          <a:ln/>
        </p:spPr>
      </p:sp>
      <p:sp>
        <p:nvSpPr>
          <p:cNvPr id="18" name="Shape 16"/>
          <p:cNvSpPr/>
          <p:nvPr/>
        </p:nvSpPr>
        <p:spPr>
          <a:xfrm>
            <a:off x="331611" y="4204670"/>
            <a:ext cx="28222" cy="1190625"/>
          </a:xfrm>
          <a:prstGeom prst="roundRect">
            <a:avLst>
              <a:gd name="adj" fmla="val 0"/>
            </a:avLst>
          </a:prstGeom>
          <a:solidFill>
            <a:srgbClr val="D9534F"/>
          </a:solidFill>
          <a:ln/>
        </p:spPr>
      </p:sp>
      <p:sp>
        <p:nvSpPr>
          <p:cNvPr id="19" name="Shape 17"/>
          <p:cNvSpPr/>
          <p:nvPr/>
        </p:nvSpPr>
        <p:spPr>
          <a:xfrm>
            <a:off x="536222" y="4395170"/>
            <a:ext cx="508000" cy="508000"/>
          </a:xfrm>
          <a:prstGeom prst="roundRect">
            <a:avLst>
              <a:gd name="adj" fmla="val 0"/>
            </a:avLst>
          </a:prstGeom>
          <a:solidFill>
            <a:srgbClr val="D9534F"/>
          </a:solidFill>
          <a:ln/>
        </p:spPr>
      </p:sp>
      <p:sp>
        <p:nvSpPr>
          <p:cNvPr id="20" name="Shape 18"/>
          <p:cNvSpPr/>
          <p:nvPr/>
        </p:nvSpPr>
        <p:spPr>
          <a:xfrm>
            <a:off x="694972" y="4553920"/>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FFFFF"/>
          </a:solidFill>
          <a:ln/>
        </p:spPr>
      </p:sp>
      <p:sp>
        <p:nvSpPr>
          <p:cNvPr id="21" name="Text 19"/>
          <p:cNvSpPr/>
          <p:nvPr/>
        </p:nvSpPr>
        <p:spPr>
          <a:xfrm>
            <a:off x="1202972" y="4395170"/>
            <a:ext cx="10572750" cy="254000"/>
          </a:xfrm>
          <a:prstGeom prst="rect">
            <a:avLst/>
          </a:prstGeom>
          <a:noFill/>
          <a:ln/>
        </p:spPr>
        <p:txBody>
          <a:bodyPr wrap="square" lIns="0" tIns="0" rIns="0" bIns="0" rtlCol="0" anchor="ctr"/>
          <a:lstStyle/>
          <a:p>
            <a:pPr>
              <a:lnSpc>
                <a:spcPct val="110000"/>
              </a:lnSpc>
            </a:pPr>
            <a:r>
              <a:rPr lang="en-US" sz="1500" b="1" dirty="0">
                <a:solidFill>
                  <a:srgbClr val="1B365D"/>
                </a:solidFill>
                <a:latin typeface="Liter" pitchFamily="34" charset="0"/>
                <a:ea typeface="Liter" pitchFamily="34" charset="-122"/>
                <a:cs typeface="Liter" pitchFamily="34" charset="-120"/>
              </a:rPr>
              <a:t>Calibrating for Profit</a:t>
            </a:r>
            <a:endParaRPr lang="en-US" sz="1600" dirty="0"/>
          </a:p>
        </p:txBody>
      </p:sp>
      <p:sp>
        <p:nvSpPr>
          <p:cNvPr id="22" name="Text 20"/>
          <p:cNvSpPr/>
          <p:nvPr/>
        </p:nvSpPr>
        <p:spPr>
          <a:xfrm>
            <a:off x="1202972" y="4744311"/>
            <a:ext cx="10548938" cy="468313"/>
          </a:xfrm>
          <a:prstGeom prst="rect">
            <a:avLst/>
          </a:prstGeom>
          <a:noFill/>
          <a:ln/>
        </p:spPr>
        <p:txBody>
          <a:bodyPr wrap="square" lIns="0" tIns="0" rIns="0" bIns="0" rtlCol="0" anchor="ctr"/>
          <a:lstStyle/>
          <a:p>
            <a:pPr>
              <a:lnSpc>
                <a:spcPct val="140000"/>
              </a:lnSpc>
            </a:pPr>
            <a:r>
              <a:rPr lang="en-US" sz="1125" dirty="0">
                <a:solidFill>
                  <a:srgbClr val="1B365D"/>
                </a:solidFill>
                <a:latin typeface="Liter" pitchFamily="34" charset="0"/>
                <a:ea typeface="Liter" pitchFamily="34" charset="-122"/>
                <a:cs typeface="Liter" pitchFamily="34" charset="-120"/>
              </a:rPr>
              <a:t>Instead of accepting standard "safe" accuracy, we </a:t>
            </a:r>
            <a:r>
              <a:rPr lang="en-US" sz="1125" b="1" dirty="0">
                <a:solidFill>
                  <a:srgbClr val="1B365D"/>
                </a:solidFill>
                <a:latin typeface="Liter" pitchFamily="34" charset="0"/>
                <a:ea typeface="Liter" pitchFamily="34" charset="-122"/>
                <a:cs typeface="Liter" pitchFamily="34" charset="-120"/>
              </a:rPr>
              <a:t>dynamically optimized the decision threshold</a:t>
            </a:r>
            <a:r>
              <a:rPr lang="en-US" sz="1125" dirty="0">
                <a:solidFill>
                  <a:srgbClr val="1B365D"/>
                </a:solidFill>
                <a:latin typeface="Liter" pitchFamily="34" charset="0"/>
                <a:ea typeface="Liter" pitchFamily="34" charset="-122"/>
                <a:cs typeface="Liter" pitchFamily="34" charset="-120"/>
              </a:rPr>
              <a:t> to actively isolate the top 10% of high-value flight risks. This calibration protects millions in revenue while minimizing campaign costs, transforming customer retention from a reactive expense into a proactive profit center.</a:t>
            </a:r>
            <a:endParaRPr lang="en-US" sz="1600" dirty="0"/>
          </a:p>
        </p:txBody>
      </p:sp>
      <p:sp>
        <p:nvSpPr>
          <p:cNvPr id="23" name="Shape 21"/>
          <p:cNvSpPr/>
          <p:nvPr/>
        </p:nvSpPr>
        <p:spPr>
          <a:xfrm>
            <a:off x="317500" y="5557905"/>
            <a:ext cx="11557000" cy="1016000"/>
          </a:xfrm>
          <a:prstGeom prst="roundRect">
            <a:avLst>
              <a:gd name="adj" fmla="val 0"/>
            </a:avLst>
          </a:prstGeom>
          <a:solidFill>
            <a:srgbClr val="1B365D"/>
          </a:solidFill>
          <a:ln/>
        </p:spPr>
      </p:sp>
      <p:sp>
        <p:nvSpPr>
          <p:cNvPr id="24" name="Shape 22"/>
          <p:cNvSpPr/>
          <p:nvPr/>
        </p:nvSpPr>
        <p:spPr>
          <a:xfrm>
            <a:off x="579438" y="5923030"/>
            <a:ext cx="285750" cy="285750"/>
          </a:xfrm>
          <a:custGeom>
            <a:avLst/>
            <a:gdLst/>
            <a:ahLst/>
            <a:cxnLst/>
            <a:rect l="l" t="t" r="r" b="b"/>
            <a:pathLst>
              <a:path w="285750" h="285750">
                <a:moveTo>
                  <a:pt x="80535" y="0"/>
                </a:moveTo>
                <a:lnTo>
                  <a:pt x="205550" y="0"/>
                </a:lnTo>
                <a:cubicBezTo>
                  <a:pt x="220340" y="0"/>
                  <a:pt x="232395" y="12167"/>
                  <a:pt x="231837" y="26901"/>
                </a:cubicBezTo>
                <a:cubicBezTo>
                  <a:pt x="231725" y="29859"/>
                  <a:pt x="231614" y="32817"/>
                  <a:pt x="231446" y="35719"/>
                </a:cubicBezTo>
                <a:lnTo>
                  <a:pt x="259128" y="35719"/>
                </a:lnTo>
                <a:cubicBezTo>
                  <a:pt x="273695" y="35719"/>
                  <a:pt x="286531" y="47774"/>
                  <a:pt x="285415" y="63512"/>
                </a:cubicBezTo>
                <a:cubicBezTo>
                  <a:pt x="281229" y="121388"/>
                  <a:pt x="251650" y="153200"/>
                  <a:pt x="219559" y="169831"/>
                </a:cubicBezTo>
                <a:cubicBezTo>
                  <a:pt x="210741" y="174408"/>
                  <a:pt x="201755" y="177812"/>
                  <a:pt x="193216" y="180324"/>
                </a:cubicBezTo>
                <a:cubicBezTo>
                  <a:pt x="181942" y="196286"/>
                  <a:pt x="170222" y="204713"/>
                  <a:pt x="160902" y="209234"/>
                </a:cubicBezTo>
                <a:lnTo>
                  <a:pt x="160902" y="250031"/>
                </a:lnTo>
                <a:lnTo>
                  <a:pt x="196621" y="250031"/>
                </a:lnTo>
                <a:cubicBezTo>
                  <a:pt x="206499" y="250031"/>
                  <a:pt x="214480" y="258012"/>
                  <a:pt x="214480" y="267891"/>
                </a:cubicBezTo>
                <a:cubicBezTo>
                  <a:pt x="214480" y="277769"/>
                  <a:pt x="206499" y="285750"/>
                  <a:pt x="196621" y="285750"/>
                </a:cubicBezTo>
                <a:lnTo>
                  <a:pt x="89464" y="285750"/>
                </a:lnTo>
                <a:cubicBezTo>
                  <a:pt x="79586" y="285750"/>
                  <a:pt x="71605" y="277769"/>
                  <a:pt x="71605" y="267891"/>
                </a:cubicBezTo>
                <a:cubicBezTo>
                  <a:pt x="71605" y="258012"/>
                  <a:pt x="79586" y="250031"/>
                  <a:pt x="89464" y="250031"/>
                </a:cubicBezTo>
                <a:lnTo>
                  <a:pt x="125183" y="250031"/>
                </a:lnTo>
                <a:lnTo>
                  <a:pt x="125183" y="209234"/>
                </a:lnTo>
                <a:cubicBezTo>
                  <a:pt x="116253" y="204936"/>
                  <a:pt x="105147" y="196955"/>
                  <a:pt x="94320" y="182277"/>
                </a:cubicBezTo>
                <a:cubicBezTo>
                  <a:pt x="84051" y="179598"/>
                  <a:pt x="72889" y="175524"/>
                  <a:pt x="62006" y="169385"/>
                </a:cubicBezTo>
                <a:cubicBezTo>
                  <a:pt x="31812" y="152474"/>
                  <a:pt x="4576" y="120607"/>
                  <a:pt x="670" y="63401"/>
                </a:cubicBezTo>
                <a:cubicBezTo>
                  <a:pt x="-391" y="47718"/>
                  <a:pt x="12390" y="35663"/>
                  <a:pt x="26956" y="35663"/>
                </a:cubicBezTo>
                <a:lnTo>
                  <a:pt x="54639" y="35663"/>
                </a:lnTo>
                <a:cubicBezTo>
                  <a:pt x="54471" y="32761"/>
                  <a:pt x="54359" y="29859"/>
                  <a:pt x="54248" y="26845"/>
                </a:cubicBezTo>
                <a:cubicBezTo>
                  <a:pt x="53690" y="12055"/>
                  <a:pt x="65745" y="-56"/>
                  <a:pt x="80535" y="-56"/>
                </a:cubicBezTo>
                <a:close/>
                <a:moveTo>
                  <a:pt x="56648" y="62508"/>
                </a:moveTo>
                <a:lnTo>
                  <a:pt x="27403" y="62508"/>
                </a:lnTo>
                <a:cubicBezTo>
                  <a:pt x="30863" y="109779"/>
                  <a:pt x="52574" y="133443"/>
                  <a:pt x="74954" y="146000"/>
                </a:cubicBezTo>
                <a:cubicBezTo>
                  <a:pt x="66917" y="125183"/>
                  <a:pt x="60275" y="98003"/>
                  <a:pt x="56648" y="62508"/>
                </a:cubicBezTo>
                <a:close/>
                <a:moveTo>
                  <a:pt x="212080" y="143321"/>
                </a:moveTo>
                <a:cubicBezTo>
                  <a:pt x="234683" y="130039"/>
                  <a:pt x="255110" y="106431"/>
                  <a:pt x="258570" y="62508"/>
                </a:cubicBezTo>
                <a:lnTo>
                  <a:pt x="229381" y="62508"/>
                </a:lnTo>
                <a:cubicBezTo>
                  <a:pt x="225921" y="96496"/>
                  <a:pt x="219670" y="122895"/>
                  <a:pt x="212080" y="143321"/>
                </a:cubicBezTo>
                <a:close/>
              </a:path>
            </a:pathLst>
          </a:custGeom>
          <a:solidFill>
            <a:srgbClr val="20B2AA"/>
          </a:solidFill>
          <a:ln/>
        </p:spPr>
      </p:sp>
      <p:sp>
        <p:nvSpPr>
          <p:cNvPr id="25" name="Text 23"/>
          <p:cNvSpPr/>
          <p:nvPr/>
        </p:nvSpPr>
        <p:spPr>
          <a:xfrm>
            <a:off x="1033749" y="5716655"/>
            <a:ext cx="1066800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The Bottom Line</a:t>
            </a:r>
            <a:endParaRPr lang="en-US" sz="1600" dirty="0"/>
          </a:p>
        </p:txBody>
      </p:sp>
      <p:sp>
        <p:nvSpPr>
          <p:cNvPr id="26" name="Text 24"/>
          <p:cNvSpPr/>
          <p:nvPr/>
        </p:nvSpPr>
        <p:spPr>
          <a:xfrm>
            <a:off x="1033749" y="5970655"/>
            <a:ext cx="10660063" cy="444500"/>
          </a:xfrm>
          <a:prstGeom prst="rect">
            <a:avLst/>
          </a:prstGeom>
          <a:noFill/>
          <a:ln/>
        </p:spPr>
        <p:txBody>
          <a:bodyPr wrap="square" lIns="0" tIns="0" rIns="0" bIns="0" rtlCol="0" anchor="ctr"/>
          <a:lstStyle/>
          <a:p>
            <a:pPr>
              <a:lnSpc>
                <a:spcPct val="130000"/>
              </a:lnSpc>
            </a:pPr>
            <a:r>
              <a:rPr lang="en-US" sz="1125" dirty="0">
                <a:solidFill>
                  <a:srgbClr val="FFFFFF">
                    <a:alpha val="90000"/>
                  </a:srgbClr>
                </a:solidFill>
                <a:latin typeface="Liter" pitchFamily="34" charset="0"/>
                <a:ea typeface="Liter" pitchFamily="34" charset="-122"/>
                <a:cs typeface="Liter" pitchFamily="34" charset="-120"/>
              </a:rPr>
              <a:t>This Proof of Concept demonstrates that predictive churn management is not a technical exercise—it is a </a:t>
            </a:r>
            <a:r>
              <a:rPr lang="en-US" sz="1125" b="1" dirty="0">
                <a:solidFill>
                  <a:srgbClr val="FFFFFF">
                    <a:alpha val="90000"/>
                  </a:srgbClr>
                </a:solidFill>
                <a:latin typeface="Liter" pitchFamily="34" charset="0"/>
                <a:ea typeface="Liter" pitchFamily="34" charset="-122"/>
                <a:cs typeface="Liter" pitchFamily="34" charset="-120"/>
              </a:rPr>
              <a:t>strategic imperative</a:t>
            </a:r>
            <a:r>
              <a:rPr lang="en-US" sz="1125" dirty="0">
                <a:solidFill>
                  <a:srgbClr val="FFFFFF">
                    <a:alpha val="90000"/>
                  </a:srgbClr>
                </a:solidFill>
                <a:latin typeface="Liter" pitchFamily="34" charset="0"/>
                <a:ea typeface="Liter" pitchFamily="34" charset="-122"/>
                <a:cs typeface="Liter" pitchFamily="34" charset="-120"/>
              </a:rPr>
              <a:t> for protecting operating margins in a saturated, price-compressed market.</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3398" y="363398"/>
            <a:ext cx="11537884" cy="218039"/>
          </a:xfrm>
          <a:prstGeom prst="rect">
            <a:avLst/>
          </a:prstGeom>
          <a:noFill/>
          <a:ln/>
        </p:spPr>
        <p:txBody>
          <a:bodyPr wrap="square" lIns="0" tIns="0" rIns="0" bIns="0" rtlCol="0" anchor="ctr"/>
          <a:lstStyle/>
          <a:p>
            <a:pPr>
              <a:lnSpc>
                <a:spcPct val="130000"/>
              </a:lnSpc>
            </a:pPr>
            <a:r>
              <a:rPr lang="en-US" sz="1145" b="1" kern="0" spc="114" dirty="0">
                <a:solidFill>
                  <a:srgbClr val="20B2AA"/>
                </a:solidFill>
                <a:latin typeface="Liter" pitchFamily="34" charset="0"/>
                <a:ea typeface="Liter" pitchFamily="34" charset="-122"/>
                <a:cs typeface="Liter" pitchFamily="34" charset="-120"/>
              </a:rPr>
              <a:t>Supporting Research</a:t>
            </a:r>
            <a:endParaRPr lang="en-US" sz="1600" dirty="0"/>
          </a:p>
        </p:txBody>
      </p:sp>
      <p:sp>
        <p:nvSpPr>
          <p:cNvPr id="3" name="Text 1"/>
          <p:cNvSpPr/>
          <p:nvPr/>
        </p:nvSpPr>
        <p:spPr>
          <a:xfrm>
            <a:off x="363398" y="654116"/>
            <a:ext cx="11637818" cy="436077"/>
          </a:xfrm>
          <a:prstGeom prst="rect">
            <a:avLst/>
          </a:prstGeom>
          <a:noFill/>
          <a:ln/>
        </p:spPr>
        <p:txBody>
          <a:bodyPr wrap="square" lIns="0" tIns="0" rIns="0" bIns="0" rtlCol="0" anchor="ctr"/>
          <a:lstStyle/>
          <a:p>
            <a:pPr>
              <a:lnSpc>
                <a:spcPct val="100000"/>
              </a:lnSpc>
            </a:pPr>
            <a:r>
              <a:rPr lang="en-US" sz="2718" b="1" dirty="0">
                <a:solidFill>
                  <a:srgbClr val="1B365D"/>
                </a:solidFill>
                <a:latin typeface="Liter" pitchFamily="34" charset="0"/>
                <a:ea typeface="Liter" pitchFamily="34" charset="-122"/>
                <a:cs typeface="Liter" pitchFamily="34" charset="-120"/>
              </a:rPr>
              <a:t>Industry Research &amp; Academic References</a:t>
            </a:r>
            <a:endParaRPr lang="en-US" sz="1600" dirty="0"/>
          </a:p>
        </p:txBody>
      </p:sp>
      <p:sp>
        <p:nvSpPr>
          <p:cNvPr id="4" name="Shape 2"/>
          <p:cNvSpPr/>
          <p:nvPr/>
        </p:nvSpPr>
        <p:spPr>
          <a:xfrm>
            <a:off x="363398" y="1194671"/>
            <a:ext cx="726796" cy="36340"/>
          </a:xfrm>
          <a:prstGeom prst="roundRect">
            <a:avLst>
              <a:gd name="adj" fmla="val 0"/>
            </a:avLst>
          </a:prstGeom>
          <a:solidFill>
            <a:srgbClr val="20B2AA"/>
          </a:solidFill>
          <a:ln/>
        </p:spPr>
      </p:sp>
      <p:sp>
        <p:nvSpPr>
          <p:cNvPr id="5" name="Shape 3"/>
          <p:cNvSpPr/>
          <p:nvPr/>
        </p:nvSpPr>
        <p:spPr>
          <a:xfrm>
            <a:off x="379549" y="1526270"/>
            <a:ext cx="11454100" cy="660729"/>
          </a:xfrm>
          <a:prstGeom prst="roundRect">
            <a:avLst>
              <a:gd name="adj" fmla="val 0"/>
            </a:avLst>
          </a:prstGeom>
          <a:solidFill>
            <a:srgbClr val="1B365D">
              <a:alpha val="5098"/>
            </a:srgbClr>
          </a:solidFill>
          <a:ln/>
        </p:spPr>
      </p:sp>
      <p:sp>
        <p:nvSpPr>
          <p:cNvPr id="7" name="Shape 5"/>
          <p:cNvSpPr/>
          <p:nvPr/>
        </p:nvSpPr>
        <p:spPr>
          <a:xfrm>
            <a:off x="577399" y="1630748"/>
            <a:ext cx="363398" cy="363398"/>
          </a:xfrm>
          <a:prstGeom prst="roundRect">
            <a:avLst>
              <a:gd name="adj" fmla="val 0"/>
            </a:avLst>
          </a:prstGeom>
          <a:solidFill>
            <a:srgbClr val="1B365D"/>
          </a:solidFill>
          <a:ln/>
        </p:spPr>
      </p:sp>
      <p:sp>
        <p:nvSpPr>
          <p:cNvPr id="8" name="Text 6"/>
          <p:cNvSpPr/>
          <p:nvPr/>
        </p:nvSpPr>
        <p:spPr>
          <a:xfrm>
            <a:off x="726291" y="1685258"/>
            <a:ext cx="145359"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1</a:t>
            </a:r>
            <a:endParaRPr lang="en-US" sz="1600" dirty="0"/>
          </a:p>
        </p:txBody>
      </p:sp>
      <p:sp>
        <p:nvSpPr>
          <p:cNvPr id="9" name="Shape 7"/>
          <p:cNvSpPr/>
          <p:nvPr/>
        </p:nvSpPr>
        <p:spPr>
          <a:xfrm>
            <a:off x="371473" y="2317519"/>
            <a:ext cx="11454100" cy="644021"/>
          </a:xfrm>
          <a:prstGeom prst="roundRect">
            <a:avLst>
              <a:gd name="adj" fmla="val 0"/>
            </a:avLst>
          </a:prstGeom>
          <a:solidFill>
            <a:srgbClr val="1B365D">
              <a:alpha val="5098"/>
            </a:srgbClr>
          </a:solidFill>
          <a:ln/>
        </p:spPr>
        <p:txBody>
          <a:bodyPr/>
          <a:lstStyle/>
          <a:p>
            <a:endParaRPr lang="en-IN" dirty="0"/>
          </a:p>
        </p:txBody>
      </p:sp>
      <p:sp>
        <p:nvSpPr>
          <p:cNvPr id="11" name="Shape 9"/>
          <p:cNvSpPr/>
          <p:nvPr/>
        </p:nvSpPr>
        <p:spPr>
          <a:xfrm>
            <a:off x="577399" y="2500508"/>
            <a:ext cx="363398" cy="363398"/>
          </a:xfrm>
          <a:prstGeom prst="roundRect">
            <a:avLst>
              <a:gd name="adj" fmla="val 0"/>
            </a:avLst>
          </a:prstGeom>
          <a:solidFill>
            <a:srgbClr val="1B365D"/>
          </a:solidFill>
          <a:ln/>
        </p:spPr>
      </p:sp>
      <p:sp>
        <p:nvSpPr>
          <p:cNvPr id="12" name="Text 10"/>
          <p:cNvSpPr/>
          <p:nvPr/>
        </p:nvSpPr>
        <p:spPr>
          <a:xfrm>
            <a:off x="711528" y="2526850"/>
            <a:ext cx="172614"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1086156" y="2611923"/>
            <a:ext cx="9221222" cy="563266"/>
          </a:xfrm>
          <a:prstGeom prst="rect">
            <a:avLst/>
          </a:prstGeom>
          <a:noFill/>
          <a:ln/>
        </p:spPr>
        <p:txBody>
          <a:bodyPr wrap="square" lIns="0" tIns="0" rIns="0" bIns="0" rtlCol="0" anchor="ctr"/>
          <a:lstStyle/>
          <a:p>
            <a:pPr algn="just" latinLnBrk="1"/>
            <a:r>
              <a:rPr lang="en-IN" sz="1300" dirty="0">
                <a:latin typeface="Times New Roman" panose="02020603050405020304" pitchFamily="18" charset="0"/>
                <a:cs typeface="Times New Roman" panose="02020603050405020304" pitchFamily="18" charset="0"/>
              </a:rPr>
              <a:t>R. P. Bhatta, K. D. Bhatt, N. Pal, and M. R. Pant, “</a:t>
            </a:r>
            <a:r>
              <a:rPr lang="en-IN" sz="1300" dirty="0" err="1">
                <a:latin typeface="Times New Roman" panose="02020603050405020304" pitchFamily="18" charset="0"/>
                <a:cs typeface="Times New Roman" panose="02020603050405020304" pitchFamily="18" charset="0"/>
              </a:rPr>
              <a:t>XGBoost</a:t>
            </a:r>
            <a:r>
              <a:rPr lang="en-IN" sz="1300" dirty="0">
                <a:latin typeface="Times New Roman" panose="02020603050405020304" pitchFamily="18" charset="0"/>
                <a:cs typeface="Times New Roman" panose="02020603050405020304" pitchFamily="18" charset="0"/>
              </a:rPr>
              <a:t> Ensemble Model for Churn Prediction in Telecom: A Machine Learning Framework,” NPRC Journal of Multidisciplinary Research, vol. 3, no. 4, pp. 171–189, Apr. 2026,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10.3126/nprcjmr.v3i4.93374.</a:t>
            </a:r>
          </a:p>
          <a:p>
            <a:br>
              <a:rPr lang="en-IN" sz="1200" dirty="0"/>
            </a:br>
            <a:endParaRPr lang="en-US" sz="1600" dirty="0"/>
          </a:p>
        </p:txBody>
      </p:sp>
      <p:sp>
        <p:nvSpPr>
          <p:cNvPr id="14" name="Shape 12"/>
          <p:cNvSpPr/>
          <p:nvPr/>
        </p:nvSpPr>
        <p:spPr>
          <a:xfrm>
            <a:off x="379549" y="3084871"/>
            <a:ext cx="11454100" cy="644022"/>
          </a:xfrm>
          <a:prstGeom prst="roundRect">
            <a:avLst>
              <a:gd name="adj" fmla="val 0"/>
            </a:avLst>
          </a:prstGeom>
          <a:solidFill>
            <a:srgbClr val="1B365D">
              <a:alpha val="5098"/>
            </a:srgbClr>
          </a:solidFill>
          <a:ln/>
        </p:spPr>
        <p:txBody>
          <a:bodyPr/>
          <a:lstStyle/>
          <a:p>
            <a:endParaRPr lang="en-IN" dirty="0"/>
          </a:p>
        </p:txBody>
      </p:sp>
      <p:sp>
        <p:nvSpPr>
          <p:cNvPr id="16" name="Shape 14"/>
          <p:cNvSpPr/>
          <p:nvPr/>
        </p:nvSpPr>
        <p:spPr>
          <a:xfrm>
            <a:off x="577399" y="3209123"/>
            <a:ext cx="363398" cy="363398"/>
          </a:xfrm>
          <a:prstGeom prst="roundRect">
            <a:avLst>
              <a:gd name="adj" fmla="val 0"/>
            </a:avLst>
          </a:prstGeom>
          <a:solidFill>
            <a:srgbClr val="1B365D"/>
          </a:solidFill>
          <a:ln/>
        </p:spPr>
      </p:sp>
      <p:sp>
        <p:nvSpPr>
          <p:cNvPr id="17" name="Text 15"/>
          <p:cNvSpPr/>
          <p:nvPr/>
        </p:nvSpPr>
        <p:spPr>
          <a:xfrm>
            <a:off x="722758" y="3234130"/>
            <a:ext cx="181699"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086156" y="3166454"/>
            <a:ext cx="10638474" cy="472417"/>
          </a:xfrm>
          <a:prstGeom prst="rect">
            <a:avLst/>
          </a:prstGeom>
          <a:noFill/>
          <a:ln/>
        </p:spPr>
        <p:txBody>
          <a:bodyPr wrap="square" lIns="0" tIns="0" rIns="0" bIns="0" rtlCol="0" anchor="ctr"/>
          <a:lstStyle/>
          <a:p>
            <a:pPr algn="just" latinLnBrk="1"/>
            <a:r>
              <a:rPr lang="en-IN" sz="1300" dirty="0">
                <a:latin typeface="Times New Roman" panose="02020603050405020304" pitchFamily="18" charset="0"/>
                <a:cs typeface="Times New Roman" panose="02020603050405020304" pitchFamily="18" charset="0"/>
              </a:rPr>
              <a:t>M. Imani, M. </a:t>
            </a:r>
            <a:r>
              <a:rPr lang="en-IN" sz="1300" dirty="0" err="1">
                <a:latin typeface="Times New Roman" panose="02020603050405020304" pitchFamily="18" charset="0"/>
                <a:cs typeface="Times New Roman" panose="02020603050405020304" pitchFamily="18" charset="0"/>
              </a:rPr>
              <a:t>Joudaki</a:t>
            </a:r>
            <a:r>
              <a:rPr lang="en-IN" sz="1300" dirty="0">
                <a:latin typeface="Times New Roman" panose="02020603050405020304" pitchFamily="18" charset="0"/>
                <a:cs typeface="Times New Roman" panose="02020603050405020304" pitchFamily="18" charset="0"/>
              </a:rPr>
              <a:t>, A. </a:t>
            </a:r>
            <a:r>
              <a:rPr lang="en-IN" sz="1300" dirty="0" err="1">
                <a:latin typeface="Times New Roman" panose="02020603050405020304" pitchFamily="18" charset="0"/>
                <a:cs typeface="Times New Roman" panose="02020603050405020304" pitchFamily="18" charset="0"/>
              </a:rPr>
              <a:t>Beikmohammadi</a:t>
            </a:r>
            <a:r>
              <a:rPr lang="en-IN" sz="1300" dirty="0">
                <a:latin typeface="Times New Roman" panose="02020603050405020304" pitchFamily="18" charset="0"/>
                <a:cs typeface="Times New Roman" panose="02020603050405020304" pitchFamily="18" charset="0"/>
              </a:rPr>
              <a:t>, and H. </a:t>
            </a:r>
            <a:r>
              <a:rPr lang="en-IN" sz="1300" dirty="0" err="1">
                <a:latin typeface="Times New Roman" panose="02020603050405020304" pitchFamily="18" charset="0"/>
                <a:cs typeface="Times New Roman" panose="02020603050405020304" pitchFamily="18" charset="0"/>
              </a:rPr>
              <a:t>Arabnia</a:t>
            </a:r>
            <a:r>
              <a:rPr lang="en-IN" sz="1300" dirty="0">
                <a:latin typeface="Times New Roman" panose="02020603050405020304" pitchFamily="18" charset="0"/>
                <a:cs typeface="Times New Roman" panose="02020603050405020304" pitchFamily="18" charset="0"/>
              </a:rPr>
              <a:t>, “Customer Churn Prediction: A Systematic Review of Recent Advances, Trends, and Challenges in Machine Learning and Deep Learning,” Machine Learning and Knowledge Extraction, vol. 7, no. 3, p. 105, Sep. 2025,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10.3390/make7030105.</a:t>
            </a:r>
          </a:p>
        </p:txBody>
      </p:sp>
      <p:sp>
        <p:nvSpPr>
          <p:cNvPr id="19" name="Shape 17"/>
          <p:cNvSpPr/>
          <p:nvPr/>
        </p:nvSpPr>
        <p:spPr>
          <a:xfrm>
            <a:off x="363398" y="3923081"/>
            <a:ext cx="11454100" cy="543635"/>
          </a:xfrm>
          <a:prstGeom prst="roundRect">
            <a:avLst>
              <a:gd name="adj" fmla="val 0"/>
            </a:avLst>
          </a:prstGeom>
          <a:solidFill>
            <a:srgbClr val="1B365D">
              <a:alpha val="5098"/>
            </a:srgbClr>
          </a:solidFill>
          <a:ln/>
        </p:spPr>
      </p:sp>
      <p:sp>
        <p:nvSpPr>
          <p:cNvPr id="21" name="Shape 19"/>
          <p:cNvSpPr/>
          <p:nvPr/>
        </p:nvSpPr>
        <p:spPr>
          <a:xfrm>
            <a:off x="577399" y="3982286"/>
            <a:ext cx="363398" cy="363398"/>
          </a:xfrm>
          <a:prstGeom prst="roundRect">
            <a:avLst>
              <a:gd name="adj" fmla="val 0"/>
            </a:avLst>
          </a:prstGeom>
          <a:solidFill>
            <a:srgbClr val="1B365D"/>
          </a:solidFill>
          <a:ln/>
        </p:spPr>
      </p:sp>
      <p:sp>
        <p:nvSpPr>
          <p:cNvPr id="22" name="Text 20"/>
          <p:cNvSpPr/>
          <p:nvPr/>
        </p:nvSpPr>
        <p:spPr>
          <a:xfrm>
            <a:off x="711717" y="4004950"/>
            <a:ext cx="181699"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1090194" y="4019084"/>
            <a:ext cx="9929848" cy="236209"/>
          </a:xfrm>
          <a:prstGeom prst="rect">
            <a:avLst/>
          </a:prstGeom>
          <a:noFill/>
          <a:ln/>
        </p:spPr>
        <p:txBody>
          <a:bodyPr wrap="square" lIns="0" tIns="0" rIns="0" bIns="0" rtlCol="0" anchor="ctr"/>
          <a:lstStyle/>
          <a:p>
            <a:pPr algn="just" latinLnBrk="1"/>
            <a:r>
              <a:rPr lang="en-IN" sz="1300" dirty="0">
                <a:latin typeface="Times New Roman" panose="02020603050405020304" pitchFamily="18" charset="0"/>
                <a:cs typeface="Times New Roman" panose="02020603050405020304" pitchFamily="18" charset="0"/>
              </a:rPr>
              <a:t>H. A. Rasool, K. K. </a:t>
            </a:r>
            <a:r>
              <a:rPr lang="en-IN" sz="1300" dirty="0" err="1">
                <a:latin typeface="Times New Roman" panose="02020603050405020304" pitchFamily="18" charset="0"/>
                <a:cs typeface="Times New Roman" panose="02020603050405020304" pitchFamily="18" charset="0"/>
              </a:rPr>
              <a:t>Aljawaheri</a:t>
            </a:r>
            <a:r>
              <a:rPr lang="en-IN" sz="1300" dirty="0">
                <a:latin typeface="Times New Roman" panose="02020603050405020304" pitchFamily="18" charset="0"/>
                <a:cs typeface="Times New Roman" panose="02020603050405020304" pitchFamily="18" charset="0"/>
              </a:rPr>
              <a:t>, and A. A. M. Karram, “Explainable Customer Churn Prediction in Telecom Using Ensemble Learning and SHAP Analysis,” Mathematical Modelling of Engineering Problems, vol. 12, no. 12, pp. 4373–4386, Dec. 2025,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10.18280/mmep.121226.</a:t>
            </a:r>
          </a:p>
        </p:txBody>
      </p:sp>
      <p:sp>
        <p:nvSpPr>
          <p:cNvPr id="24" name="Shape 22"/>
          <p:cNvSpPr/>
          <p:nvPr/>
        </p:nvSpPr>
        <p:spPr>
          <a:xfrm>
            <a:off x="379549" y="4660904"/>
            <a:ext cx="11454100" cy="654117"/>
          </a:xfrm>
          <a:prstGeom prst="roundRect">
            <a:avLst>
              <a:gd name="adj" fmla="val 0"/>
            </a:avLst>
          </a:prstGeom>
          <a:solidFill>
            <a:srgbClr val="1B365D">
              <a:alpha val="5098"/>
            </a:srgbClr>
          </a:solidFill>
          <a:ln/>
        </p:spPr>
      </p:sp>
      <p:sp>
        <p:nvSpPr>
          <p:cNvPr id="26" name="Shape 24"/>
          <p:cNvSpPr/>
          <p:nvPr/>
        </p:nvSpPr>
        <p:spPr>
          <a:xfrm>
            <a:off x="565151" y="4724400"/>
            <a:ext cx="363398" cy="363398"/>
          </a:xfrm>
          <a:prstGeom prst="roundRect">
            <a:avLst>
              <a:gd name="adj" fmla="val 0"/>
            </a:avLst>
          </a:prstGeom>
          <a:solidFill>
            <a:srgbClr val="1B365D"/>
          </a:solidFill>
          <a:ln/>
        </p:spPr>
      </p:sp>
      <p:sp>
        <p:nvSpPr>
          <p:cNvPr id="27" name="Text 25"/>
          <p:cNvSpPr/>
          <p:nvPr/>
        </p:nvSpPr>
        <p:spPr>
          <a:xfrm>
            <a:off x="711907" y="4748095"/>
            <a:ext cx="172614"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5</a:t>
            </a:r>
            <a:endParaRPr lang="en-US" sz="1600" dirty="0"/>
          </a:p>
        </p:txBody>
      </p:sp>
      <p:sp>
        <p:nvSpPr>
          <p:cNvPr id="28" name="Text 26"/>
          <p:cNvSpPr/>
          <p:nvPr/>
        </p:nvSpPr>
        <p:spPr>
          <a:xfrm>
            <a:off x="1086156" y="4838189"/>
            <a:ext cx="10638474" cy="190785"/>
          </a:xfrm>
          <a:prstGeom prst="rect">
            <a:avLst/>
          </a:prstGeom>
          <a:noFill/>
          <a:ln/>
        </p:spPr>
        <p:txBody>
          <a:bodyPr wrap="square" lIns="0" tIns="0" rIns="0" bIns="0" rtlCol="0" anchor="ctr"/>
          <a:lstStyle/>
          <a:p>
            <a:pPr algn="just">
              <a:lnSpc>
                <a:spcPct val="140000"/>
              </a:lnSpc>
            </a:pPr>
            <a:r>
              <a:rPr lang="en-IN" sz="1300" dirty="0">
                <a:latin typeface="Times New Roman" panose="02020603050405020304" pitchFamily="18" charset="0"/>
                <a:cs typeface="Times New Roman" panose="02020603050405020304" pitchFamily="18" charset="0"/>
              </a:rPr>
              <a:t>S. Wu, “Customer Churn Prediction in Telecom Based on Machine Learning,” Highlights in Science, Engineering and Technology, vol. 94, pp. 113–118, Apr. 2024,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10.54097/snc09915.</a:t>
            </a:r>
          </a:p>
        </p:txBody>
      </p:sp>
      <p:sp>
        <p:nvSpPr>
          <p:cNvPr id="29" name="Shape 27"/>
          <p:cNvSpPr/>
          <p:nvPr/>
        </p:nvSpPr>
        <p:spPr>
          <a:xfrm>
            <a:off x="371473" y="5688215"/>
            <a:ext cx="11454100" cy="654117"/>
          </a:xfrm>
          <a:prstGeom prst="roundRect">
            <a:avLst>
              <a:gd name="adj" fmla="val 0"/>
            </a:avLst>
          </a:prstGeom>
          <a:solidFill>
            <a:srgbClr val="20B2AA">
              <a:alpha val="10196"/>
            </a:srgbClr>
          </a:solidFill>
          <a:ln w="22578">
            <a:solidFill>
              <a:srgbClr val="20B2AA">
                <a:alpha val="30196"/>
              </a:srgbClr>
            </a:solidFill>
            <a:prstDash val="solid"/>
          </a:ln>
        </p:spPr>
      </p:sp>
      <p:sp>
        <p:nvSpPr>
          <p:cNvPr id="30" name="Shape 28"/>
          <p:cNvSpPr/>
          <p:nvPr/>
        </p:nvSpPr>
        <p:spPr>
          <a:xfrm>
            <a:off x="561248" y="5906253"/>
            <a:ext cx="245294" cy="218039"/>
          </a:xfrm>
          <a:custGeom>
            <a:avLst/>
            <a:gdLst/>
            <a:ahLst/>
            <a:cxnLst/>
            <a:rect l="l" t="t" r="r" b="b"/>
            <a:pathLst>
              <a:path w="245294" h="218039">
                <a:moveTo>
                  <a:pt x="20441" y="83383"/>
                </a:moveTo>
                <a:lnTo>
                  <a:pt x="109530" y="120049"/>
                </a:lnTo>
                <a:cubicBezTo>
                  <a:pt x="113704" y="121752"/>
                  <a:pt x="118133" y="122647"/>
                  <a:pt x="122647" y="122647"/>
                </a:cubicBezTo>
                <a:cubicBezTo>
                  <a:pt x="127161" y="122647"/>
                  <a:pt x="131590" y="121752"/>
                  <a:pt x="135763" y="120049"/>
                </a:cubicBezTo>
                <a:lnTo>
                  <a:pt x="238991" y="77549"/>
                </a:lnTo>
                <a:cubicBezTo>
                  <a:pt x="242824" y="75973"/>
                  <a:pt x="245294" y="72268"/>
                  <a:pt x="245294" y="68137"/>
                </a:cubicBezTo>
                <a:cubicBezTo>
                  <a:pt x="245294" y="64006"/>
                  <a:pt x="242824" y="60301"/>
                  <a:pt x="238991" y="58726"/>
                </a:cubicBezTo>
                <a:lnTo>
                  <a:pt x="135763" y="16225"/>
                </a:lnTo>
                <a:cubicBezTo>
                  <a:pt x="131590" y="14522"/>
                  <a:pt x="127161" y="13627"/>
                  <a:pt x="122647" y="13627"/>
                </a:cubicBezTo>
                <a:cubicBezTo>
                  <a:pt x="118133" y="13627"/>
                  <a:pt x="113704" y="14522"/>
                  <a:pt x="109530" y="16225"/>
                </a:cubicBezTo>
                <a:lnTo>
                  <a:pt x="6303" y="58726"/>
                </a:lnTo>
                <a:cubicBezTo>
                  <a:pt x="2470" y="60301"/>
                  <a:pt x="0" y="64006"/>
                  <a:pt x="0" y="68137"/>
                </a:cubicBezTo>
                <a:lnTo>
                  <a:pt x="0" y="194191"/>
                </a:lnTo>
                <a:cubicBezTo>
                  <a:pt x="0" y="199855"/>
                  <a:pt x="4557" y="204411"/>
                  <a:pt x="10221" y="204411"/>
                </a:cubicBezTo>
                <a:cubicBezTo>
                  <a:pt x="15884" y="204411"/>
                  <a:pt x="20441" y="199855"/>
                  <a:pt x="20441" y="194191"/>
                </a:cubicBezTo>
                <a:lnTo>
                  <a:pt x="20441" y="83383"/>
                </a:lnTo>
                <a:close/>
                <a:moveTo>
                  <a:pt x="40882" y="113917"/>
                </a:moveTo>
                <a:lnTo>
                  <a:pt x="40882" y="163529"/>
                </a:lnTo>
                <a:cubicBezTo>
                  <a:pt x="40882" y="186099"/>
                  <a:pt x="77506" y="204411"/>
                  <a:pt x="122647" y="204411"/>
                </a:cubicBezTo>
                <a:cubicBezTo>
                  <a:pt x="167788" y="204411"/>
                  <a:pt x="204411" y="186099"/>
                  <a:pt x="204411" y="163529"/>
                </a:cubicBezTo>
                <a:lnTo>
                  <a:pt x="204411" y="113874"/>
                </a:lnTo>
                <a:lnTo>
                  <a:pt x="143556" y="138957"/>
                </a:lnTo>
                <a:cubicBezTo>
                  <a:pt x="136913" y="141683"/>
                  <a:pt x="129844" y="143088"/>
                  <a:pt x="122647" y="143088"/>
                </a:cubicBezTo>
                <a:cubicBezTo>
                  <a:pt x="115450" y="143088"/>
                  <a:pt x="108381" y="141683"/>
                  <a:pt x="101737" y="138957"/>
                </a:cubicBezTo>
                <a:lnTo>
                  <a:pt x="40882" y="113874"/>
                </a:lnTo>
                <a:close/>
              </a:path>
            </a:pathLst>
          </a:custGeom>
          <a:solidFill>
            <a:srgbClr val="20B2AA"/>
          </a:solidFill>
          <a:ln/>
        </p:spPr>
      </p:sp>
      <p:sp>
        <p:nvSpPr>
          <p:cNvPr id="31" name="Text 29"/>
          <p:cNvSpPr/>
          <p:nvPr/>
        </p:nvSpPr>
        <p:spPr>
          <a:xfrm>
            <a:off x="928549" y="5792174"/>
            <a:ext cx="10756578" cy="472417"/>
          </a:xfrm>
          <a:prstGeom prst="rect">
            <a:avLst/>
          </a:prstGeom>
          <a:noFill/>
          <a:ln/>
        </p:spPr>
        <p:txBody>
          <a:bodyPr wrap="square" lIns="0" tIns="0" rIns="0" bIns="0" rtlCol="0" anchor="ctr"/>
          <a:lstStyle/>
          <a:p>
            <a:pPr>
              <a:lnSpc>
                <a:spcPct val="140000"/>
              </a:lnSpc>
            </a:pPr>
            <a:r>
              <a:rPr lang="en-US" sz="1145" b="1" dirty="0">
                <a:solidFill>
                  <a:srgbClr val="1B365D"/>
                </a:solidFill>
                <a:latin typeface="Liter" pitchFamily="34" charset="0"/>
                <a:ea typeface="Liter" pitchFamily="34" charset="-122"/>
                <a:cs typeface="Liter" pitchFamily="34" charset="-120"/>
              </a:rPr>
              <a:t>Methodology Validation:</a:t>
            </a:r>
            <a:r>
              <a:rPr lang="en-US" sz="1145" dirty="0">
                <a:solidFill>
                  <a:srgbClr val="1B365D"/>
                </a:solidFill>
                <a:latin typeface="Liter" pitchFamily="34" charset="0"/>
                <a:ea typeface="Liter" pitchFamily="34" charset="-122"/>
                <a:cs typeface="Liter" pitchFamily="34" charset="-120"/>
              </a:rPr>
              <a:t> The methodologies applied in this proposal are heavily supported by recent 2024 and 2025 industry research, highlighting XGBoost and advanced Machine Learning techniques as the gold standard for modern telecommunications churn prediction.</a:t>
            </a:r>
            <a:endParaRPr lang="en-US" sz="1600" dirty="0"/>
          </a:p>
        </p:txBody>
      </p:sp>
      <p:sp>
        <p:nvSpPr>
          <p:cNvPr id="32" name="Text 30"/>
          <p:cNvSpPr/>
          <p:nvPr/>
        </p:nvSpPr>
        <p:spPr>
          <a:xfrm>
            <a:off x="1086156" y="1630748"/>
            <a:ext cx="10638474" cy="472417"/>
          </a:xfrm>
          <a:prstGeom prst="rect">
            <a:avLst/>
          </a:prstGeom>
          <a:noFill/>
          <a:ln/>
        </p:spPr>
        <p:txBody>
          <a:bodyPr wrap="square" lIns="0" tIns="0" rIns="0" bIns="0" rtlCol="0" anchor="ctr"/>
          <a:lstStyle/>
          <a:p>
            <a:pPr algn="just" latinLnBrk="1"/>
            <a:r>
              <a:rPr lang="en-IN" sz="1300" dirty="0">
                <a:highlight>
                  <a:srgbClr val="FFFFFF">
                    <a:alpha val="100000"/>
                  </a:srgbClr>
                </a:highlight>
                <a:latin typeface="Times New Roman" panose="02020603050405020304" pitchFamily="18" charset="0"/>
                <a:cs typeface="Times New Roman" panose="02020603050405020304" pitchFamily="18" charset="0"/>
              </a:rPr>
              <a:t>A. Kumar, P. Kakkar, and M. K. Chouhan, “Enhancing Telecom Customer Churn Prediction Using Machine Learning and LSTM for Time-Series Analysis,” 2025 International Conference in Advances in Power, Signal, and Information Technology (APSIT), pp. 1–7, May 2025, </a:t>
            </a:r>
            <a:r>
              <a:rPr lang="en-IN" sz="1300" dirty="0" err="1">
                <a:highlight>
                  <a:srgbClr val="FFFFFF">
                    <a:alpha val="100000"/>
                  </a:srgbClr>
                </a:highlight>
                <a:latin typeface="Times New Roman" panose="02020603050405020304" pitchFamily="18" charset="0"/>
                <a:cs typeface="Times New Roman" panose="02020603050405020304" pitchFamily="18" charset="0"/>
              </a:rPr>
              <a:t>doi</a:t>
            </a:r>
            <a:r>
              <a:rPr lang="en-IN" sz="1300" dirty="0">
                <a:highlight>
                  <a:srgbClr val="FFFFFF">
                    <a:alpha val="100000"/>
                  </a:srgbClr>
                </a:highlight>
                <a:latin typeface="Times New Roman" panose="02020603050405020304" pitchFamily="18" charset="0"/>
                <a:cs typeface="Times New Roman" panose="02020603050405020304" pitchFamily="18" charset="0"/>
              </a:rPr>
              <a:t>: 10.1109/apsit63993.2025.11086177.</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C75085-BA6B-A9C8-97A8-ED267DB81B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A4A7BC-39D6-DD54-190A-BB95DE4123BB}"/>
              </a:ext>
            </a:extLst>
          </p:cNvPr>
          <p:cNvSpPr/>
          <p:nvPr/>
        </p:nvSpPr>
        <p:spPr>
          <a:xfrm>
            <a:off x="363398" y="363398"/>
            <a:ext cx="11537884" cy="218039"/>
          </a:xfrm>
          <a:prstGeom prst="rect">
            <a:avLst/>
          </a:prstGeom>
          <a:noFill/>
          <a:ln/>
        </p:spPr>
        <p:txBody>
          <a:bodyPr wrap="square" lIns="0" tIns="0" rIns="0" bIns="0" rtlCol="0" anchor="ctr"/>
          <a:lstStyle/>
          <a:p>
            <a:pPr>
              <a:lnSpc>
                <a:spcPct val="130000"/>
              </a:lnSpc>
            </a:pPr>
            <a:r>
              <a:rPr lang="en-US" sz="1145" b="1" kern="0" spc="114" dirty="0">
                <a:solidFill>
                  <a:srgbClr val="20B2AA"/>
                </a:solidFill>
                <a:latin typeface="Liter" pitchFamily="34" charset="0"/>
                <a:ea typeface="Liter" pitchFamily="34" charset="-122"/>
                <a:cs typeface="Liter" pitchFamily="34" charset="-120"/>
              </a:rPr>
              <a:t>Supporting Research</a:t>
            </a:r>
            <a:endParaRPr lang="en-US" sz="1600" dirty="0"/>
          </a:p>
        </p:txBody>
      </p:sp>
      <p:sp>
        <p:nvSpPr>
          <p:cNvPr id="3" name="Text 1">
            <a:extLst>
              <a:ext uri="{FF2B5EF4-FFF2-40B4-BE49-F238E27FC236}">
                <a16:creationId xmlns:a16="http://schemas.microsoft.com/office/drawing/2014/main" id="{EEEB1348-2DC1-AA9B-2BD9-9386B627AC13}"/>
              </a:ext>
            </a:extLst>
          </p:cNvPr>
          <p:cNvSpPr/>
          <p:nvPr/>
        </p:nvSpPr>
        <p:spPr>
          <a:xfrm>
            <a:off x="363398" y="654116"/>
            <a:ext cx="11637818" cy="436077"/>
          </a:xfrm>
          <a:prstGeom prst="rect">
            <a:avLst/>
          </a:prstGeom>
          <a:noFill/>
          <a:ln/>
        </p:spPr>
        <p:txBody>
          <a:bodyPr wrap="square" lIns="0" tIns="0" rIns="0" bIns="0" rtlCol="0" anchor="ctr"/>
          <a:lstStyle/>
          <a:p>
            <a:pPr>
              <a:lnSpc>
                <a:spcPct val="100000"/>
              </a:lnSpc>
            </a:pPr>
            <a:r>
              <a:rPr lang="en-US" sz="2718" b="1" dirty="0">
                <a:solidFill>
                  <a:srgbClr val="1B365D"/>
                </a:solidFill>
                <a:latin typeface="Liter" pitchFamily="34" charset="0"/>
                <a:ea typeface="Liter" pitchFamily="34" charset="-122"/>
                <a:cs typeface="Liter" pitchFamily="34" charset="-120"/>
              </a:rPr>
              <a:t>Image References</a:t>
            </a:r>
            <a:endParaRPr lang="en-US" sz="1600" dirty="0"/>
          </a:p>
        </p:txBody>
      </p:sp>
      <p:sp>
        <p:nvSpPr>
          <p:cNvPr id="4" name="Shape 2">
            <a:extLst>
              <a:ext uri="{FF2B5EF4-FFF2-40B4-BE49-F238E27FC236}">
                <a16:creationId xmlns:a16="http://schemas.microsoft.com/office/drawing/2014/main" id="{5070D90F-8EA6-102A-753D-7AA2E1BC6A72}"/>
              </a:ext>
            </a:extLst>
          </p:cNvPr>
          <p:cNvSpPr/>
          <p:nvPr/>
        </p:nvSpPr>
        <p:spPr>
          <a:xfrm>
            <a:off x="363398" y="1194671"/>
            <a:ext cx="726796" cy="36340"/>
          </a:xfrm>
          <a:prstGeom prst="roundRect">
            <a:avLst>
              <a:gd name="adj" fmla="val 0"/>
            </a:avLst>
          </a:prstGeom>
          <a:solidFill>
            <a:srgbClr val="20B2AA"/>
          </a:solidFill>
          <a:ln/>
        </p:spPr>
      </p:sp>
      <p:sp>
        <p:nvSpPr>
          <p:cNvPr id="5" name="Shape 3">
            <a:extLst>
              <a:ext uri="{FF2B5EF4-FFF2-40B4-BE49-F238E27FC236}">
                <a16:creationId xmlns:a16="http://schemas.microsoft.com/office/drawing/2014/main" id="{01A0D648-EC0D-2C79-FDE8-A53B20399068}"/>
              </a:ext>
            </a:extLst>
          </p:cNvPr>
          <p:cNvSpPr/>
          <p:nvPr/>
        </p:nvSpPr>
        <p:spPr>
          <a:xfrm>
            <a:off x="379549" y="1526270"/>
            <a:ext cx="11454100" cy="660729"/>
          </a:xfrm>
          <a:prstGeom prst="roundRect">
            <a:avLst>
              <a:gd name="adj" fmla="val 0"/>
            </a:avLst>
          </a:prstGeom>
          <a:solidFill>
            <a:srgbClr val="1B365D">
              <a:alpha val="5098"/>
            </a:srgbClr>
          </a:solidFill>
          <a:ln/>
        </p:spPr>
      </p:sp>
      <p:sp>
        <p:nvSpPr>
          <p:cNvPr id="7" name="Shape 5">
            <a:extLst>
              <a:ext uri="{FF2B5EF4-FFF2-40B4-BE49-F238E27FC236}">
                <a16:creationId xmlns:a16="http://schemas.microsoft.com/office/drawing/2014/main" id="{176881DB-7F1B-0854-10CF-AA6E7E7277E9}"/>
              </a:ext>
            </a:extLst>
          </p:cNvPr>
          <p:cNvSpPr/>
          <p:nvPr/>
        </p:nvSpPr>
        <p:spPr>
          <a:xfrm>
            <a:off x="577399" y="1630748"/>
            <a:ext cx="363398" cy="363398"/>
          </a:xfrm>
          <a:prstGeom prst="roundRect">
            <a:avLst>
              <a:gd name="adj" fmla="val 0"/>
            </a:avLst>
          </a:prstGeom>
          <a:solidFill>
            <a:srgbClr val="1B365D"/>
          </a:solidFill>
          <a:ln/>
        </p:spPr>
      </p:sp>
      <p:sp>
        <p:nvSpPr>
          <p:cNvPr id="8" name="Text 6">
            <a:extLst>
              <a:ext uri="{FF2B5EF4-FFF2-40B4-BE49-F238E27FC236}">
                <a16:creationId xmlns:a16="http://schemas.microsoft.com/office/drawing/2014/main" id="{4E779CC6-0BE4-066E-8F36-5EB5BA899CED}"/>
              </a:ext>
            </a:extLst>
          </p:cNvPr>
          <p:cNvSpPr/>
          <p:nvPr/>
        </p:nvSpPr>
        <p:spPr>
          <a:xfrm>
            <a:off x="726291" y="1685258"/>
            <a:ext cx="145359"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1</a:t>
            </a:r>
            <a:endParaRPr lang="en-US" sz="1600" dirty="0"/>
          </a:p>
        </p:txBody>
      </p:sp>
      <p:sp>
        <p:nvSpPr>
          <p:cNvPr id="9" name="Shape 7">
            <a:extLst>
              <a:ext uri="{FF2B5EF4-FFF2-40B4-BE49-F238E27FC236}">
                <a16:creationId xmlns:a16="http://schemas.microsoft.com/office/drawing/2014/main" id="{B3C91422-D910-9169-EDA0-8DC4A5FE687C}"/>
              </a:ext>
            </a:extLst>
          </p:cNvPr>
          <p:cNvSpPr/>
          <p:nvPr/>
        </p:nvSpPr>
        <p:spPr>
          <a:xfrm>
            <a:off x="371473" y="2317519"/>
            <a:ext cx="11454100" cy="644021"/>
          </a:xfrm>
          <a:prstGeom prst="roundRect">
            <a:avLst>
              <a:gd name="adj" fmla="val 0"/>
            </a:avLst>
          </a:prstGeom>
          <a:solidFill>
            <a:srgbClr val="1B365D">
              <a:alpha val="5098"/>
            </a:srgbClr>
          </a:solidFill>
          <a:ln/>
        </p:spPr>
        <p:txBody>
          <a:bodyPr/>
          <a:lstStyle/>
          <a:p>
            <a:endParaRPr lang="en-IN" dirty="0"/>
          </a:p>
        </p:txBody>
      </p:sp>
      <p:sp>
        <p:nvSpPr>
          <p:cNvPr id="11" name="Shape 9">
            <a:extLst>
              <a:ext uri="{FF2B5EF4-FFF2-40B4-BE49-F238E27FC236}">
                <a16:creationId xmlns:a16="http://schemas.microsoft.com/office/drawing/2014/main" id="{6E79C623-14CA-94B2-3069-C4760C3BFC91}"/>
              </a:ext>
            </a:extLst>
          </p:cNvPr>
          <p:cNvSpPr/>
          <p:nvPr/>
        </p:nvSpPr>
        <p:spPr>
          <a:xfrm>
            <a:off x="577399" y="2500508"/>
            <a:ext cx="363398" cy="363398"/>
          </a:xfrm>
          <a:prstGeom prst="roundRect">
            <a:avLst>
              <a:gd name="adj" fmla="val 0"/>
            </a:avLst>
          </a:prstGeom>
          <a:solidFill>
            <a:srgbClr val="1B365D"/>
          </a:solidFill>
          <a:ln/>
        </p:spPr>
      </p:sp>
      <p:sp>
        <p:nvSpPr>
          <p:cNvPr id="12" name="Text 10">
            <a:extLst>
              <a:ext uri="{FF2B5EF4-FFF2-40B4-BE49-F238E27FC236}">
                <a16:creationId xmlns:a16="http://schemas.microsoft.com/office/drawing/2014/main" id="{C6C38B56-3730-09EB-0B70-20B624018F9F}"/>
              </a:ext>
            </a:extLst>
          </p:cNvPr>
          <p:cNvSpPr/>
          <p:nvPr/>
        </p:nvSpPr>
        <p:spPr>
          <a:xfrm>
            <a:off x="711528" y="2526850"/>
            <a:ext cx="172614" cy="254379"/>
          </a:xfrm>
          <a:prstGeom prst="rect">
            <a:avLst/>
          </a:prstGeom>
          <a:noFill/>
          <a:ln/>
        </p:spPr>
        <p:txBody>
          <a:bodyPr wrap="square" lIns="0" tIns="0" rIns="0" bIns="0" rtlCol="0" anchor="ctr"/>
          <a:lstStyle/>
          <a:p>
            <a:pPr>
              <a:lnSpc>
                <a:spcPct val="130000"/>
              </a:lnSpc>
            </a:pPr>
            <a:r>
              <a:rPr lang="en-US" sz="1288" b="1" dirty="0">
                <a:solidFill>
                  <a:srgbClr val="FFFFFF"/>
                </a:solidFill>
                <a:latin typeface="Liter" pitchFamily="34" charset="0"/>
                <a:ea typeface="Liter" pitchFamily="34" charset="-122"/>
                <a:cs typeface="Liter" pitchFamily="34" charset="-120"/>
              </a:rPr>
              <a:t>2</a:t>
            </a:r>
            <a:endParaRPr lang="en-US" sz="1600" dirty="0"/>
          </a:p>
        </p:txBody>
      </p:sp>
      <p:sp>
        <p:nvSpPr>
          <p:cNvPr id="13" name="Text 11">
            <a:extLst>
              <a:ext uri="{FF2B5EF4-FFF2-40B4-BE49-F238E27FC236}">
                <a16:creationId xmlns:a16="http://schemas.microsoft.com/office/drawing/2014/main" id="{E59563F9-735F-9978-5472-621907A6A7D6}"/>
              </a:ext>
            </a:extLst>
          </p:cNvPr>
          <p:cNvSpPr/>
          <p:nvPr/>
        </p:nvSpPr>
        <p:spPr>
          <a:xfrm>
            <a:off x="1086156" y="2611923"/>
            <a:ext cx="10638474" cy="563266"/>
          </a:xfrm>
          <a:prstGeom prst="rect">
            <a:avLst/>
          </a:prstGeom>
          <a:noFill/>
          <a:ln/>
        </p:spPr>
        <p:txBody>
          <a:bodyPr wrap="square" lIns="0" tIns="0" rIns="0" bIns="0" rtlCol="0" anchor="ctr"/>
          <a:lstStyle/>
          <a:p>
            <a:pPr algn="just" latinLnBrk="1"/>
            <a:r>
              <a:rPr lang="en-IN" sz="1300" dirty="0">
                <a:latin typeface="Times New Roman" panose="02020603050405020304" pitchFamily="18" charset="0"/>
                <a:cs typeface="Times New Roman" panose="02020603050405020304" pitchFamily="18" charset="0"/>
              </a:rPr>
              <a:t>All the other graphs that have been used in this presentation have been taken directly from the output generated in the </a:t>
            </a:r>
            <a:r>
              <a:rPr lang="en-IN" sz="1300" dirty="0" err="1">
                <a:latin typeface="Times New Roman" panose="02020603050405020304" pitchFamily="18" charset="0"/>
                <a:cs typeface="Times New Roman" panose="02020603050405020304" pitchFamily="18" charset="0"/>
              </a:rPr>
              <a:t>colab</a:t>
            </a:r>
            <a:r>
              <a:rPr lang="en-IN" sz="1300" dirty="0">
                <a:latin typeface="Times New Roman" panose="02020603050405020304" pitchFamily="18" charset="0"/>
                <a:cs typeface="Times New Roman" panose="02020603050405020304" pitchFamily="18" charset="0"/>
              </a:rPr>
              <a:t> notebook which has been submitted.</a:t>
            </a:r>
          </a:p>
          <a:p>
            <a:br>
              <a:rPr lang="en-IN" sz="1200" dirty="0"/>
            </a:br>
            <a:endParaRPr lang="en-US" sz="1600" dirty="0"/>
          </a:p>
        </p:txBody>
      </p:sp>
      <p:sp>
        <p:nvSpPr>
          <p:cNvPr id="32" name="Text 30">
            <a:extLst>
              <a:ext uri="{FF2B5EF4-FFF2-40B4-BE49-F238E27FC236}">
                <a16:creationId xmlns:a16="http://schemas.microsoft.com/office/drawing/2014/main" id="{6987CAFA-3A6E-BEA5-7537-CB0A4F23B8D6}"/>
              </a:ext>
            </a:extLst>
          </p:cNvPr>
          <p:cNvSpPr/>
          <p:nvPr/>
        </p:nvSpPr>
        <p:spPr>
          <a:xfrm>
            <a:off x="1086156" y="1630748"/>
            <a:ext cx="10638474" cy="472417"/>
          </a:xfrm>
          <a:prstGeom prst="rect">
            <a:avLst/>
          </a:prstGeom>
          <a:noFill/>
          <a:ln/>
        </p:spPr>
        <p:txBody>
          <a:bodyPr wrap="square" lIns="0" tIns="0" rIns="0" bIns="0" rtlCol="0" anchor="ctr"/>
          <a:lstStyle/>
          <a:p>
            <a:pPr algn="just" latinLnBrk="1"/>
            <a:r>
              <a:rPr lang="en-IN" sz="1300" dirty="0">
                <a:latin typeface="Times New Roman" panose="02020603050405020304" pitchFamily="18" charset="0"/>
                <a:cs typeface="Times New Roman" panose="02020603050405020304" pitchFamily="18" charset="0"/>
              </a:rPr>
              <a:t>https://www.google.com/url?sa=t&amp;source=web&amp;rct=j&amp;url=https%3A%2F%2Fswarajyamag.com%2Fbusiness%2Fthe-indian-telecom-sector-needs-an-urgent-reorganisation-heres-why&amp;ved=0CBYQjRxqFwoTCJik0suwhJUDFQAAAAAdAAAAABA3&amp;opi=89978449</a:t>
            </a:r>
            <a:endParaRPr lang="en-IN" sz="1300" dirty="0">
              <a:highlight>
                <a:srgbClr val="FFFFFF">
                  <a:alpha val="100000"/>
                </a:srgbClr>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091650"/>
      </p:ext>
    </p:extLst>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1728</Words>
  <Application>Microsoft Office PowerPoint</Application>
  <PresentationFormat>Widescreen</PresentationFormat>
  <Paragraphs>160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Liter</vt: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Proactive Churn Management for High-Value Subscribers</dc:title>
  <dc:subject>Proactive Churn Management for High-Value Subscribers</dc:subject>
  <dc:creator>Kimi</dc:creator>
  <cp:lastModifiedBy>Adityabaan Tripathy</cp:lastModifiedBy>
  <cp:revision>5</cp:revision>
  <dcterms:created xsi:type="dcterms:W3CDTF">2026-06-12T22:48:31Z</dcterms:created>
  <dcterms:modified xsi:type="dcterms:W3CDTF">2026-06-13T14:32:54Z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{"Label":"Proactive Churn Management for High-Value Subscribers","ContentProducer":"001191110108MACG2KBH8F10000","ProduceID":"19ebdbe4-fd22-8f2d-8000-00000d88ff00","ReservedCode1":"","ContentPropagator":"001191110108MACG2KBH8F20000","PropagateID":"19ebdbe4-fd22-8f2d-8000-00000d88ff00","ReservedCode2":""}</vt:lpwstr>
  </property>
</Properties>
</file>